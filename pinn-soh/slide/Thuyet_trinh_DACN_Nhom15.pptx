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9afeb601eab4034" Type="http://schemas.openxmlformats.org/officeDocument/2006/relationships/extended-properties" Target="docProps/app.xml"/><Relationship Id="Rf8c5d73239c54c21" Type="http://schemas.openxmlformats.org/package/2006/relationships/metadata/core-properties" Target="docProps/core.xml"/><Relationship Id="Rf9d301a384d4456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0d65177f2efa4334"/>
  </p:sldMasterIdLst>
  <p:notesMasterIdLst>
    <p:notesMasterId xmlns:r="http://schemas.openxmlformats.org/officeDocument/2006/relationships" r:id="R122fdd615e0642f8"/>
  </p:notesMasterIdLst>
  <p:sldIdLst>
    <p:sldId xmlns:r="http://schemas.openxmlformats.org/officeDocument/2006/relationships" id="256" r:id="Re089232dfe4e407b"/>
    <p:sldId xmlns:ns0="http://schemas.openxmlformats.org/officeDocument/2006/relationships" id="288" ns0:id="rId22"/>
    <p:sldId xmlns:ns0="http://schemas.openxmlformats.org/officeDocument/2006/relationships" id="289" ns0:id="rId23"/>
    <p:sldId xmlns:ns0="http://schemas.openxmlformats.org/officeDocument/2006/relationships" id="290" ns0:id="rId24"/>
    <p:sldId xmlns:ns0="http://schemas.openxmlformats.org/officeDocument/2006/relationships" id="291" ns0:id="rId25"/>
    <p:sldId xmlns:ns0="http://schemas.openxmlformats.org/officeDocument/2006/relationships" id="292" ns0:id="rId26"/>
    <p:sldId xmlns:ns0="http://schemas.openxmlformats.org/officeDocument/2006/relationships" id="293" ns0:id="rId27"/>
    <p:sldId xmlns:ns0="http://schemas.openxmlformats.org/officeDocument/2006/relationships" id="294" ns0:id="rId21"/>
    <p:sldId xmlns:ns0="http://schemas.openxmlformats.org/officeDocument/2006/relationships" id="295" ns0:id="rId20"/>
    <p:sldId xmlns:ns0="http://schemas.openxmlformats.org/officeDocument/2006/relationships" id="296" ns0:id="rId19"/>
    <p:sldId xmlns:ns0="http://schemas.openxmlformats.org/officeDocument/2006/relationships" id="297" ns0:id="rId18"/>
    <p:sldId xmlns:ns0="http://schemas.openxmlformats.org/officeDocument/2006/relationships" id="298" ns0:id="rId17"/>
    <p:sldId xmlns:ns0="http://schemas.openxmlformats.org/officeDocument/2006/relationships" id="299" ns0:id="rId16"/>
    <p:sldId xmlns:ns0="http://schemas.openxmlformats.org/officeDocument/2006/relationships" id="300" ns0:id="rId15"/>
    <p:sldId xmlns:ns0="http://schemas.openxmlformats.org/officeDocument/2006/relationships" id="301" ns0:id="rId14"/>
    <p:sldId xmlns:ns0="http://schemas.openxmlformats.org/officeDocument/2006/relationships" id="302" ns0:id="rId13"/>
    <p:sldId xmlns:ns0="http://schemas.openxmlformats.org/officeDocument/2006/relationships" id="303" ns0:id="rId12"/>
    <p:sldId xmlns:ns0="http://schemas.openxmlformats.org/officeDocument/2006/relationships" id="304" ns0:id="rId38"/>
    <p:sldId xmlns:ns0="http://schemas.openxmlformats.org/officeDocument/2006/relationships" id="305" ns0:id="rId39"/>
    <p:sldId xmlns:ns0="http://schemas.openxmlformats.org/officeDocument/2006/relationships" id="306" ns0:id="rId40"/>
    <p:sldId xmlns:ns0="http://schemas.openxmlformats.org/officeDocument/2006/relationships" id="307" ns0:id="rId41"/>
    <p:sldId xmlns:ns0="http://schemas.openxmlformats.org/officeDocument/2006/relationships" id="308" ns0:id="rId42"/>
    <p:sldId xmlns:ns0="http://schemas.openxmlformats.org/officeDocument/2006/relationships" id="309" ns0:id="rId43"/>
    <p:sldId xmlns:ns0="http://schemas.openxmlformats.org/officeDocument/2006/relationships" id="310" ns0:id="rId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7cad3eee5e14944" Type="http://schemas.openxmlformats.org/officeDocument/2006/relationships/presProps" Target="presProps.xml"/><Relationship Id="R0d65177f2efa4334" Type="http://schemas.openxmlformats.org/officeDocument/2006/relationships/slideMaster" Target="slideMasters/slideMaster1.xml"/><Relationship Id="R122fdd615e0642f8" Type="http://schemas.openxmlformats.org/officeDocument/2006/relationships/notesMaster" Target="notesMasters/notesMaster1.xml"/><Relationship Id="R522beb1df68c4fd1" Type="http://schemas.openxmlformats.org/officeDocument/2006/relationships/theme" Target="theme/theme1.xml"/><Relationship Id="Rab56e47df87e4612" Type="http://schemas.openxmlformats.org/officeDocument/2006/relationships/tableStyles" Target="tableStyles.xml"/><Relationship Id="Re089232dfe4e407b" Type="http://schemas.openxmlformats.org/officeDocument/2006/relationships/slide" Target="slides/slide1.xml"/><Relationship Id="rId12" Type="http://schemas.openxmlformats.org/officeDocument/2006/relationships/slide" Target="slides/slide32.xml"/><Relationship Id="rId13" Type="http://schemas.openxmlformats.org/officeDocument/2006/relationships/slide" Target="slides/slide31.xml"/><Relationship Id="rId14" Type="http://schemas.openxmlformats.org/officeDocument/2006/relationships/slide" Target="slides/slide30.xml"/><Relationship Id="rId15" Type="http://schemas.openxmlformats.org/officeDocument/2006/relationships/slide" Target="slides/slide29.xml"/><Relationship Id="rId16" Type="http://schemas.openxmlformats.org/officeDocument/2006/relationships/slide" Target="slides/slide28.xml"/><Relationship Id="rId17" Type="http://schemas.openxmlformats.org/officeDocument/2006/relationships/slide" Target="slides/slide27.xml"/><Relationship Id="rId18" Type="http://schemas.openxmlformats.org/officeDocument/2006/relationships/slide" Target="slides/slide26.xml"/><Relationship Id="rId19" Type="http://schemas.openxmlformats.org/officeDocument/2006/relationships/slide" Target="slides/slide25.xml"/><Relationship Id="rId20" Type="http://schemas.openxmlformats.org/officeDocument/2006/relationships/slide" Target="slides/slide24.xml"/><Relationship Id="rId21" Type="http://schemas.openxmlformats.org/officeDocument/2006/relationships/slide" Target="slides/slide23.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19ee874815c0407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14a033ffbc44a84" Type="http://schemas.openxmlformats.org/officeDocument/2006/relationships/slide" Target="../slides/slide1.xml"/><Relationship Id="Rf18f9ad82ac5412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trình bày đồ án chuyên ngành: dự đoán thông số sức khoẻ của pin bằng mô hình học sâu có thông tin hoá lý. Bài nói đi theo đúng các phần của đề cương giai đoạn 1, mỗi phần có hình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Đứng ở 40 % đời cell, mô hình dự báo phần còn lại; trục phải là dung lượng Ah. Khoảng dự báo còn hẹp hơn mức cần thiết, đây là hạn chế em ghi rõ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mấu chốt là nhãn đắt: đo dung lượng phải xả đầy cell. Vì vậy đồ án tìm cách dùng dữ liệu sạc của các cell chưa đo, qua các ràng buộc vật lý không cần nhãn.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hai phần, đi từ bài toán tới kết quả và phần đối chiếu với đề cương.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bộ chính khác nhau rõ về hoá học và tuổi thọ. NASA nhỏ nhưng có hiện tượng hồi phục dung lượng sau khoảng nghỉ, nên được dùng để kiểm tra riêng ở cuối.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suy luận chỉ cần mạng nghiệm. Mạng tốc độ chỉ dùng lúc huấn luyện để tạo ràng buộc cho các cell chưa có nhãn.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khối: dữ liệu, mô hình, thí nghiệm, phân tích, báo cáo. Bộ lập lịch bỏ qua lượt đã có kết quả nên dừng giữa chừng rồi chạy lại vẫn tiếp tục được.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Hình cho thấy cùng một mô hình nhưng đổi cách chia thì sai số đổi bao nhiêu. Vạch đứt là cách chia đúng, theo cell. Mọi kết quả sau đều dùng giao thức này.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trung tâm: lợi ích của vật lý lớn nhất khi ít nhãn, vì loss vật lý buộc mạng cho quỹ đạo hợp lý trên chính các cell chưa có nhãn.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Vòng rỗng là 30 % nhãn, vòng đặc là 70 % nhãn. Mô hình chuỗi nhìn được nhiều chu kỳ nên tốt hơn MLP rõ rệt, nhưng GBDT vẫn mạnh hơn ở phần lớn trường hợp; mô hình cuối của đồ án thấp nhất ở mọi bộ.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R² mà đề cương cần, cùng MAE. R² gộp mọi cell nên phụ thuộc độ trải SOH của bộ; MAE theo cell là chỉ số chính.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Hình là cùng một cell test khi có 10, 30, 70 % nhãn. Đo trực tiếp trên mô hình đã huấn luyện cho thấy vật lý giúp chủ yếu qua tính đơn điệu dọc quỹ đạo.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lớn lợi ích đến từ việc ghép hai mô hình có lệch theo cell khác nhau. Hình bên trái là một cell XJTU có dung lượng tăng ở đầu đời: bộ lọc không tăng không theo được đoạn đó.</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Lựa chọn cuối dựa trên validation của đủ ba lần lặp, được đặt ra sau khi đã xem test, nên em trình bày là phân tích hậu kiểm.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chia được dựng lại từ nhật ký huấn luyện mà nhóm tác giả công bố. Cách tiền xử lý của bài có rò rỉ nên chỉ dùng để so cùng điều kiện với số công bố.</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Hình phải là thay đổi SOH so với lần xả trước theo thời gian nghỉ: nghỉ càng lâu, dung lượng hồi phục càng nhiều. Đây là mẫu gây nhiễu mà mô hình phải xử lý.</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Thanh gạch chéo là số công bố. SambaMixer dùng đường xả, nơi dung lượng gần như nằm sẵn trong đầu vào; đồ án chỉ dùng đoạn sạc trước lần xả, là dữ liệu BMS có ở mọi chu kỳ.</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cell đánh giá theo đúng cách chia của SambaMixer. Mô hình chuỗi tốt nhất trên cách chia này là CNN, vẽ cùng GBDT và PINN-lai.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SambaMixer nhận đường xả của chính chu kỳ cần ước lượng, nên nhãn gần như nằm trong đầu vào. Em tách ba mức thông tin về chính cell: không đo, đo thưa, và biết mọi lần xả trước. Đồ án chỉ thấp hơn SambaMixer khi có thêm các lần đo của chính cell; ở mức cao nhất, cách giữ nguyên lần đo trước không cần mô hình cũng thấp hơn, nên phần thắng đến từ thông tin chứ không từ mô hình. Biến thể κ được đặt ra sau khi xem kết quả trên các bộ khác, em ghi rõ là hậu kiểm.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các mức đo trên bốn bộ chính và trên kiểm định chéo của NASA. Giữa hai lần đo thưa, mô hình biết dung lượng giảm bao nhiêu nên tốt hơn hẳn giữ nguyên; khi đã đo mọi chu kỳ trước, thay đổi mô hình dự đoán giữa hai chu kỳ liền nhau nhiễu hơn thay đổi thật, nên giữ nguyên thắng. Giá trị của mô hình nằm ở chỗ đo thưa.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Nên tính nhãn theo số lần đo chứ không theo số cell: rải vài lần đo lên mọi cell tốt hơn đo kín một phần cell.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mục của giai đoạn 1 đều đã làm. Điểm khác về hướng đi: GBDT mạnh hơn cả bốn mô hình học sâu, nên giai đoạn 2 cần giữ mô hình cây làm mốc so sánh.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vật lý giúp nhiều nhất khi nhãn ít, mô hình cây vẫn là đối thủ khó nhất, và ghép hai thứ lại cho kết quả tốt nhất. Giai đoạn 2 chuyển sang khối pin nhiều cell.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cảm ơn và xin nhận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7a4e4852f204d2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e32bab2fb96496e" Type="http://schemas.openxmlformats.org/officeDocument/2006/relationships/theme" Target="theme/theme2.xml"/><Relationship Id="Rf73ea25edfaa4493"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3ea25edfaa44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cb7eb55322849fc" Type="http://schemas.openxmlformats.org/officeDocument/2006/relationships/notesSlide" Target="../notesSlides/notesSlide1.xml"/><Relationship Id="R25cf6b758bc74db5" Type="http://schemas.openxmlformats.org/officeDocument/2006/relationships/image" Target="../media/image.png"/><Relationship Id="Rd17197143e8f48ed" Type="http://schemas.openxmlformats.org/officeDocument/2006/relationships/image" Target="../media/image2.png"/><Relationship Id="Re00d6b0aa60a4e62" Type="http://schemas.openxmlformats.org/officeDocument/2006/relationships/slideLayout" Target="../slideLayouts/slideLayout1.xml"/><Relationship Id="Recaf59b52a634569"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4.png"/><Relationship Id="rId4"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9.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5cf6b758bc74db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17197143e8f48ed"/>
          <a:stretch xmlns:a="http://schemas.openxmlformats.org/drawingml/2006/main"/>
        </p:blipFill>
        <p:spPr>
          <a:xfrm xmlns:a="http://schemas.openxmlformats.org/drawingml/2006/main">
            <a:off x="4676775" y="620100"/>
            <a:ext cx="1162050" cy="569551"/>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caf59b52a634569"/>
          <a:stretch xmlns:a="http://schemas.openxmlformats.org/drawingml/2006/main"/>
        </p:blipFill>
        <p:spPr>
          <a:xfrm xmlns:a="http://schemas.openxmlformats.org/drawingml/2006/main">
            <a:off x="6572250" y="571822"/>
            <a:ext cx="647700" cy="5899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89EA32-4378-438E-B351-C353813ECB53}"/>
              </a:ext>
            </a:extLst>
          </p:cNvPr>
          <p:cNvSpPr>
            <a:spLocks xmlns:a="http://schemas.openxmlformats.org/drawingml/2006/main" noGrp="1"/>
          </p:cNvSpPr>
          <p:nvPr/>
        </p:nvSpPr>
        <p:spPr>
          <a:xfrm xmlns:a="http://schemas.openxmlformats.org/drawingml/2006/main">
            <a:off x="2000250" y="1752600"/>
            <a:ext cx="819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20567B"/>
                </a:solidFill>
                <a:latin typeface="Arial"/>
                <a:ea typeface="Arial"/>
                <a:cs typeface="Arial"/>
              </a:defRPr>
            </a:pPr>
            <a:r>
              <a:rPr sz="1950" b="1">
                <a:solidFill>
                  <a:srgbClr val="20567B"/>
                </a:solidFill>
                <a:latin typeface="Arial"/>
                <a:ea typeface="Arial"/>
                <a:cs typeface="Arial"/>
              </a:rPr>
              <a:t>ĐỒ ÁN CHUYÊN NGÀNH HK261</a:t>
            </a:r>
          </a:p>
        </p:txBody>
      </p:sp>
      <p:sp>
        <p:nvSpPr>
          <p:cNvPr id="5" name="">
            <a:extLst xmlns:a="http://schemas.openxmlformats.org/drawingml/2006/main">
              <a:ext uri="{FF2B5EF4-FFF2-40B4-BE49-F238E27FC236}">
                <a16:creationId xmlns:a16="http://schemas.microsoft.com/office/drawing/2014/main" id="{76F142D9-73E8-44E7-846D-6C3B7F93CE35}"/>
              </a:ext>
            </a:extLst>
          </p:cNvPr>
          <p:cNvSpPr>
            <a:spLocks xmlns:a="http://schemas.openxmlformats.org/drawingml/2006/main" noGrp="1"/>
          </p:cNvSpPr>
          <p:nvPr/>
        </p:nvSpPr>
        <p:spPr>
          <a:xfrm xmlns:a="http://schemas.openxmlformats.org/drawingml/2006/main">
            <a:off x="1905000" y="2524125"/>
            <a:ext cx="83820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300" b="1">
                <a:solidFill>
                  <a:srgbClr val="20567B"/>
                </a:solidFill>
                <a:latin typeface="Arial"/>
                <a:ea typeface="Arial"/>
                <a:cs typeface="Arial"/>
              </a:defRPr>
            </a:pPr>
            <a:r>
              <a:rPr sz="3300" b="1">
                <a:solidFill>
                  <a:srgbClr val="20567B"/>
                </a:solidFill>
                <a:latin typeface="Arial"/>
                <a:ea typeface="Arial"/>
                <a:cs typeface="Arial"/>
              </a:rPr>
              <a:t>Dự đoán thông số sức khoẻ của pin</a:t>
            </a:r>
          </a:p>
          <a:p xmlns:a="http://schemas.openxmlformats.org/drawingml/2006/main">
            <a:pPr algn="ctr">
              <a:defRPr sz="3300" b="1">
                <a:solidFill>
                  <a:srgbClr val="20567B"/>
                </a:solidFill>
                <a:latin typeface="Arial"/>
                <a:ea typeface="Arial"/>
                <a:cs typeface="Arial"/>
              </a:defRPr>
            </a:pPr>
            <a:r>
              <a:rPr sz="3300" b="1">
                <a:solidFill>
                  <a:srgbClr val="20567B"/>
                </a:solidFill>
                <a:latin typeface="Arial"/>
                <a:ea typeface="Arial"/>
                <a:cs typeface="Arial"/>
              </a:rPr>
              <a:t>bằng mô hình học sâu được hỗ trợ từ</a:t>
            </a:r>
          </a:p>
          <a:p xmlns:a="http://schemas.openxmlformats.org/drawingml/2006/main">
            <a:pPr algn="ctr">
              <a:defRPr sz="3300" b="1">
                <a:solidFill>
                  <a:srgbClr val="20567B"/>
                </a:solidFill>
                <a:latin typeface="Arial"/>
                <a:ea typeface="Arial"/>
                <a:cs typeface="Arial"/>
              </a:defRPr>
            </a:pPr>
            <a:r>
              <a:rPr sz="3300" b="1">
                <a:solidFill>
                  <a:srgbClr val="20567B"/>
                </a:solidFill>
                <a:latin typeface="Arial"/>
                <a:ea typeface="Arial"/>
                <a:cs typeface="Arial"/>
              </a:rPr>
              <a:t>thông tin hoá lý của hệ pin</a:t>
            </a:r>
          </a:p>
        </p:txBody>
      </p:sp>
      <p:sp>
        <p:nvSpPr>
          <p:cNvPr id="6" name="">
            <a:extLst xmlns:a="http://schemas.openxmlformats.org/drawingml/2006/main">
              <a:ext uri="{FF2B5EF4-FFF2-40B4-BE49-F238E27FC236}">
                <a16:creationId xmlns:a16="http://schemas.microsoft.com/office/drawing/2014/main" id="{6126EDAD-7C66-4704-AA1D-B0BDA5742275}"/>
              </a:ext>
            </a:extLst>
          </p:cNvPr>
          <p:cNvSpPr>
            <a:spLocks xmlns:a="http://schemas.openxmlformats.org/drawingml/2006/main" noGrp="1"/>
          </p:cNvSpPr>
          <p:nvPr/>
        </p:nvSpPr>
        <p:spPr>
          <a:xfrm xmlns:a="http://schemas.openxmlformats.org/drawingml/2006/main">
            <a:off x="2381250" y="4524375"/>
            <a:ext cx="7429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ctr">
              <ns0:defRPr sz="2100" b="0">
                <ns0:solidFill>
                  <ns0:srgbClr val="163047"/>
                </ns0:solidFill>
                <ns0:latin typeface="Arial"/>
                <ns0:ea typeface="Arial"/>
                <ns0:cs typeface="Arial"/>
              </ns0:defRPr>
            </ns0:pPr>
            <ns0:r>
              <ns0:rPr sz="2100" b="0">
                <ns0:solidFill>
                  <ns0:srgbClr val="163047"/>
                </ns0:solidFill>
                <ns0:latin typeface="Arial"/>
                <ns0:ea typeface="Arial"/>
                <ns0:cs typeface="Arial"/>
              </ns0:rPr>
              <ns0:t>Huỳnh Quốc Thắng · MSSV 2313178 · Nhóm 15</ns0:t>
            </ns0:r>
          </ns0:p>
        </p:txBody>
      </p:sp>
      <p:sp>
        <p:nvSpPr>
          <p:cNvPr id="7" name="">
            <a:extLst xmlns:a="http://schemas.openxmlformats.org/drawingml/2006/main">
              <a:ext uri="{FF2B5EF4-FFF2-40B4-BE49-F238E27FC236}">
                <a16:creationId xmlns:a16="http://schemas.microsoft.com/office/drawing/2014/main" id="{36C968CE-E03B-4209-97C7-2B8F501FA206}"/>
              </a:ext>
            </a:extLst>
          </p:cNvPr>
          <p:cNvSpPr>
            <a:spLocks xmlns:a="http://schemas.openxmlformats.org/drawingml/2006/main" noGrp="1"/>
          </p:cNvSpPr>
          <p:nvPr/>
        </p:nvSpPr>
        <p:spPr>
          <a:xfrm xmlns:a="http://schemas.openxmlformats.org/drawingml/2006/main">
            <a:off x="2952750" y="5276850"/>
            <a:ext cx="6286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ctr">
              <ns1:defRPr sz="1725" b="0">
                <ns1:solidFill>
                  <ns1:srgbClr val="526778"/>
                </ns1:solidFill>
                <ns1:latin typeface="Arial"/>
                <ns1:ea typeface="Arial"/>
                <ns1:cs typeface="Arial"/>
              </ns1:defRPr>
            </ns1:pPr>
            <ns1:r>
              <ns1:rPr sz="1725" b="0">
                <ns1:solidFill>
                  <ns1:srgbClr val="526778"/>
                </ns1:solidFill>
                <ns1:latin typeface="Arial"/>
                <ns1:ea typeface="Arial"/>
                <ns1:cs typeface="Arial"/>
              </ns1:rPr>
              <ns1:t>Thuyết trình đồ án chuyên ngành · Khoa học Máy tính</ns1:t>
            </ns1:r>
          </ns1:p>
          <ns2:p xmlns:ns2="http://schemas.openxmlformats.org/drawingml/2006/main">
            <ns2:pPr algn="ctr">
              <ns2:defRPr sz="1725" b="0">
                <ns2:solidFill>
                  <ns2:srgbClr val="526778"/>
                </ns2:solidFill>
                <ns2:latin typeface="Arial"/>
                <ns2:ea typeface="Arial"/>
                <ns2:cs typeface="Arial"/>
              </ns2:defRPr>
            </ns2:pPr>
            <ns2:r>
              <ns2:rPr sz="1725" b="0">
                <ns2:solidFill>
                  <ns2:srgbClr val="526778"/>
                </ns2:solidFill>
                <ns2:latin typeface="Arial"/>
                <ns2:ea typeface="Arial"/>
                <ns2:cs typeface="Arial"/>
              </ns2:rPr>
              <ns2:t>TP. Hồ Chí Minh, 10/2026</ns2:t>
            </ns2:r>
          </ns2:p>
        </p:txBody>
      </p:sp>
    </p:spTree>
    <p:extLst>
      <p:ext uri="{BB962C8B-B14F-4D97-AF65-F5344CB8AC3E}">
        <p14:creationId xmlns:p14="http://schemas.microsoft.com/office/powerpoint/2010/main" val="484136659"/>
      </p:ext>
    </p:extLst>
  </p:cSld>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Nội dung</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02</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685800" y="1417320"/>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01</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1417320" y="1435608"/>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Bài toán và mục tiêu theo đề cương</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5800" y="2203704"/>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02</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1417320" y="2221992"/>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Dữ liệu: bốn bộ công khai và NASA</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5800" y="2990088"/>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03</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1417320" y="3008376"/>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Mô hình PINN bán giám sát</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5800" y="3776472"/>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04</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1417320" y="3794759"/>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Hiện thực hệ thống và giao thức đánh giá</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5800" y="4562856"/>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05</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1417320" y="4581144"/>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Kết quả theo lượng nhãn</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5800" y="5349240"/>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06</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1417320" y="5367527"/>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So với MLP, CNN, LSTM, Transformer; bảng MAE và R²</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355080" y="1417320"/>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07</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086600" y="1435608"/>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Mô hình kết hợp PINN-lai, đầu vào có lịch sử</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355080" y="2203704"/>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08</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086600" y="2221992"/>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So với PINN4SOH</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355080" y="2990088"/>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09</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086600" y="3008376"/>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Dự báo SOH, dung lượng, RUL</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355080" y="3776472"/>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10</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086600" y="3794759"/>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Bộ NASA, SambaMixer, mức đo</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355080" y="4562856"/>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11</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086600" y="4581144"/>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Ngân sách đo dung lượng</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355080" y="5349240"/>
            <a:ext cx="640080" cy="329184"/>
          </a:xfrm>
          <a:prstGeom prst="rect">
            <a:avLst/>
          </a:prstGeom>
          <a:noFill/>
          <a:ln w="0">
            <a:noFill/>
          </a:ln>
        </p:spPr>
        <p:txBody>
          <a:bodyPr lIns="0" tIns="0" rIns="0" bIns="0" anchor="ctr">
            <a:noAutofit/>
          </a:bodyPr>
          <a:lstStyle/>
          <a:p>
            <a:pPr algn="l">
              <a:defRPr sz="2200" b="1">
                <a:solidFill>
                  <a:srgbClr val="20567B"/>
                </a:solidFill>
                <a:latin typeface="Arial"/>
                <a:ea typeface="Arial"/>
                <a:cs typeface="Arial"/>
              </a:defRPr>
            </a:pPr>
            <a:r>
              <a:rPr sz="2200" b="1">
                <a:solidFill>
                  <a:srgbClr val="20567B"/>
                </a:solidFill>
                <a:latin typeface="Arial"/>
                <a:ea typeface="Arial"/>
                <a:cs typeface="Arial"/>
              </a:rPr>
              <a:t>12</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086600" y="5367527"/>
            <a:ext cx="4754880" cy="457200"/>
          </a:xfrm>
          <a:prstGeom prst="rect">
            <a:avLst/>
          </a:prstGeom>
          <a:noFill/>
          <a:ln w="0">
            <a:noFill/>
          </a:ln>
        </p:spPr>
        <p:txBody>
          <a:bodyPr lIns="0" tIns="0" rIns="0" bIns="0" anchor="t">
            <a:noAutofit/>
          </a:bodyPr>
          <a:lstStyle/>
          <a:p>
            <a:pPr algn="l">
              <a:spcAft>
                <a:spcPts val="765"/>
              </a:spcAft>
              <a:defRPr sz="1700" b="0">
                <a:solidFill>
                  <a:srgbClr val="163047"/>
                </a:solidFill>
                <a:latin typeface="Arial"/>
                <a:ea typeface="Arial"/>
                <a:cs typeface="Arial"/>
              </a:defRPr>
            </a:pPr>
            <a:r>
              <a:rPr sz="1700" b="0">
                <a:solidFill>
                  <a:srgbClr val="163047"/>
                </a:solidFill>
                <a:latin typeface="Arial"/>
                <a:ea typeface="Arial"/>
                <a:cs typeface="Arial"/>
              </a:rPr>
              <a:t>Đối chiếu đề cương, kết luận, giai đoạn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Bài toán và mục tiêu theo đề cương</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03</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621792" y="1325880"/>
            <a:ext cx="10881360" cy="329184"/>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Bài toán</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21792" y="1709928"/>
            <a:ext cx="10881360" cy="835152"/>
          </a:xfrm>
          <a:prstGeom prst="rect">
            <a:avLst/>
          </a:prstGeom>
          <a:noFill/>
          <a:ln w="0">
            <a:noFill/>
          </a:ln>
        </p:spPr>
        <p:txBody>
          <a:bodyPr lIns="0" tIns="0" rIns="0" bIns="0" anchor="t">
            <a:noAutofit/>
          </a:bodyPr>
          <a:lstStyle/>
          <a:p>
            <a:pPr algn="l">
              <a:spcAft>
                <a:spcPts val="720"/>
              </a:spcAft>
              <a:defRPr sz="1600" b="0">
                <a:solidFill>
                  <a:srgbClr val="163047"/>
                </a:solidFill>
                <a:latin typeface="Arial"/>
                <a:ea typeface="Arial"/>
                <a:cs typeface="Arial"/>
              </a:defRPr>
            </a:pPr>
            <a:r>
              <a:rPr sz="1600" b="0">
                <a:solidFill>
                  <a:srgbClr val="163047"/>
                </a:solidFill>
                <a:latin typeface="Arial"/>
                <a:ea typeface="Arial"/>
                <a:cs typeface="Arial"/>
              </a:rPr>
              <a:t>Ước lượng SOH = Q / Q danh định của từng cell ở từng chu kỳ từ 16 đặc trưng của đoạn sạc CC–CV, rồi dự báo SOH, dung lượng và RUL. Nhãn đắt: muốn biết dung lượng phải xả đầy cell, còn đặc trưng sạc thì BMS ghi được ở mọi chu kỳ.</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21792" y="2654808"/>
            <a:ext cx="10881360" cy="329184"/>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Mục tiêu giai đoạn 1</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21792" y="3038856"/>
            <a:ext cx="10881360" cy="2194560"/>
          </a:xfrm>
          <a:prstGeom prst="rect">
            <a:avLst/>
          </a:prstGeom>
          <a:noFill/>
          <a:ln w="0">
            <a:noFill/>
          </a:ln>
        </p:spPr>
        <p:txBody>
          <a:bodyPr lIns="0" tIns="0" rIns="0" bIns="0" anchor="t">
            <a:noAutofit/>
          </a:bodyPr>
          <a:lstStyle/>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Kiến thức nền: học sâu cho chuỗi thời gian, dữ liệu pin và các ràng buộc hoá lý</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Thống kê mô tả; phân tích phân phối, ngoại lai và mẫu gây nhiễu</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Chạy và so sánh ít nhất bốn mô hình nền (MLP, CNN, LSTM, Transformer) bằng MAE, RMSE, MAPE</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Tinh chỉnh mô hình, giải thích vì sao kết quả tốt lên hay xấu đi</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Đề xuất cải tiến có cơ sở lý thuyết cho giai đoạn 2</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21792" y="4803648"/>
            <a:ext cx="10881360" cy="329184"/>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Hướng của đồ án</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21792" y="5187696"/>
            <a:ext cx="10881360" cy="640080"/>
          </a:xfrm>
          <a:prstGeom prst="rect">
            <a:avLst/>
          </a:prstGeom>
          <a:noFill/>
          <a:ln w="0">
            <a:noFill/>
          </a:ln>
        </p:spPr>
        <p:txBody>
          <a:bodyPr lIns="0" tIns="0" rIns="0" bIns="0" anchor="t">
            <a:noAutofit/>
          </a:bodyPr>
          <a:lstStyle/>
          <a:p>
            <a:pPr algn="l">
              <a:spcAft>
                <a:spcPts val="720"/>
              </a:spcAft>
              <a:defRPr sz="1600" b="0">
                <a:solidFill>
                  <a:srgbClr val="163047"/>
                </a:solidFill>
                <a:latin typeface="Arial"/>
                <a:ea typeface="Arial"/>
                <a:cs typeface="Arial"/>
              </a:defRPr>
            </a:pPr>
            <a:r>
              <a:rPr sz="1600" b="0">
                <a:solidFill>
                  <a:srgbClr val="163047"/>
                </a:solidFill>
                <a:latin typeface="Arial"/>
                <a:ea typeface="Arial"/>
                <a:cs typeface="Arial"/>
              </a:rPr>
              <a:t>PINN bán giám sát: ràng buộc vật lý không dùng nhãn được áp lên cả các cell chưa đo dung lượng, rồi kết hợp với mô hình cây.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Dữ liệu: 387 cell của bốn bộ công khai và 18 cell NASA</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04</a:t>
            </a:r>
          </a:p>
        </p:txBody>
      </p:sp>
      <p:pic>
        <p:nvPicPr>
          <p:cNvPr id="15"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0352" y="1325880"/>
          <a:ext cx="11128248" cy="2743200"/>
        </p:xfrm>
        <a:graphic>
          <a:graphicData uri="http://schemas.openxmlformats.org/drawingml/2006/table">
            <a:tbl>
              <a:tblPr/>
              <a:tblGrid>
                <a:gridCol w="1280160"/>
                <a:gridCol w="1508760"/>
                <a:gridCol w="1005840"/>
                <a:gridCol w="1463040"/>
                <a:gridCol w="1920240"/>
                <a:gridCol w="1965960"/>
                <a:gridCol w="1984248"/>
              </a:tblGrid>
              <a:tr h="457200">
                <a:tc>
                  <a:txBody>
                    <a:bodyPr/>
                    <a:lstStyle/>
                    <a:p>
                      <a:pPr algn="l"/>
                      <a:r>
                        <a:rPr sz="1600" b="1">
                          <a:solidFill>
                            <a:srgbClr val="FFFFFF"/>
                          </a:solidFill>
                          <a:latin typeface="Arial"/>
                          <a:ea typeface="Arial"/>
                          <a:cs typeface="Arial"/>
                        </a:rPr>
                        <a:t>Bộ</a:t>
                      </a:r>
                    </a:p>
                  </a:txBody>
                  <a:tcPr marL="91440" marR="91440" marT="45720" marB="45720" anchor="ctr">
                    <a:solidFill>
                      <a:srgbClr val="20567B"/>
                    </a:solidFill>
                  </a:tcPr>
                </a:tc>
                <a:tc>
                  <a:txBody>
                    <a:bodyPr/>
                    <a:lstStyle/>
                    <a:p>
                      <a:pPr algn="l"/>
                      <a:r>
                        <a:rPr sz="1600" b="1">
                          <a:solidFill>
                            <a:srgbClr val="FFFFFF"/>
                          </a:solidFill>
                          <a:latin typeface="Arial"/>
                          <a:ea typeface="Arial"/>
                          <a:cs typeface="Arial"/>
                        </a:rPr>
                        <a:t>Hoá học</a:t>
                      </a:r>
                    </a:p>
                  </a:txBody>
                  <a:tcPr marL="91440" marR="91440" marT="45720" marB="45720" anchor="ctr">
                    <a:solidFill>
                      <a:srgbClr val="20567B"/>
                    </a:solidFill>
                  </a:tcPr>
                </a:tc>
                <a:tc>
                  <a:txBody>
                    <a:bodyPr/>
                    <a:lstStyle/>
                    <a:p>
                      <a:pPr algn="l"/>
                      <a:r>
                        <a:rPr sz="1600" b="1">
                          <a:solidFill>
                            <a:srgbClr val="FFFFFF"/>
                          </a:solidFill>
                          <a:latin typeface="Arial"/>
                          <a:ea typeface="Arial"/>
                          <a:cs typeface="Arial"/>
                        </a:rPr>
                        <a:t>Cell</a:t>
                      </a:r>
                    </a:p>
                  </a:txBody>
                  <a:tcPr marL="91440" marR="91440" marT="45720" marB="45720" anchor="ctr">
                    <a:solidFill>
                      <a:srgbClr val="20567B"/>
                    </a:solidFill>
                  </a:tcPr>
                </a:tc>
                <a:tc>
                  <a:txBody>
                    <a:bodyPr/>
                    <a:lstStyle/>
                    <a:p>
                      <a:pPr algn="l"/>
                      <a:r>
                        <a:rPr sz="1600" b="1">
                          <a:solidFill>
                            <a:srgbClr val="FFFFFF"/>
                          </a:solidFill>
                          <a:latin typeface="Arial"/>
                          <a:ea typeface="Arial"/>
                          <a:cs typeface="Arial"/>
                        </a:rPr>
                        <a:t>Chu kỳ</a:t>
                      </a:r>
                    </a:p>
                  </a:txBody>
                  <a:tcPr marL="91440" marR="91440" marT="45720" marB="45720" anchor="ctr">
                    <a:solidFill>
                      <a:srgbClr val="20567B"/>
                    </a:solidFill>
                  </a:tcPr>
                </a:tc>
                <a:tc>
                  <a:txBody>
                    <a:bodyPr/>
                    <a:lstStyle/>
                    <a:p>
                      <a:pPr algn="l"/>
                      <a:r>
                        <a:rPr sz="1600" b="1">
                          <a:solidFill>
                            <a:srgbClr val="FFFFFF"/>
                          </a:solidFill>
                          <a:latin typeface="Arial"/>
                          <a:ea typeface="Arial"/>
                          <a:cs typeface="Arial"/>
                        </a:rPr>
                        <a:t>Nhóm điều kiện</a:t>
                      </a:r>
                    </a:p>
                  </a:txBody>
                  <a:tcPr marL="91440" marR="91440" marT="45720" marB="45720" anchor="ctr">
                    <a:solidFill>
                      <a:srgbClr val="20567B"/>
                    </a:solidFill>
                  </a:tcPr>
                </a:tc>
                <a:tc>
                  <a:txBody>
                    <a:bodyPr/>
                    <a:lstStyle/>
                    <a:p>
                      <a:pPr algn="l"/>
                      <a:r>
                        <a:rPr sz="1600" b="1">
                          <a:solidFill>
                            <a:srgbClr val="FFFFFF"/>
                          </a:solidFill>
                          <a:latin typeface="Arial"/>
                          <a:ea typeface="Arial"/>
                          <a:cs typeface="Arial"/>
                        </a:rPr>
                        <a:t>Tuổi thọ trung vị</a:t>
                      </a:r>
                    </a:p>
                  </a:txBody>
                  <a:tcPr marL="91440" marR="91440" marT="45720" marB="45720" anchor="ctr">
                    <a:solidFill>
                      <a:srgbClr val="20567B"/>
                    </a:solidFill>
                  </a:tcPr>
                </a:tc>
                <a:tc>
                  <a:txBody>
                    <a:bodyPr/>
                    <a:lstStyle/>
                    <a:p>
                      <a:pPr algn="l"/>
                      <a:r>
                        <a:rPr sz="1600" b="1">
                          <a:solidFill>
                            <a:srgbClr val="FFFFFF"/>
                          </a:solidFill>
                          <a:latin typeface="Arial"/>
                          <a:ea typeface="Arial"/>
                          <a:cs typeface="Arial"/>
                        </a:rPr>
                        <a:t>Q danh định (Ah)</a:t>
                      </a:r>
                    </a:p>
                  </a:txBody>
                  <a:tcPr marL="91440" marR="91440" marT="45720" marB="45720" anchor="ctr">
                    <a:solidFill>
                      <a:srgbClr val="20567B"/>
                    </a:solidFill>
                  </a:tcPr>
                </a:tc>
              </a:tr>
              <a:tr h="457200">
                <a:tc>
                  <a:txBody>
                    <a:bodyPr/>
                    <a:lstStyle/>
                    <a:p>
                      <a:pPr algn="l"/>
                      <a:r>
                        <a:rPr sz="1600" b="0">
                          <a:solidFill>
                            <a:srgbClr val="163047"/>
                          </a:solidFill>
                          <a:latin typeface="Arial"/>
                          <a:ea typeface="Arial"/>
                          <a:cs typeface="Arial"/>
                        </a:rPr>
                        <a:t>XJTU</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NCM</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55</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22.431</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6</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392</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2,0</a:t>
                      </a:r>
                    </a:p>
                  </a:txBody>
                  <a:tcPr marL="91440" marR="91440" marT="45720" marB="45720" anchor="ctr">
                    <a:solidFill>
                      <a:srgbClr val="EAF3F7"/>
                    </a:solidFill>
                  </a:tcPr>
                </a:tc>
              </a:tr>
              <a:tr h="457200">
                <a:tc>
                  <a:txBody>
                    <a:bodyPr/>
                    <a:lstStyle/>
                    <a:p>
                      <a:pPr algn="l"/>
                      <a:r>
                        <a:rPr sz="1600" b="0">
                          <a:solidFill>
                            <a:srgbClr val="163047"/>
                          </a:solidFill>
                          <a:latin typeface="Arial"/>
                          <a:ea typeface="Arial"/>
                          <a:cs typeface="Arial"/>
                        </a:rPr>
                        <a:t>TJU</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NCA/NCM</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130</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56.697</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9</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377</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3,5 / 2,5</a:t>
                      </a:r>
                    </a:p>
                  </a:txBody>
                  <a:tcPr marL="91440" marR="91440" marT="45720" marB="45720" anchor="ctr">
                    <a:solidFill>
                      <a:srgbClr val="FFFFFF"/>
                    </a:solidFill>
                  </a:tcPr>
                </a:tc>
              </a:tr>
              <a:tr h="457200">
                <a:tc>
                  <a:txBody>
                    <a:bodyPr/>
                    <a:lstStyle/>
                    <a:p>
                      <a:pPr algn="l"/>
                      <a:r>
                        <a:rPr sz="1600" b="0">
                          <a:solidFill>
                            <a:srgbClr val="163047"/>
                          </a:solidFill>
                          <a:latin typeface="Arial"/>
                          <a:ea typeface="Arial"/>
                          <a:cs typeface="Arial"/>
                        </a:rPr>
                        <a:t>MIT</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LFP</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125</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82.450</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3</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622</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1,1</a:t>
                      </a:r>
                    </a:p>
                  </a:txBody>
                  <a:tcPr marL="91440" marR="91440" marT="45720" marB="45720" anchor="ctr">
                    <a:solidFill>
                      <a:srgbClr val="EAF3F7"/>
                    </a:solidFill>
                  </a:tcPr>
                </a:tc>
              </a:tr>
              <a:tr h="457200">
                <a:tc>
                  <a:txBody>
                    <a:bodyPr/>
                    <a:lstStyle/>
                    <a:p>
                      <a:pPr algn="l"/>
                      <a:r>
                        <a:rPr sz="1600" b="0">
                          <a:solidFill>
                            <a:srgbClr val="163047"/>
                          </a:solidFill>
                          <a:latin typeface="Arial"/>
                          <a:ea typeface="Arial"/>
                          <a:cs typeface="Arial"/>
                        </a:rPr>
                        <a:t>HUST</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LFP</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77</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144.224</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1</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1.855</a:t>
                      </a:r>
                    </a:p>
                  </a:txBody>
                  <a:tcPr marL="91440" marR="91440" marT="45720" marB="45720" anchor="ctr">
                    <a:solidFill>
                      <a:srgbClr val="FFFFFF"/>
                    </a:solidFill>
                  </a:tcPr>
                </a:tc>
                <a:tc>
                  <a:txBody>
                    <a:bodyPr/>
                    <a:lstStyle/>
                    <a:p>
                      <a:pPr algn="l"/>
                      <a:r>
                        <a:rPr sz="1600" b="0">
                          <a:solidFill>
                            <a:srgbClr val="163047"/>
                          </a:solidFill>
                          <a:latin typeface="Arial"/>
                          <a:ea typeface="Arial"/>
                          <a:cs typeface="Arial"/>
                        </a:rPr>
                        <a:t>1,1</a:t>
                      </a:r>
                    </a:p>
                  </a:txBody>
                  <a:tcPr marL="91440" marR="91440" marT="45720" marB="45720" anchor="ctr">
                    <a:solidFill>
                      <a:srgbClr val="FFFFFF"/>
                    </a:solidFill>
                  </a:tcPr>
                </a:tc>
              </a:tr>
              <a:tr h="457200">
                <a:tc>
                  <a:txBody>
                    <a:bodyPr/>
                    <a:lstStyle/>
                    <a:p>
                      <a:pPr algn="l"/>
                      <a:r>
                        <a:rPr sz="1600" b="0">
                          <a:solidFill>
                            <a:srgbClr val="163047"/>
                          </a:solidFill>
                          <a:latin typeface="Arial"/>
                          <a:ea typeface="Arial"/>
                          <a:cs typeface="Arial"/>
                        </a:rPr>
                        <a:t>NASA</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NCA</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18</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1.597</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6</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a:t>
                      </a:r>
                    </a:p>
                  </a:txBody>
                  <a:tcPr marL="91440" marR="91440" marT="45720" marB="45720" anchor="ctr">
                    <a:solidFill>
                      <a:srgbClr val="EAF3F7"/>
                    </a:solidFill>
                  </a:tcPr>
                </a:tc>
                <a:tc>
                  <a:txBody>
                    <a:bodyPr/>
                    <a:lstStyle/>
                    <a:p>
                      <a:pPr algn="l"/>
                      <a:r>
                        <a:rPr sz="1600" b="0">
                          <a:solidFill>
                            <a:srgbClr val="163047"/>
                          </a:solidFill>
                          <a:latin typeface="Arial"/>
                          <a:ea typeface="Arial"/>
                          <a:cs typeface="Arial"/>
                        </a:rPr>
                        <a:t>2,0</a:t>
                      </a:r>
                    </a:p>
                  </a:txBody>
                  <a:tcPr marL="91440" marR="91440" marT="45720" marB="45720" anchor="ctr">
                    <a:solidFill>
                      <a:srgbClr val="EAF3F7"/>
                    </a:solidFill>
                  </a:tcPr>
                </a:tc>
              </a:tr>
            </a:tbl>
          </a:graphicData>
        </a:graphic>
      </p:graphicFrame>
      <p:sp>
        <p:nvSpPr>
          <p:cNvPr id="6" name="">
            <a:extLst>
              <a:ext uri="{FF2B5EF4-FFF2-40B4-BE49-F238E27FC236}">
                <a16:creationId xmlns:a16="http://schemas.microsoft.com/office/drawing/2014/main" id="{EE2ABE15-3EEB-4EA0-9CA6-5CA037A62878}"/>
              </a:ext>
            </a:extLst>
          </p:cNvPr>
          <p:cNvSpPr>
            <a:spLocks noGrp="1"/>
          </p:cNvSpPr>
          <p:nvPr/>
        </p:nvSpPr>
        <p:spPr>
          <a:xfrm>
            <a:off x="621792" y="4343400"/>
            <a:ext cx="10881360" cy="1463040"/>
          </a:xfrm>
          <a:prstGeom prst="rect">
            <a:avLst/>
          </a:prstGeom>
          <a:noFill/>
          <a:ln w="0">
            <a:noFill/>
          </a:ln>
        </p:spPr>
        <p:txBody>
          <a:bodyPr lIns="0" tIns="0" rIns="0" bIns="0" anchor="t">
            <a:noAutofit/>
          </a:bodyPr>
          <a:lstStyle/>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Lọc ngoại lai nhân quả: quyết định giữ hay bỏ chu kỳ n chỉ dùng các chu kỳ trước n của chính cell; sau lọc còn 305.802 chu kỳ ở bốn bộ chính</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Chuẩn hoá bằng thống kê của cell train; NASA được tự trích 16 đặc trưng sạc theo đúng định nghĩa của PINN4SOH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Mô hình đề xuất: PINN bán giám sát</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05</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3703320"/>
          </a:xfrm>
          <a:prstGeom prst="rect">
            <a:avLst/>
          </a:prstGeom>
          <a:solidFill>
            <a:srgbClr val="FFFFFF"/>
          </a:solidFill>
          <a:ln w="9525">
            <a:solidFill>
              <a:srgbClr val="A7BAC7"/>
            </a:solidFill>
          </a:ln>
        </p:spPr>
        <p:txBody>
          <a:bodyPr/>
          <a:p/>
        </p:txBody>
      </p:sp>
      <p:pic>
        <p:nvPicPr>
          <p:cNvPr id="16" name="Picture 15" descr="fig_thesis_arch.png"/>
          <p:cNvPicPr>
            <a:picLocks noChangeAspect="1"/>
          </p:cNvPicPr>
          <p:nvPr/>
        </p:nvPicPr>
        <p:blipFill>
          <a:blip r:embed="rId3"/>
          <a:stretch>
            <a:fillRect/>
          </a:stretch>
        </p:blipFill>
        <p:spPr>
          <a:xfrm>
            <a:off x="2761880" y="1298448"/>
            <a:ext cx="6665192" cy="3483862"/>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029200"/>
            <a:ext cx="10881360" cy="1280160"/>
          </a:xfrm>
          <a:prstGeom prst="rect">
            <a:avLst/>
          </a:prstGeom>
          <a:noFill/>
          <a:ln w="0">
            <a:noFill/>
          </a:ln>
        </p:spPr>
        <p:txBody>
          <a:bodyPr lIns="0" tIns="0" rIns="0" bIns="0" anchor="t">
            <a:noAutofit/>
          </a:bodyPr>
          <a:lstStyle/>
          <a:p>
            <a:pPr algn="l" marL="246888" indent="-246888">
              <a:spcAft>
                <a:spcPts val="675"/>
              </a:spcAft>
              <a:buFont typeface="Arial"/>
              <a:buChar char="•"/>
              <a:defRPr sz="1500" b="0">
                <a:solidFill>
                  <a:srgbClr val="163047"/>
                </a:solidFill>
                <a:latin typeface="Arial"/>
                <a:ea typeface="Arial"/>
                <a:cs typeface="Arial"/>
              </a:defRPr>
            </a:pPr>
            <a:r>
              <a:rPr sz="1500" b="0">
                <a:solidFill>
                  <a:srgbClr val="163047"/>
                </a:solidFill>
                <a:latin typeface="Arial"/>
                <a:ea typeface="Arial"/>
                <a:cs typeface="Arial"/>
              </a:rPr>
              <a:t>Mạng nghiệm Fφ dự đoán SOH; động học xám r = k(x)·g(u)·A(T) ≥ 0: tốc độ suy giảm không âm, tăng khi SOH giảm, theo Arrhenius</a:t>
            </a:r>
          </a:p>
          <a:p>
            <a:pPr algn="l" marL="246888" indent="-246888">
              <a:spcAft>
                <a:spcPts val="675"/>
              </a:spcAft>
              <a:buFont typeface="Arial"/>
              <a:buChar char="•"/>
              <a:defRPr sz="1500" b="0">
                <a:solidFill>
                  <a:srgbClr val="163047"/>
                </a:solidFill>
                <a:latin typeface="Arial"/>
                <a:ea typeface="Arial"/>
                <a:cs typeface="Arial"/>
              </a:defRPr>
            </a:pPr>
            <a:r>
              <a:rPr sz="1500" b="0">
                <a:solidFill>
                  <a:srgbClr val="163047"/>
                </a:solidFill>
                <a:latin typeface="Arial"/>
                <a:ea typeface="Arial"/>
                <a:cs typeface="Arial"/>
              </a:rPr>
              <a:t>Ba loss vật lý không dùng nhãn (phần dư ODE, đơn điệu, miền giá trị) áp lên mọi cell train, kể cả cell chưa đo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Hiện thực hệ thống</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06</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3840480"/>
          </a:xfrm>
          <a:prstGeom prst="rect">
            <a:avLst/>
          </a:prstGeom>
          <a:solidFill>
            <a:srgbClr val="FFFFFF"/>
          </a:solidFill>
          <a:ln w="9525">
            <a:solidFill>
              <a:srgbClr val="A7BAC7"/>
            </a:solidFill>
          </a:ln>
        </p:spPr>
        <p:txBody>
          <a:bodyPr/>
          <a:p/>
        </p:txBody>
      </p:sp>
      <p:pic>
        <p:nvPicPr>
          <p:cNvPr id="16" name="Picture 15" descr="fig_thesis_pipeline.png"/>
          <p:cNvPicPr>
            <a:picLocks noChangeAspect="1"/>
          </p:cNvPicPr>
          <p:nvPr/>
        </p:nvPicPr>
        <p:blipFill>
          <a:blip r:embed="rId3"/>
          <a:stretch>
            <a:fillRect/>
          </a:stretch>
        </p:blipFill>
        <p:spPr>
          <a:xfrm>
            <a:off x="1603502" y="1298448"/>
            <a:ext cx="8981947" cy="3621024"/>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166360"/>
            <a:ext cx="10881360" cy="1188720"/>
          </a:xfrm>
          <a:prstGeom prst="rect">
            <a:avLst/>
          </a:prstGeom>
          <a:noFill/>
          <a:ln w="0">
            <a:noFill/>
          </a:ln>
        </p:spPr>
        <p:txBody>
          <a:bodyPr lIns="0" tIns="0" rIns="0" bIns="0" anchor="t">
            <a:noAutofit/>
          </a:bodyPr>
          <a:lstStyle/>
          <a:p>
            <a:pPr algn="l" marL="246888" indent="-246888">
              <a:spcAft>
                <a:spcPts val="675"/>
              </a:spcAft>
              <a:buFont typeface="Arial"/>
              <a:buChar char="•"/>
              <a:defRPr sz="1500" b="0">
                <a:solidFill>
                  <a:srgbClr val="163047"/>
                </a:solidFill>
                <a:latin typeface="Arial"/>
                <a:ea typeface="Arial"/>
                <a:cs typeface="Arial"/>
              </a:defRPr>
            </a:pPr>
            <a:r>
              <a:rPr sz="1500" b="0">
                <a:solidFill>
                  <a:srgbClr val="163047"/>
                </a:solidFill>
                <a:latin typeface="Arial"/>
                <a:ea typeface="Arial"/>
                <a:cs typeface="Arial"/>
              </a:rPr>
              <a:t>Python, PyTorch, scikit-learn; một lệnh chạy từ dữ liệu thô tới báo cáo; 10.720 lượt huấn luyện được trình bày</a:t>
            </a:r>
          </a:p>
          <a:p>
            <a:pPr algn="l" marL="246888" indent="-246888">
              <a:spcAft>
                <a:spcPts val="675"/>
              </a:spcAft>
              <a:buFont typeface="Arial"/>
              <a:buChar char="•"/>
              <a:defRPr sz="1500" b="0">
                <a:solidFill>
                  <a:srgbClr val="163047"/>
                </a:solidFill>
                <a:latin typeface="Arial"/>
                <a:ea typeface="Arial"/>
                <a:cs typeface="Arial"/>
              </a:defRPr>
            </a:pPr>
            <a:r>
              <a:rPr sz="1500" b="0">
                <a:solidFill>
                  <a:srgbClr val="163047"/>
                </a:solidFill>
                <a:latin typeface="Arial"/>
                <a:ea typeface="Arial"/>
                <a:cs typeface="Arial"/>
              </a:rPr>
              <a:t>Chạy lại 20 lượt mẫu trên máy khác cho dự đoán trùng từng bit; công cụ dòng lệnh ước lượng và dự báo cho một cell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Giao thức đánh giá không rò rỉ</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07</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6766560" cy="4937760"/>
          </a:xfrm>
          <a:prstGeom prst="rect">
            <a:avLst/>
          </a:prstGeom>
          <a:solidFill>
            <a:srgbClr val="FFFFFF"/>
          </a:solidFill>
          <a:ln w="9525">
            <a:solidFill>
              <a:srgbClr val="A7BAC7"/>
            </a:solidFill>
          </a:ln>
        </p:spPr>
        <p:txBody>
          <a:bodyPr/>
          <a:p/>
        </p:txBody>
      </p:sp>
      <p:pic>
        <p:nvPicPr>
          <p:cNvPr id="16" name="Picture 15" descr="fig_thesis_leakage.png"/>
          <p:cNvPicPr>
            <a:picLocks noChangeAspect="1"/>
          </p:cNvPicPr>
          <p:nvPr/>
        </p:nvPicPr>
        <p:blipFill>
          <a:blip r:embed="rId3"/>
          <a:stretch>
            <a:fillRect/>
          </a:stretch>
        </p:blipFill>
        <p:spPr>
          <a:xfrm>
            <a:off x="630936" y="1662271"/>
            <a:ext cx="6547104" cy="3990657"/>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7543800" y="1325880"/>
            <a:ext cx="411480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Chia theo cell</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543800" y="1709928"/>
            <a:ext cx="4114800" cy="102565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Kiểm định chéo 5 fold phân tầng theo chế độ thí nghiệm, 10 % cell validation, lặp 5 lần; mọi mô hình dùng chung cách chia và cell có nhãn.</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543800" y="2845307"/>
            <a:ext cx="411480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Kiểm toán rò rỉ</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543800" y="3229355"/>
            <a:ext cx="4114800" cy="102565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Cùng một MLP, chia theo chu kỳ làm sai số thấp đi 1,2–1,8 lần; chép nhãn của chu kỳ train gần nhất đã thấp hơn mọi mô hình được đánh giá đúng.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Kết quả 1: PINN bán giám sát theo lượng nhãn</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08</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6949440" cy="4937760"/>
          </a:xfrm>
          <a:prstGeom prst="rect">
            <a:avLst/>
          </a:prstGeom>
          <a:solidFill>
            <a:srgbClr val="FFFFFF"/>
          </a:solidFill>
          <a:ln w="9525">
            <a:solidFill>
              <a:srgbClr val="A7BAC7"/>
            </a:solidFill>
          </a:ln>
        </p:spPr>
        <p:txBody>
          <a:bodyPr/>
          <a:p/>
        </p:txBody>
      </p:sp>
      <p:pic>
        <p:nvPicPr>
          <p:cNvPr id="16" name="Picture 15" descr="fig_thesis_curve_physics.png"/>
          <p:cNvPicPr>
            <a:picLocks noChangeAspect="1"/>
          </p:cNvPicPr>
          <p:nvPr/>
        </p:nvPicPr>
        <p:blipFill>
          <a:blip r:embed="rId3"/>
          <a:stretch>
            <a:fillRect/>
          </a:stretch>
        </p:blipFill>
        <p:spPr>
          <a:xfrm>
            <a:off x="630936" y="1349291"/>
            <a:ext cx="6729982" cy="4616617"/>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7726679" y="1325880"/>
            <a:ext cx="39319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10 % nhãn</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726679" y="1709928"/>
            <a:ext cx="3931920" cy="54940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Sai số bằng 0,39–0,90 lần MLP, có ý nghĩa trên cả bốn bộ.</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726679" y="2369058"/>
            <a:ext cx="39319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Tiết kiệm nhãn</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726679" y="2753106"/>
            <a:ext cx="3931920" cy="54940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Với 10 % nhãn, PINN-semi đạt sai số mà MLP cần 17–45 % nhãn (1,7–4,5 lần).</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726679" y="3412236"/>
            <a:ext cx="39319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70 % nhãn</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726679" y="3796283"/>
            <a:ext cx="3931920" cy="54940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Tỉ số còn 0,85–1,09: khi đủ nhãn, vật lý ít thông tin mới.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Kết quả 2: so với MLP, CNN, LSTM, Transformer</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09</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43000"/>
            <a:ext cx="11146536" cy="4343400"/>
          </a:xfrm>
          <a:prstGeom prst="rect">
            <a:avLst/>
          </a:prstGeom>
          <a:solidFill>
            <a:srgbClr val="FFFFFF"/>
          </a:solidFill>
          <a:ln w="9525">
            <a:solidFill>
              <a:srgbClr val="A7BAC7"/>
            </a:solidFill>
          </a:ln>
        </p:spPr>
        <p:txBody>
          <a:bodyPr/>
          <a:p/>
        </p:txBody>
      </p:sp>
      <p:pic>
        <p:nvPicPr>
          <p:cNvPr id="16" name="Picture 15" descr="fig_models_compare.png"/>
          <p:cNvPicPr>
            <a:picLocks noChangeAspect="1"/>
          </p:cNvPicPr>
          <p:nvPr/>
        </p:nvPicPr>
        <p:blipFill>
          <a:blip r:embed="rId3"/>
          <a:stretch>
            <a:fillRect/>
          </a:stretch>
        </p:blipFill>
        <p:spPr>
          <a:xfrm>
            <a:off x="1314737" y="1252728"/>
            <a:ext cx="9559478" cy="4123944"/>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59552"/>
            <a:ext cx="10424160" cy="82296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CNN, LSTM, Transformer có sai số bằng 0,36–0,93 lần MLP (có ý nghĩa ở 42/48 phép so) nhưng kém GBDT ở 40/48; chỉ tốt hơn GBDT trên HUST</a:t>
            </a:r>
          </a:p>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Mô hình cuối (PINN-lai, chọn lịch sử trên validation) có MAE bằng 0,77–0,96 lần mô hình chuỗi tốt nhất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Bảng MAE và R² ở 30 % nhãn</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10</a:t>
            </a:r>
          </a:p>
        </p:txBody>
      </p:sp>
      <p:pic>
        <p:nvPicPr>
          <p:cNvPr id="15"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0352" y="1280160"/>
          <a:ext cx="11128247" cy="3867912"/>
        </p:xfrm>
        <a:graphic>
          <a:graphicData uri="http://schemas.openxmlformats.org/drawingml/2006/table">
            <a:tbl>
              <a:tblPr/>
              <a:tblGrid>
                <a:gridCol w="1874519"/>
                <a:gridCol w="1156716"/>
                <a:gridCol w="1156716"/>
                <a:gridCol w="1156716"/>
                <a:gridCol w="1156716"/>
                <a:gridCol w="1156716"/>
                <a:gridCol w="1156716"/>
                <a:gridCol w="1156716"/>
                <a:gridCol w="1156716"/>
              </a:tblGrid>
              <a:tr h="429768">
                <a:tc>
                  <a:txBody>
                    <a:bodyPr/>
                    <a:lstStyle/>
                    <a:p>
                      <a:pPr algn="l"/>
                      <a:r>
                        <a:rPr sz="1400" b="1">
                          <a:solidFill>
                            <a:srgbClr val="FFFFFF"/>
                          </a:solidFill>
                          <a:latin typeface="Arial"/>
                          <a:ea typeface="Arial"/>
                          <a:cs typeface="Arial"/>
                        </a:rPr>
                        <a:t>Mô hình</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XJTU MAE</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R²</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TJU MAE</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R²</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MIT MAE</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R²</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HUST MAE</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R²</a:t>
                      </a:r>
                    </a:p>
                  </a:txBody>
                  <a:tcPr marL="91440" marR="91440" marT="45720" marB="45720" anchor="ctr">
                    <a:solidFill>
                      <a:srgbClr val="20567B"/>
                    </a:solidFill>
                  </a:tcPr>
                </a:tc>
              </a:tr>
              <a:tr h="429768">
                <a:tc>
                  <a:txBody>
                    <a:bodyPr/>
                    <a:lstStyle/>
                    <a:p>
                      <a:pPr algn="l"/>
                      <a:r>
                        <a:rPr sz="1400" b="0">
                          <a:solidFill>
                            <a:srgbClr val="163047"/>
                          </a:solidFill>
                          <a:latin typeface="Arial"/>
                          <a:ea typeface="Arial"/>
                          <a:cs typeface="Arial"/>
                        </a:rPr>
                        <a:t>MLP</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15,61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0,796</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11,71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0,954</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3,39</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0,950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20,00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0,864</a:t>
                      </a:r>
                    </a:p>
                  </a:txBody>
                  <a:tcPr marL="91440" marR="91440" marT="45720" marB="45720" anchor="ctr">
                    <a:solidFill>
                      <a:srgbClr val="EAF3F7"/>
                    </a:solidFill>
                  </a:tcPr>
                </a:tc>
              </a:tr>
              <a:tr h="429768">
                <a:tc>
                  <a:txBody>
                    <a:bodyPr/>
                    <a:lstStyle/>
                    <a:p>
                      <a:pPr algn="l"/>
                      <a:r>
                        <a:rPr sz="1400" b="0">
                          <a:solidFill>
                            <a:srgbClr val="163047"/>
                          </a:solidFill>
                          <a:latin typeface="Arial"/>
                          <a:ea typeface="Arial"/>
                          <a:cs typeface="Arial"/>
                        </a:rPr>
                        <a:t>CNN</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12,68</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0,843</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8,89</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0,968</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2,18</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0,989</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17,42</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0,873</a:t>
                      </a:r>
                    </a:p>
                  </a:txBody>
                  <a:tcPr marL="91440" marR="91440" marT="45720" marB="45720" anchor="ctr">
                    <a:solidFill>
                      <a:srgbClr val="FFFFFF"/>
                    </a:solidFill>
                  </a:tcPr>
                </a:tc>
              </a:tr>
              <a:tr h="429768">
                <a:tc>
                  <a:txBody>
                    <a:bodyPr/>
                    <a:lstStyle/>
                    <a:p>
                      <a:pPr algn="l"/>
                      <a:r>
                        <a:rPr sz="1400" b="0">
                          <a:solidFill>
                            <a:srgbClr val="163047"/>
                          </a:solidFill>
                          <a:latin typeface="Arial"/>
                          <a:ea typeface="Arial"/>
                          <a:cs typeface="Arial"/>
                        </a:rPr>
                        <a:t>LSTM</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13,98</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0,831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8,69</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0,971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2,18</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0,988</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17,14</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0,888</a:t>
                      </a:r>
                    </a:p>
                  </a:txBody>
                  <a:tcPr marL="91440" marR="91440" marT="45720" marB="45720" anchor="ctr">
                    <a:solidFill>
                      <a:srgbClr val="EAF3F7"/>
                    </a:solidFill>
                  </a:tcPr>
                </a:tc>
              </a:tr>
              <a:tr h="429768">
                <a:tc>
                  <a:txBody>
                    <a:bodyPr/>
                    <a:lstStyle/>
                    <a:p>
                      <a:pPr algn="l"/>
                      <a:r>
                        <a:rPr sz="1400" b="0">
                          <a:solidFill>
                            <a:srgbClr val="163047"/>
                          </a:solidFill>
                          <a:latin typeface="Arial"/>
                          <a:ea typeface="Arial"/>
                          <a:cs typeface="Arial"/>
                        </a:rPr>
                        <a:t>Transformer</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13,71</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0,836</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9,89</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0,965</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2,77</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0,984</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17,45</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0,886</a:t>
                      </a:r>
                    </a:p>
                  </a:txBody>
                  <a:tcPr marL="91440" marR="91440" marT="45720" marB="45720" anchor="ctr">
                    <a:solidFill>
                      <a:srgbClr val="FFFFFF"/>
                    </a:solidFill>
                  </a:tcPr>
                </a:tc>
              </a:tr>
              <a:tr h="429768">
                <a:tc>
                  <a:txBody>
                    <a:bodyPr/>
                    <a:lstStyle/>
                    <a:p>
                      <a:pPr algn="l"/>
                      <a:r>
                        <a:rPr sz="1400" b="0">
                          <a:solidFill>
                            <a:srgbClr val="163047"/>
                          </a:solidFill>
                          <a:latin typeface="Arial"/>
                          <a:ea typeface="Arial"/>
                          <a:cs typeface="Arial"/>
                        </a:rPr>
                        <a:t>GBDT</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10,87</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0,861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8,06</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0,970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1,97</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0,985</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18,73</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0,858</a:t>
                      </a:r>
                    </a:p>
                  </a:txBody>
                  <a:tcPr marL="91440" marR="91440" marT="45720" marB="45720" anchor="ctr">
                    <a:solidFill>
                      <a:srgbClr val="EAF3F7"/>
                    </a:solidFill>
                  </a:tcPr>
                </a:tc>
              </a:tr>
              <a:tr h="429768">
                <a:tc>
                  <a:txBody>
                    <a:bodyPr/>
                    <a:lstStyle/>
                    <a:p>
                      <a:pPr algn="l"/>
                      <a:r>
                        <a:rPr sz="1400" b="0">
                          <a:solidFill>
                            <a:srgbClr val="163047"/>
                          </a:solidFill>
                          <a:latin typeface="Arial"/>
                          <a:ea typeface="Arial"/>
                          <a:cs typeface="Arial"/>
                        </a:rPr>
                        <a:t>PINN-semi</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13,35</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0,860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11,39</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0,957</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2,50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0,986</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17,10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0,893</a:t>
                      </a:r>
                    </a:p>
                  </a:txBody>
                  <a:tcPr marL="91440" marR="91440" marT="45720" marB="45720" anchor="ctr">
                    <a:solidFill>
                      <a:srgbClr val="FFFFFF"/>
                    </a:solidFill>
                  </a:tcPr>
                </a:tc>
              </a:tr>
              <a:tr h="429768">
                <a:tc>
                  <a:txBody>
                    <a:bodyPr/>
                    <a:lstStyle/>
                    <a:p>
                      <a:pPr algn="l"/>
                      <a:r>
                        <a:rPr sz="1400" b="0">
                          <a:solidFill>
                            <a:srgbClr val="163047"/>
                          </a:solidFill>
                          <a:latin typeface="Arial"/>
                          <a:ea typeface="Arial"/>
                          <a:cs typeface="Arial"/>
                        </a:rPr>
                        <a:t>PINN-lai</a:t>
                      </a:r>
                    </a:p>
                  </a:txBody>
                  <a:tcPr marL="91440" marR="91440" marT="45720" marB="45720" anchor="ctr">
                    <a:solidFill>
                      <a:srgbClr val="EAF3F7"/>
                    </a:solidFill>
                  </a:tcPr>
                </a:tc>
                <a:tc>
                  <a:txBody>
                    <a:bodyPr/>
                    <a:lstStyle/>
                    <a:p>
                      <a:pPr algn="l"/>
                      <a:r>
                        <a:rPr sz="1400" b="1">
                          <a:solidFill>
                            <a:srgbClr val="0D6E56"/>
                          </a:solidFill>
                          <a:latin typeface="Arial"/>
                          <a:ea typeface="Arial"/>
                          <a:cs typeface="Arial"/>
                        </a:rPr>
                        <a:t>10,78</a:t>
                      </a:r>
                    </a:p>
                  </a:txBody>
                  <a:tcPr marL="91440" marR="91440" marT="45720" marB="45720" anchor="ctr">
                    <a:solidFill>
                      <a:srgbClr val="EAF3F7"/>
                    </a:solidFill>
                  </a:tcPr>
                </a:tc>
                <a:tc>
                  <a:txBody>
                    <a:bodyPr/>
                    <a:lstStyle/>
                    <a:p>
                      <a:pPr algn="l"/>
                      <a:r>
                        <a:rPr sz="1400" b="1">
                          <a:solidFill>
                            <a:srgbClr val="0D6E56"/>
                          </a:solidFill>
                          <a:latin typeface="Arial"/>
                          <a:ea typeface="Arial"/>
                          <a:cs typeface="Arial"/>
                        </a:rPr>
                        <a:t>0,875</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8,00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0,973</a:t>
                      </a:r>
                    </a:p>
                  </a:txBody>
                  <a:tcPr marL="91440" marR="91440" marT="45720" marB="45720" anchor="ctr">
                    <a:solidFill>
                      <a:srgbClr val="EAF3F7"/>
                    </a:solidFill>
                  </a:tcPr>
                </a:tc>
                <a:tc>
                  <a:txBody>
                    <a:bodyPr/>
                    <a:lstStyle/>
                    <a:p>
                      <a:pPr algn="l"/>
                      <a:r>
                        <a:rPr sz="1400" b="1">
                          <a:solidFill>
                            <a:srgbClr val="0D6E56"/>
                          </a:solidFill>
                          <a:latin typeface="Arial"/>
                          <a:ea typeface="Arial"/>
                          <a:cs typeface="Arial"/>
                        </a:rPr>
                        <a:t>1,75</a:t>
                      </a:r>
                    </a:p>
                  </a:txBody>
                  <a:tcPr marL="91440" marR="91440" marT="45720" marB="45720" anchor="ctr">
                    <a:solidFill>
                      <a:srgbClr val="EAF3F7"/>
                    </a:solidFill>
                  </a:tcPr>
                </a:tc>
                <a:tc>
                  <a:txBody>
                    <a:bodyPr/>
                    <a:lstStyle/>
                    <a:p>
                      <a:pPr algn="l"/>
                      <a:r>
                        <a:rPr sz="1400" b="1">
                          <a:solidFill>
                            <a:srgbClr val="0D6E56"/>
                          </a:solidFill>
                          <a:latin typeface="Arial"/>
                          <a:ea typeface="Arial"/>
                          <a:cs typeface="Arial"/>
                        </a:rPr>
                        <a:t>0,991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15,99</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0,901</a:t>
                      </a:r>
                    </a:p>
                  </a:txBody>
                  <a:tcPr marL="91440" marR="91440" marT="45720" marB="45720" anchor="ctr">
                    <a:solidFill>
                      <a:srgbClr val="EAF3F7"/>
                    </a:solidFill>
                  </a:tcPr>
                </a:tc>
              </a:tr>
              <a:tr h="429768">
                <a:tc>
                  <a:txBody>
                    <a:bodyPr/>
                    <a:lstStyle/>
                    <a:p>
                      <a:pPr algn="l"/>
                      <a:r>
                        <a:rPr sz="1400" b="0">
                          <a:solidFill>
                            <a:srgbClr val="163047"/>
                          </a:solidFill>
                          <a:latin typeface="Arial"/>
                          <a:ea typeface="Arial"/>
                          <a:cs typeface="Arial"/>
                        </a:rPr>
                        <a:t>Mô hình cuối</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10,78</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0,875</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7,78</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0,974</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1,75</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0,991</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15,34</a:t>
                      </a:r>
                    </a:p>
                  </a:txBody>
                  <a:tcPr marL="91440" marR="91440" marT="45720" marB="45720" anchor="ctr">
                    <a:solidFill>
                      <a:srgbClr val="FFFFFF"/>
                    </a:solidFill>
                  </a:tcPr>
                </a:tc>
                <a:tc>
                  <a:txBody>
                    <a:bodyPr/>
                    <a:lstStyle/>
                    <a:p>
                      <a:pPr algn="l"/>
                      <a:r>
                        <a:rPr sz="1400" b="1">
                          <a:solidFill>
                            <a:srgbClr val="0D6E56"/>
                          </a:solidFill>
                          <a:latin typeface="Arial"/>
                          <a:ea typeface="Arial"/>
                          <a:cs typeface="Arial"/>
                        </a:rPr>
                        <a:t>0,907</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EE2ABE15-3EEB-4EA0-9CA6-5CA037A62878}"/>
              </a:ext>
            </a:extLst>
          </p:cNvPr>
          <p:cNvSpPr>
            <a:spLocks noGrp="1"/>
          </p:cNvSpPr>
          <p:nvPr/>
        </p:nvSpPr>
        <p:spPr>
          <a:xfrm>
            <a:off x="621792" y="5440680"/>
            <a:ext cx="10881360" cy="822960"/>
          </a:xfrm>
          <a:prstGeom prst="rect">
            <a:avLst/>
          </a:prstGeom>
          <a:noFill/>
          <a:ln w="0">
            <a:noFill/>
          </a:ln>
        </p:spPr>
        <p:txBody>
          <a:bodyPr lIns="0" tIns="0" rIns="0" bIns="0" anchor="t">
            <a:noAutofit/>
          </a:bodyPr>
          <a:lstStyle/>
          <a:p>
            <a:pPr algn="l">
              <a:spcAft>
                <a:spcPts val="585"/>
              </a:spcAft>
              <a:defRPr sz="1300" b="0">
                <a:solidFill>
                  <a:srgbClr val="163047"/>
                </a:solidFill>
                <a:latin typeface="Arial"/>
                <a:ea typeface="Arial"/>
                <a:cs typeface="Arial"/>
              </a:defRPr>
            </a:pPr>
            <a:r>
              <a:rPr sz="1300" b="0">
                <a:solidFill>
                  <a:srgbClr val="163047"/>
                </a:solidFill>
                <a:latin typeface="Arial"/>
                <a:ea typeface="Arial"/>
                <a:cs typeface="Arial"/>
              </a:rPr>
              <a:t>MAE theo cell (×10⁻³, thấp hơn là tốt hơn) và R² (gộp 5 fold của một lần lặp, bỏ 10 chu kỳ đầu mỗi cell); 3 lần lặp × 5 fold, cùng fold và cell có nhãn. Màu xanh: tốt nhất mỗi cột.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Quỹ đạo dự đoán và tác động của vật lý</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11</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43000"/>
            <a:ext cx="5120640" cy="5074920"/>
          </a:xfrm>
          <a:prstGeom prst="rect">
            <a:avLst/>
          </a:prstGeom>
          <a:solidFill>
            <a:srgbClr val="FFFFFF"/>
          </a:solidFill>
          <a:ln w="9525">
            <a:solidFill>
              <a:srgbClr val="A7BAC7"/>
            </a:solidFill>
          </a:ln>
        </p:spPr>
        <p:txBody>
          <a:bodyPr/>
          <a:p/>
        </p:txBody>
      </p:sp>
      <p:pic>
        <p:nvPicPr>
          <p:cNvPr id="16" name="Picture 15" descr="fig_pred_traj.png"/>
          <p:cNvPicPr>
            <a:picLocks noChangeAspect="1"/>
          </p:cNvPicPr>
          <p:nvPr/>
        </p:nvPicPr>
        <p:blipFill>
          <a:blip r:embed="rId3"/>
          <a:stretch>
            <a:fillRect/>
          </a:stretch>
        </p:blipFill>
        <p:spPr>
          <a:xfrm>
            <a:off x="797928" y="1252728"/>
            <a:ext cx="4567198" cy="4855464"/>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5989320" y="1325880"/>
            <a:ext cx="566928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Tính đơn điệu</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5989320" y="1709928"/>
            <a:ext cx="566928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Ở 30 % nhãn, dự đoán của MLP tăng ngược ở 13,6–31,1 % số cặp chu kỳ, của PINN-semi chỉ 3,0–12,0 % (nhãn thật 0,1–7,7 %).</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5989320" y="2607183"/>
            <a:ext cx="566928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Lợi ích đến từ đâu</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5989320" y="2991231"/>
            <a:ext cx="566928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Ở 10 % nhãn, 50–64 % mức giảm sai số đến từ loss vật lý trên cell không nhãn; ở 30 % nhãn, riêng ràng buộc đơn điệu mang lại 62–95 %.</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5989320" y="3888485"/>
            <a:ext cx="566928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Vật lý tác động qua đâu</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5989320" y="4272533"/>
            <a:ext cx="5669280" cy="54940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Chủ yếu qua ràng buộc dọc quỹ đạo; tốc độ r học được chưa phải tốc độ suy giảm thật của cell.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Mô hình kết hợp PINN-lai</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12</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1188720"/>
            <a:ext cx="10881360" cy="822960"/>
          </a:xfrm>
          <a:prstGeom prst="rect">
            <a:avLst/>
          </a:prstGeom>
          <a:noFill/>
          <a:ln w="0">
            <a:noFill/>
          </a:ln>
        </p:spPr>
        <p:txBody>
          <a:bodyPr lIns="0" tIns="0" rIns="0" bIns="0" anchor="t">
            <a:noAutofit/>
          </a:bodyPr>
          <a:lstStyle/>
          <a:p>
            <a:pPr algn="l">
              <a:spcAft>
                <a:spcPts val="720"/>
              </a:spcAft>
              <a:defRPr sz="1600" b="0">
                <a:solidFill>
                  <a:srgbClr val="163047"/>
                </a:solidFill>
                <a:latin typeface="Arial"/>
                <a:ea typeface="Arial"/>
                <a:cs typeface="Arial"/>
              </a:defRPr>
            </a:pPr>
            <a:r>
              <a:rPr sz="1600" b="0">
                <a:solidFill>
                  <a:srgbClr val="163047"/>
                </a:solidFill>
                <a:latin typeface="Arial"/>
                <a:ea typeface="Arial"/>
                <a:cs typeface="Arial"/>
              </a:rPr>
              <a:t>ŷ = ω · (trung bình 3 PINN-semi) + (1 − ω) · GBDT, rồi lọc xu thế nhân quả trên w chu kỳ gần nhất; ω và w chọn trên validation.</a:t>
            </a:r>
          </a:p>
        </p:txBody>
      </p:sp>
      <p:sp>
        <p:nvSpPr>
          <p:cNvPr id="5" name="">
            <a:extLst>
              <a:ext uri="{FF2B5EF4-FFF2-40B4-BE49-F238E27FC236}">
                <a16:creationId xmlns:a16="http://schemas.microsoft.com/office/drawing/2014/main" id="{61ADA485-A3D9-4801-AF20-EEDA600A294B}"/>
              </a:ext>
            </a:extLst>
          </p:cNvPr>
          <p:cNvSpPr>
            <a:spLocks noGrp="1"/>
          </p:cNvSpPr>
          <p:nvPr/>
        </p:nvSpPr>
        <p:spPr>
          <a:xfrm>
            <a:off x="521207" y="1965960"/>
            <a:ext cx="11146536" cy="3429000"/>
          </a:xfrm>
          <a:prstGeom prst="rect">
            <a:avLst/>
          </a:prstGeom>
          <a:solidFill>
            <a:srgbClr val="FFFFFF"/>
          </a:solidFill>
          <a:ln w="9525">
            <a:solidFill>
              <a:srgbClr val="A7BAC7"/>
            </a:solidFill>
          </a:ln>
        </p:spPr>
        <p:txBody>
          <a:bodyPr/>
          <a:p/>
        </p:txBody>
      </p:sp>
      <p:pic>
        <p:nvPicPr>
          <p:cNvPr id="16" name="Picture 15" descr="fig_mono_example.png"/>
          <p:cNvPicPr>
            <a:picLocks noChangeAspect="1"/>
          </p:cNvPicPr>
          <p:nvPr/>
        </p:nvPicPr>
        <p:blipFill>
          <a:blip r:embed="rId3"/>
          <a:stretch>
            <a:fillRect/>
          </a:stretch>
        </p:blipFill>
        <p:spPr>
          <a:xfrm>
            <a:off x="2250665" y="2075688"/>
            <a:ext cx="7687622" cy="3209544"/>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04688"/>
            <a:ext cx="10607040" cy="86868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Sai số bằng 0,67–0,95 lần PINN-semi (16/16 trường hợp); thấp hơn GBDT ở 10/16 trường hợp, 8 có ý nghĩa</a:t>
            </a:r>
          </a:p>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Bộ lọc xu thế làm trơn nhưng không bảo đảm SOH không tăng; ép không tăng làm sai số trên XJTU tăng 1,8–1,9 lần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Đầu vào có lịch sử của cell</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13</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4206240"/>
          </a:xfrm>
          <a:prstGeom prst="rect">
            <a:avLst/>
          </a:prstGeom>
          <a:solidFill>
            <a:srgbClr val="FFFFFF"/>
          </a:solidFill>
          <a:ln w="9525">
            <a:solidFill>
              <a:srgbClr val="A7BAC7"/>
            </a:solidFill>
          </a:ln>
        </p:spPr>
        <p:txBody>
          <a:bodyPr/>
          <a:p/>
        </p:txBody>
      </p:sp>
      <p:pic>
        <p:nvPicPr>
          <p:cNvPr id="16" name="Picture 15" descr="fig_e29_lai.png"/>
          <p:cNvPicPr>
            <a:picLocks noChangeAspect="1"/>
          </p:cNvPicPr>
          <p:nvPr/>
        </p:nvPicPr>
        <p:blipFill>
          <a:blip r:embed="rId3"/>
          <a:stretch>
            <a:fillRect/>
          </a:stretch>
        </p:blipFill>
        <p:spPr>
          <a:xfrm>
            <a:off x="1081294" y="1298448"/>
            <a:ext cx="10026363" cy="3986783"/>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04688"/>
            <a:ext cx="10607040" cy="86868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Trung bình trượt nhân quả của đặc trưng sạc: trên TJU và HUST từ 30 % nhãn, sai số còn 0,89–0,97 lần; trên XJTU và ở 10 % nhãn thì không giúp</a:t>
            </a:r>
          </a:p>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Chọn dùng hay không dùng lịch sử trên validation: PINN-lai thấp hơn GBDT ở 16/16 trường hợp, 13 có ý nghĩa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So với PINN4SOH trên đúng cách chia của bài</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14</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43000"/>
            <a:ext cx="5989320" cy="5074920"/>
          </a:xfrm>
          <a:prstGeom prst="rect">
            <a:avLst/>
          </a:prstGeom>
          <a:solidFill>
            <a:srgbClr val="FFFFFF"/>
          </a:solidFill>
          <a:ln w="9525">
            <a:solidFill>
              <a:srgbClr val="A7BAC7"/>
            </a:solidFill>
          </a:ln>
        </p:spPr>
        <p:txBody>
          <a:bodyPr/>
          <a:p/>
        </p:txBody>
      </p:sp>
      <p:pic>
        <p:nvPicPr>
          <p:cNvPr id="16" name="Picture 15" descr="fig_e27_compare.png"/>
          <p:cNvPicPr>
            <a:picLocks noChangeAspect="1"/>
          </p:cNvPicPr>
          <p:nvPr/>
        </p:nvPicPr>
        <p:blipFill>
          <a:blip r:embed="rId3"/>
          <a:stretch>
            <a:fillRect/>
          </a:stretch>
        </p:blipFill>
        <p:spPr>
          <a:xfrm>
            <a:off x="630936" y="1340289"/>
            <a:ext cx="5769864" cy="4680341"/>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6812280" y="1325880"/>
            <a:ext cx="48463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Tiền xử lý không rò rỉ</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812280" y="1709928"/>
            <a:ext cx="484632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PINN-lai bằng 0,23–0,63 lần số công bố trên TJU và MIT, ngang trên XJTU (0,99), kém trên HUST (1,65).</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12280" y="2607183"/>
            <a:ext cx="48463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Cùng tiền xử lý với bài</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812280" y="2991231"/>
            <a:ext cx="484632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0,84–1,10 lần ở chế độ đầy đủ, 0,33–0,94 lần ở chế độ ít mẫu, nhờ cell không nhãn đi vào loss vật lý.</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812280" y="3888485"/>
            <a:ext cx="48463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Vì sao HUST kém</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812280" y="4272533"/>
            <a:ext cx="4846320" cy="54940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Chỉ số chu kỳ chuẩn hoá theo từng cell cho mô hình của bài biết phần đời đã qua.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Dự báo SOH tương lai, dung lượng và RUL</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15</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43000"/>
            <a:ext cx="6629400" cy="5074920"/>
          </a:xfrm>
          <a:prstGeom prst="rect">
            <a:avLst/>
          </a:prstGeom>
          <a:solidFill>
            <a:srgbClr val="FFFFFF"/>
          </a:solidFill>
          <a:ln w="9525">
            <a:solidFill>
              <a:srgbClr val="A7BAC7"/>
            </a:solidFill>
          </a:ln>
        </p:spPr>
        <p:txBody>
          <a:bodyPr/>
          <a:p/>
        </p:txBody>
      </p:sp>
      <p:pic>
        <p:nvPicPr>
          <p:cNvPr id="16" name="Picture 15" descr="fig_e22_traj.png"/>
          <p:cNvPicPr>
            <a:picLocks noChangeAspect="1"/>
          </p:cNvPicPr>
          <p:nvPr/>
        </p:nvPicPr>
        <p:blipFill>
          <a:blip r:embed="rId3"/>
          <a:stretch>
            <a:fillRect/>
          </a:stretch>
        </p:blipFill>
        <p:spPr>
          <a:xfrm>
            <a:off x="630936" y="1323677"/>
            <a:ext cx="6409943" cy="4713566"/>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7406640" y="1325880"/>
            <a:ext cx="425196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PINN-dự báo</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406640" y="1709928"/>
            <a:ext cx="425196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Mạng trả tham số của nghiệm đóng của động học xám, kết hợp với GBDT, kèm khoảng dự báo 90 %.</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406640" y="2607183"/>
            <a:ext cx="425196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Khi cell không được đo</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406640" y="2991231"/>
            <a:ext cx="425196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MAE của SOH trên toàn bộ phần đời còn lại 11,6–27,0 (×10⁻³), bằng 0,21–0,60 lần các mô hình ngoại suy theo từng cell.</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406640" y="3888485"/>
            <a:ext cx="425196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RUL</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406640" y="4272533"/>
            <a:ext cx="425196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GBDT không ngoại suy được ngoài tầm đã học nên sai số RUL gấp 1,1–1,5 lần; khoảng 90 % chỉ phủ 78–84 %.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Bộ NASA: dữ liệu và hồi phục sau khoảng nghỉ</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16</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4297680"/>
          </a:xfrm>
          <a:prstGeom prst="rect">
            <a:avLst/>
          </a:prstGeom>
          <a:solidFill>
            <a:srgbClr val="FFFFFF"/>
          </a:solidFill>
          <a:ln w="9525">
            <a:solidFill>
              <a:srgbClr val="A7BAC7"/>
            </a:solidFill>
          </a:ln>
        </p:spPr>
        <p:txBody>
          <a:bodyPr/>
          <a:p/>
        </p:txBody>
      </p:sp>
      <p:pic>
        <p:nvPicPr>
          <p:cNvPr id="16" name="Picture 15" descr="fig_nasa_data.png"/>
          <p:cNvPicPr>
            <a:picLocks noChangeAspect="1"/>
          </p:cNvPicPr>
          <p:nvPr/>
        </p:nvPicPr>
        <p:blipFill>
          <a:blip r:embed="rId3"/>
          <a:stretch>
            <a:fillRect/>
          </a:stretch>
        </p:blipFill>
        <p:spPr>
          <a:xfrm>
            <a:off x="1609020" y="1298448"/>
            <a:ext cx="8970912" cy="4078224"/>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77840"/>
            <a:ext cx="10607040" cy="77724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18 cell NCA 2,0 Ah ở 4, 24 và 43 °C, sáu nhóm giao thức; SOH sau khoảng nghỉ dưới 10 giờ giảm trung vị 0,27 %, sau 10–24 giờ tăng 0,40 %, từ 24 giờ trở lên tăng 1,36 %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Bộ NASA: so với SambaMixer</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17</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4297680"/>
          </a:xfrm>
          <a:prstGeom prst="rect">
            <a:avLst/>
          </a:prstGeom>
          <a:solidFill>
            <a:srgbClr val="FFFFFF"/>
          </a:solidFill>
          <a:ln w="9525">
            <a:solidFill>
              <a:srgbClr val="A7BAC7"/>
            </a:solidFill>
          </a:ln>
        </p:spPr>
        <p:txBody>
          <a:bodyPr/>
          <a:p/>
        </p:txBody>
      </p:sp>
      <p:pic>
        <p:nvPicPr>
          <p:cNvPr id="16" name="Picture 15" descr="fig_nasa_compare.png"/>
          <p:cNvPicPr>
            <a:picLocks noChangeAspect="1"/>
          </p:cNvPicPr>
          <p:nvPr/>
        </p:nvPicPr>
        <p:blipFill>
          <a:blip r:embed="rId3"/>
          <a:stretch>
            <a:fillRect/>
          </a:stretch>
        </p:blipFill>
        <p:spPr>
          <a:xfrm>
            <a:off x="1609020" y="1298448"/>
            <a:ext cx="8970912" cy="4078224"/>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77840"/>
            <a:ext cx="10607040" cy="77724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Kiểm định chéo: PINN-lai thấp nhất (6,17 % và 5,13 % SOH ở 30 và 70 % nhãn). Cách chia NASA-L: PINN-lai 4,12 %, SambaMixer công bố 0,96 % vì nó nhận đường xả của chính chu kỳ cần ước lượng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Bộ NASA: quỹ đạo trên ba cell đánh giá</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18</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4297680"/>
          </a:xfrm>
          <a:prstGeom prst="rect">
            <a:avLst/>
          </a:prstGeom>
          <a:solidFill>
            <a:srgbClr val="FFFFFF"/>
          </a:solidFill>
          <a:ln w="9525">
            <a:solidFill>
              <a:srgbClr val="A7BAC7"/>
            </a:solidFill>
          </a:ln>
        </p:spPr>
        <p:txBody>
          <a:bodyPr/>
          <a:p/>
        </p:txBody>
      </p:sp>
      <p:pic>
        <p:nvPicPr>
          <p:cNvPr id="16" name="Picture 15" descr="fig_nasa_traj.png"/>
          <p:cNvPicPr>
            <a:picLocks noChangeAspect="1"/>
          </p:cNvPicPr>
          <p:nvPr/>
        </p:nvPicPr>
        <p:blipFill>
          <a:blip r:embed="rId3"/>
          <a:stretch>
            <a:fillRect/>
          </a:stretch>
        </p:blipFill>
        <p:spPr>
          <a:xfrm>
            <a:off x="1071056" y="1298448"/>
            <a:ext cx="10046840" cy="4078224"/>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77840"/>
            <a:ext cx="10607040" cy="77724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B0006 sai nhiều nhất: bắt đầu ở 101 % SOH trong khi cell train cùng nhóm quanh 92 %, 75–84 % số chu kỳ nằm ngoài miền đặc trưng của cell train. Thêm giờ nghỉ làm đặc trưng không giúp (tỉ số 1,02 và 0,98)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NASA-L: thêm thông tin để so với SambaMixer</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19</a:t>
            </a:r>
          </a:p>
        </p:txBody>
      </p:sp>
      <p:pic>
        <p:nvPicPr>
          <p:cNvPr id="15"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0352" y="1280160"/>
          <a:ext cx="6949440" cy="2514600"/>
        </p:xfrm>
        <a:graphic>
          <a:graphicData uri="http://schemas.openxmlformats.org/drawingml/2006/table">
            <a:tbl>
              <a:tblPr/>
              <a:tblGrid>
                <a:gridCol w="2468880"/>
                <a:gridCol w="822960"/>
                <a:gridCol w="822960"/>
                <a:gridCol w="822960"/>
                <a:gridCol w="868680"/>
                <a:gridCol w="1143000"/>
              </a:tblGrid>
              <a:tr h="502920">
                <a:tc>
                  <a:txBody>
                    <a:bodyPr/>
                    <a:lstStyle/>
                    <a:p>
                      <a:pPr algn="l"/>
                      <a:r>
                        <a:rPr sz="1300" b="1">
                          <a:solidFill>
                            <a:srgbClr val="FFFFFF"/>
                          </a:solidFill>
                          <a:latin typeface="Arial"/>
                          <a:ea typeface="Arial"/>
                          <a:cs typeface="Arial"/>
                        </a:rPr>
                        <a:t>Cách ước lượng</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Không đo</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Mỗi 0,2L</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Mỗi 0,1L</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Mỗi 0,05L</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Mọi lần xả trước</a:t>
                      </a:r>
                    </a:p>
                  </a:txBody>
                  <a:tcPr marL="91440" marR="91440" marT="45720" marB="45720" anchor="ctr">
                    <a:solidFill>
                      <a:srgbClr val="20567B"/>
                    </a:solidFill>
                  </a:tcPr>
                </a:tc>
              </a:tr>
              <a:tr h="502920">
                <a:tc>
                  <a:txBody>
                    <a:bodyPr/>
                    <a:lstStyle/>
                    <a:p>
                      <a:pPr algn="l"/>
                      <a:r>
                        <a:rPr sz="1300" b="0">
                          <a:solidFill>
                            <a:srgbClr val="163047"/>
                          </a:solidFill>
                          <a:latin typeface="Arial"/>
                          <a:ea typeface="Arial"/>
                          <a:cs typeface="Arial"/>
                        </a:rPr>
                        <a:t>PINN-lai + Kalman</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2,54</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1,89</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1,58</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1,08</a:t>
                      </a:r>
                    </a:p>
                  </a:txBody>
                  <a:tcPr marL="91440" marR="91440" marT="45720" marB="45720" anchor="ctr">
                    <a:solidFill>
                      <a:srgbClr val="EAF3F7"/>
                    </a:solidFill>
                  </a:tcPr>
                </a:tc>
                <a:tc>
                  <a:txBody>
                    <a:bodyPr/>
                    <a:lstStyle/>
                    <a:p>
                      <a:pPr algn="l"/>
                      <a:r>
                        <a:rPr sz="1300" b="1">
                          <a:solidFill>
                            <a:srgbClr val="0D6E56"/>
                          </a:solidFill>
                          <a:latin typeface="Arial"/>
                          <a:ea typeface="Arial"/>
                          <a:cs typeface="Arial"/>
                        </a:rPr>
                        <a:t>0,80</a:t>
                      </a:r>
                    </a:p>
                  </a:txBody>
                  <a:tcPr marL="91440" marR="91440" marT="45720" marB="45720" anchor="ctr">
                    <a:solidFill>
                      <a:srgbClr val="EAF3F7"/>
                    </a:solidFill>
                  </a:tcPr>
                </a:tc>
              </a:tr>
              <a:tr h="502920">
                <a:tc>
                  <a:txBody>
                    <a:bodyPr/>
                    <a:lstStyle/>
                    <a:p>
                      <a:pPr algn="l"/>
                      <a:r>
                        <a:rPr sz="1300" b="0">
                          <a:solidFill>
                            <a:srgbClr val="163047"/>
                          </a:solidFill>
                          <a:latin typeface="Arial"/>
                          <a:ea typeface="Arial"/>
                          <a:cs typeface="Arial"/>
                        </a:rPr>
                        <a:t>PINN-lai + Kalman, κ (hậu kiểm)</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1,64</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1,32</a:t>
                      </a:r>
                    </a:p>
                  </a:txBody>
                  <a:tcPr marL="91440" marR="91440" marT="45720" marB="45720" anchor="ctr">
                    <a:solidFill>
                      <a:srgbClr val="FFFFFF"/>
                    </a:solidFill>
                  </a:tcPr>
                </a:tc>
                <a:tc>
                  <a:txBody>
                    <a:bodyPr/>
                    <a:lstStyle/>
                    <a:p>
                      <a:pPr algn="l"/>
                      <a:r>
                        <a:rPr sz="1300" b="1">
                          <a:solidFill>
                            <a:srgbClr val="0D6E56"/>
                          </a:solidFill>
                          <a:latin typeface="Arial"/>
                          <a:ea typeface="Arial"/>
                          <a:cs typeface="Arial"/>
                        </a:rPr>
                        <a:t>0,82</a:t>
                      </a:r>
                    </a:p>
                  </a:txBody>
                  <a:tcPr marL="91440" marR="91440" marT="45720" marB="45720" anchor="ctr">
                    <a:solidFill>
                      <a:srgbClr val="FFFFFF"/>
                    </a:solidFill>
                  </a:tcPr>
                </a:tc>
                <a:tc>
                  <a:txBody>
                    <a:bodyPr/>
                    <a:lstStyle/>
                    <a:p>
                      <a:pPr algn="l"/>
                      <a:r>
                        <a:rPr sz="1300" b="1">
                          <a:solidFill>
                            <a:srgbClr val="0D6E56"/>
                          </a:solidFill>
                          <a:latin typeface="Arial"/>
                          <a:ea typeface="Arial"/>
                          <a:cs typeface="Arial"/>
                        </a:rPr>
                        <a:t>0,64</a:t>
                      </a:r>
                    </a:p>
                  </a:txBody>
                  <a:tcPr marL="91440" marR="91440" marT="45720" marB="45720" anchor="ctr">
                    <a:solidFill>
                      <a:srgbClr val="FFFFFF"/>
                    </a:solidFill>
                  </a:tcPr>
                </a:tc>
              </a:tr>
              <a:tr h="502920">
                <a:tc>
                  <a:txBody>
                    <a:bodyPr/>
                    <a:lstStyle/>
                    <a:p>
                      <a:pPr algn="l"/>
                      <a:r>
                        <a:rPr sz="1300" b="0">
                          <a:solidFill>
                            <a:srgbClr val="163047"/>
                          </a:solidFill>
                          <a:latin typeface="Arial"/>
                          <a:ea typeface="Arial"/>
                          <a:cs typeface="Arial"/>
                        </a:rPr>
                        <a:t>Gần nhất</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2,18</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1,57</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1,19</a:t>
                      </a:r>
                    </a:p>
                  </a:txBody>
                  <a:tcPr marL="91440" marR="91440" marT="45720" marB="45720" anchor="ctr">
                    <a:solidFill>
                      <a:srgbClr val="EAF3F7"/>
                    </a:solidFill>
                  </a:tcPr>
                </a:tc>
                <a:tc>
                  <a:txBody>
                    <a:bodyPr/>
                    <a:lstStyle/>
                    <a:p>
                      <a:pPr algn="l"/>
                      <a:r>
                        <a:rPr sz="1300" b="1">
                          <a:solidFill>
                            <a:srgbClr val="0D6E56"/>
                          </a:solidFill>
                          <a:latin typeface="Arial"/>
                          <a:ea typeface="Arial"/>
                          <a:cs typeface="Arial"/>
                        </a:rPr>
                        <a:t>0,75</a:t>
                      </a:r>
                    </a:p>
                  </a:txBody>
                  <a:tcPr marL="91440" marR="91440" marT="45720" marB="45720" anchor="ctr">
                    <a:solidFill>
                      <a:srgbClr val="EAF3F7"/>
                    </a:solidFill>
                  </a:tcPr>
                </a:tc>
              </a:tr>
              <a:tr h="502920">
                <a:tc>
                  <a:txBody>
                    <a:bodyPr/>
                    <a:lstStyle/>
                    <a:p>
                      <a:pPr algn="l"/>
                      <a:r>
                        <a:rPr sz="1300" b="0">
                          <a:solidFill>
                            <a:srgbClr val="163047"/>
                          </a:solidFill>
                          <a:latin typeface="Arial"/>
                          <a:ea typeface="Arial"/>
                          <a:cs typeface="Arial"/>
                        </a:rPr>
                        <a:t>Giữ nguyên (không mô hình)</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2,54</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1,48</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0,99</a:t>
                      </a:r>
                    </a:p>
                  </a:txBody>
                  <a:tcPr marL="91440" marR="91440" marT="45720" marB="45720" anchor="ctr">
                    <a:solidFill>
                      <a:srgbClr val="FFFFFF"/>
                    </a:solidFill>
                  </a:tcPr>
                </a:tc>
                <a:tc>
                  <a:txBody>
                    <a:bodyPr/>
                    <a:lstStyle/>
                    <a:p>
                      <a:pPr algn="l"/>
                      <a:r>
                        <a:rPr sz="1300" b="1">
                          <a:solidFill>
                            <a:srgbClr val="0D6E56"/>
                          </a:solidFill>
                          <a:latin typeface="Arial"/>
                          <a:ea typeface="Arial"/>
                          <a:cs typeface="Arial"/>
                        </a:rPr>
                        <a:t>0,60</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EE2ABE15-3EEB-4EA0-9CA6-5CA037A62878}"/>
              </a:ext>
            </a:extLst>
          </p:cNvPr>
          <p:cNvSpPr>
            <a:spLocks noGrp="1"/>
          </p:cNvSpPr>
          <p:nvPr/>
        </p:nvSpPr>
        <p:spPr>
          <a:xfrm>
            <a:off x="621792" y="3977639"/>
            <a:ext cx="6766560" cy="1280160"/>
          </a:xfrm>
          <a:prstGeom prst="rect">
            <a:avLst/>
          </a:prstGeom>
          <a:noFill/>
          <a:ln w="0">
            <a:noFill/>
          </a:ln>
        </p:spPr>
        <p:txBody>
          <a:bodyPr lIns="0" tIns="0" rIns="0" bIns="0" anchor="t">
            <a:noAutofit/>
          </a:bodyPr>
          <a:lstStyle/>
          <a:p>
            <a:pPr algn="l">
              <a:spcAft>
                <a:spcPts val="585"/>
              </a:spcAft>
              <a:defRPr sz="1300" b="0">
                <a:solidFill>
                  <a:srgbClr val="163047"/>
                </a:solidFill>
                <a:latin typeface="Arial"/>
                <a:ea typeface="Arial"/>
                <a:cs typeface="Arial"/>
              </a:defRPr>
            </a:pPr>
            <a:r>
              <a:rPr sz="1300" b="0">
                <a:solidFill>
                  <a:srgbClr val="163047"/>
                </a:solidFill>
                <a:latin typeface="Arial"/>
                <a:ea typeface="Arial"/>
                <a:cs typeface="Arial"/>
              </a:rPr>
              <a:t>MAE trung bình ba cell đánh giá (% SOH), 24 cột đầu vào, 3 hạt giống; ở mức đo thưa, sai số tính trên các chu kỳ không được đo. Màu xanh: thấp hơn 0,96 % của SambaMixer.</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818120" y="1280160"/>
            <a:ext cx="3840480" cy="329184"/>
          </a:xfrm>
          <a:prstGeom prst="rect">
            <a:avLst/>
          </a:prstGeom>
          <a:noFill/>
          <a:ln w="0">
            <a:noFill/>
          </a:ln>
        </p:spPr>
        <p:txBody>
          <a:bodyPr lIns="0" tIns="0" rIns="0" bIns="0" anchor="ctr">
            <a:noAutofit/>
          </a:bodyPr>
          <a:lstStyle/>
          <a:p>
            <a:pPr algn="l">
              <a:defRPr sz="1600" b="1">
                <a:solidFill>
                  <a:srgbClr val="20567B"/>
                </a:solidFill>
                <a:latin typeface="Arial"/>
                <a:ea typeface="Arial"/>
                <a:cs typeface="Arial"/>
              </a:defRPr>
            </a:pPr>
            <a:r>
              <a:rPr sz="1600" b="1">
                <a:solidFill>
                  <a:srgbClr val="20567B"/>
                </a:solidFill>
                <a:latin typeface="Arial"/>
                <a:ea typeface="Arial"/>
                <a:cs typeface="Arial"/>
              </a:rPr>
              <a:t>Không đo cell</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818120" y="1664207"/>
            <a:ext cx="3840480" cy="962152"/>
          </a:xfrm>
          <a:prstGeom prst="rect">
            <a:avLst/>
          </a:prstGeom>
          <a:noFill/>
          <a:ln w="0">
            <a:noFill/>
          </a:ln>
        </p:spPr>
        <p:txBody>
          <a:bodyPr lIns="0" tIns="0" rIns="0" bIns="0" anchor="t">
            <a:noAutofit/>
          </a:bodyPr>
          <a:lstStyle/>
          <a:p>
            <a:pPr algn="l">
              <a:spcAft>
                <a:spcPts val="630"/>
              </a:spcAft>
              <a:defRPr sz="1400" b="0">
                <a:solidFill>
                  <a:srgbClr val="163047"/>
                </a:solidFill>
                <a:latin typeface="Arial"/>
                <a:ea typeface="Arial"/>
                <a:cs typeface="Arial"/>
              </a:defRPr>
            </a:pPr>
            <a:r>
              <a:rPr sz="1400" b="0">
                <a:solidFill>
                  <a:srgbClr val="163047"/>
                </a:solidFill>
                <a:latin typeface="Arial"/>
                <a:ea typeface="Arial"/>
                <a:cs typeface="Arial"/>
              </a:rPr>
              <a:t>Thêm 7 đặc trưng của cả lần sạc: PINN-lai 4,12 → 2,52 %, LSTM 2,16 %, vẫn gấp 2,2 lần SambaMixer (0,96 %, dùng chính lần xả).</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818120" y="2736087"/>
            <a:ext cx="3840480" cy="329184"/>
          </a:xfrm>
          <a:prstGeom prst="rect">
            <a:avLst/>
          </a:prstGeom>
          <a:noFill/>
          <a:ln w="0">
            <a:noFill/>
          </a:ln>
        </p:spPr>
        <p:txBody>
          <a:bodyPr lIns="0" tIns="0" rIns="0" bIns="0" anchor="ctr">
            <a:noAutofit/>
          </a:bodyPr>
          <a:lstStyle/>
          <a:p>
            <a:pPr algn="l">
              <a:defRPr sz="1600" b="1">
                <a:solidFill>
                  <a:srgbClr val="20567B"/>
                </a:solidFill>
                <a:latin typeface="Arial"/>
                <a:ea typeface="Arial"/>
                <a:cs typeface="Arial"/>
              </a:defRPr>
            </a:pPr>
            <a:r>
              <a:rPr sz="1600" b="1">
                <a:solidFill>
                  <a:srgbClr val="20567B"/>
                </a:solidFill>
                <a:latin typeface="Arial"/>
                <a:ea typeface="Arial"/>
                <a:cs typeface="Arial"/>
              </a:rPr>
              <a:t>Đo thêm cell</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818120" y="3120135"/>
            <a:ext cx="3840480" cy="1184402"/>
          </a:xfrm>
          <a:prstGeom prst="rect">
            <a:avLst/>
          </a:prstGeom>
          <a:noFill/>
          <a:ln w="0">
            <a:noFill/>
          </a:ln>
        </p:spPr>
        <p:txBody>
          <a:bodyPr lIns="0" tIns="0" rIns="0" bIns="0" anchor="t">
            <a:noAutofit/>
          </a:bodyPr>
          <a:lstStyle/>
          <a:p>
            <a:pPr algn="l">
              <a:spcAft>
                <a:spcPts val="630"/>
              </a:spcAft>
              <a:defRPr sz="1400" b="0">
                <a:solidFill>
                  <a:srgbClr val="163047"/>
                </a:solidFill>
                <a:latin typeface="Arial"/>
                <a:ea typeface="Arial"/>
                <a:cs typeface="Arial"/>
              </a:defRPr>
            </a:pPr>
            <a:r>
              <a:rPr sz="1400" b="0">
                <a:solidFill>
                  <a:srgbClr val="163047"/>
                </a:solidFill>
                <a:latin typeface="Arial"/>
                <a:ea typeface="Arial"/>
                <a:cs typeface="Arial"/>
              </a:rPr>
              <a:t>Bộ lọc Kalman chỉ thấp hơn SambaMixer khi biết mọi lần xả trước (0,80 %); giữ nguyên lần đo trước cũng đạt 0,60 %. Biến thể κ: 0,82 % khi đo mỗi 0,05L, chưa lặp lại trên kiểm định chéo.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Kiểm tra lại trên mọi bộ: sai số theo lượng thông tin đo được</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20</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88720"/>
            <a:ext cx="11146536" cy="4297680"/>
          </a:xfrm>
          <a:prstGeom prst="rect">
            <a:avLst/>
          </a:prstGeom>
          <a:solidFill>
            <a:srgbClr val="FFFFFF"/>
          </a:solidFill>
          <a:ln w="9525">
            <a:solidFill>
              <a:srgbClr val="A7BAC7"/>
            </a:solidFill>
          </a:ln>
        </p:spPr>
        <p:txBody>
          <a:bodyPr/>
          <a:p/>
        </p:txBody>
      </p:sp>
      <p:pic>
        <p:nvPicPr>
          <p:cNvPr id="16" name="Picture 15" descr="fig_e31_tiers.png"/>
          <p:cNvPicPr>
            <a:picLocks noChangeAspect="1"/>
          </p:cNvPicPr>
          <p:nvPr/>
        </p:nvPicPr>
        <p:blipFill>
          <a:blip r:embed="rId3"/>
          <a:stretch>
            <a:fillRect/>
          </a:stretch>
        </p:blipFill>
        <p:spPr>
          <a:xfrm>
            <a:off x="2626165" y="1298448"/>
            <a:ext cx="6936622" cy="4078223"/>
          </a:xfrm>
          <a:prstGeom prst="rect">
            <a:avLst/>
          </a:prstGeom>
        </p:spPr>
      </p:pic>
      <p:sp>
        <p:nvSpPr>
          <p:cNvPr id="6" name="">
            <a:extLst>
              <a:ext uri="{FF2B5EF4-FFF2-40B4-BE49-F238E27FC236}">
                <a16:creationId xmlns:a16="http://schemas.microsoft.com/office/drawing/2014/main" id="{EE2ABE15-3EEB-4EA0-9CA6-5CA037A62878}"/>
              </a:ext>
            </a:extLst>
          </p:cNvPr>
          <p:cNvSpPr>
            <a:spLocks noGrp="1"/>
          </p:cNvSpPr>
          <p:nvPr/>
        </p:nvSpPr>
        <p:spPr>
          <a:xfrm>
            <a:off x="621792" y="5577840"/>
            <a:ext cx="10607040" cy="777240"/>
          </a:xfrm>
          <a:prstGeom prst="rect">
            <a:avLst/>
          </a:prstGeom>
          <a:noFill/>
          <a:ln w="0">
            <a:noFill/>
          </a:ln>
        </p:spPr>
        <p:txBody>
          <a:bodyPr lIns="0" tIns="0" rIns="0" bIns="0" anchor="t">
            <a:noAutofit/>
          </a:bodyPr>
          <a:lstStyle/>
          <a:p>
            <a:pPr algn="l" marL="246888" indent="-246888">
              <a:spcAft>
                <a:spcPts val="630"/>
              </a:spcAft>
              <a:buFont typeface="Arial"/>
              <a:buChar char="•"/>
              <a:defRPr sz="1400" b="0">
                <a:solidFill>
                  <a:srgbClr val="163047"/>
                </a:solidFill>
                <a:latin typeface="Arial"/>
                <a:ea typeface="Arial"/>
                <a:cs typeface="Arial"/>
              </a:defRPr>
            </a:pPr>
            <a:r>
              <a:rPr sz="1400" b="0">
                <a:solidFill>
                  <a:srgbClr val="163047"/>
                </a:solidFill>
                <a:latin typeface="Arial"/>
                <a:ea typeface="Arial"/>
                <a:cs typeface="Arial"/>
              </a:rPr>
              <a:t>Đo thưa: bộ lọc thấp hơn không đo ở 46/48 và thấp hơn giữ nguyên ở 48/48 trường hợp bộ × mức nhãn × lịch đo. Biết mọi lần xả trước: giữ nguyên thấp nhất ở 23/25 trường hợp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Ngân sách đo dung lượng</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21</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61ADA485-A3D9-4801-AF20-EEDA600A294B}"/>
              </a:ext>
            </a:extLst>
          </p:cNvPr>
          <p:cNvSpPr>
            <a:spLocks noGrp="1"/>
          </p:cNvSpPr>
          <p:nvPr/>
        </p:nvSpPr>
        <p:spPr>
          <a:xfrm>
            <a:off x="521207" y="1143000"/>
            <a:ext cx="6949440" cy="5074920"/>
          </a:xfrm>
          <a:prstGeom prst="rect">
            <a:avLst/>
          </a:prstGeom>
          <a:solidFill>
            <a:srgbClr val="FFFFFF"/>
          </a:solidFill>
          <a:ln w="9525">
            <a:solidFill>
              <a:srgbClr val="A7BAC7"/>
            </a:solidFill>
          </a:ln>
        </p:spPr>
        <p:txBody>
          <a:bodyPr/>
          <a:p/>
        </p:txBody>
      </p:sp>
      <p:pic>
        <p:nvPicPr>
          <p:cNvPr id="16" name="Picture 15" descr="fig_e28_budget.png"/>
          <p:cNvPicPr>
            <a:picLocks noChangeAspect="1"/>
          </p:cNvPicPr>
          <p:nvPr/>
        </p:nvPicPr>
        <p:blipFill>
          <a:blip r:embed="rId3"/>
          <a:stretch>
            <a:fillRect/>
          </a:stretch>
        </p:blipFill>
        <p:spPr>
          <a:xfrm>
            <a:off x="630936" y="1261388"/>
            <a:ext cx="6729982" cy="4838144"/>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7726679" y="1325880"/>
            <a:ext cx="39319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Đo thưa mọi cell</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726679" y="1709928"/>
            <a:ext cx="3931920" cy="1025652"/>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Chỉ đo 1,2–6,0 % số chu kỳ, PINN-lai có sai số bằng 0,85–0,93 lần gắn nhãn đầy đủ cho 30 % số cell và 0,97–1,05 lần khi gắn cho 70 %.</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7726679" y="2845307"/>
            <a:ext cx="3931920" cy="329184"/>
          </a:xfrm>
          <a:prstGeom prst="rect">
            <a:avLst/>
          </a:prstGeom>
          <a:noFill/>
          <a:ln w="0">
            <a:noFill/>
          </a:ln>
        </p:spPr>
        <p:txBody>
          <a:bodyPr lIns="0" tIns="0" rIns="0" bIns="0" anchor="ctr">
            <a:noAutofit/>
          </a:bodyPr>
          <a:lstStyle/>
          <a:p>
            <a:pPr algn="l">
              <a:defRPr sz="1700" b="1">
                <a:solidFill>
                  <a:srgbClr val="20567B"/>
                </a:solidFill>
                <a:latin typeface="Arial"/>
                <a:ea typeface="Arial"/>
                <a:cs typeface="Arial"/>
              </a:defRPr>
            </a:pPr>
            <a:r>
              <a:rPr sz="1700" b="1">
                <a:solidFill>
                  <a:srgbClr val="20567B"/>
                </a:solidFill>
                <a:latin typeface="Arial"/>
                <a:ea typeface="Arial"/>
                <a:cs typeface="Arial"/>
              </a:rPr>
              <a:t>Đo cả cell mới</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7726679" y="3229355"/>
            <a:ext cx="3931920" cy="787527"/>
          </a:xfrm>
          <a:prstGeom prst="rect">
            <a:avLst/>
          </a:prstGeom>
          <a:noFill/>
          <a:ln w="0">
            <a:noFill/>
          </a:ln>
        </p:spPr>
        <p:txBody>
          <a:bodyPr lIns="0" tIns="0" rIns="0" bIns="0" anchor="t">
            <a:noAutofit/>
          </a:bodyPr>
          <a:lstStyle/>
          <a:p>
            <a:pPr algn="l">
              <a:spcAft>
                <a:spcPts val="675"/>
              </a:spcAft>
              <a:defRPr sz="1500" b="0">
                <a:solidFill>
                  <a:srgbClr val="163047"/>
                </a:solidFill>
                <a:latin typeface="Arial"/>
                <a:ea typeface="Arial"/>
                <a:cs typeface="Arial"/>
              </a:defRPr>
            </a:pPr>
            <a:r>
              <a:rPr sz="1500" b="0">
                <a:solidFill>
                  <a:srgbClr val="163047"/>
                </a:solidFill>
                <a:latin typeface="Arial"/>
                <a:ea typeface="Arial"/>
                <a:cs typeface="Arial"/>
              </a:rPr>
              <a:t>Cập nhật bằng bộ lọc Kalman, sai số còn 0,34–0,77 lần GBDT học với 70 % cell có nhãn.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Đối chiếu với đề cương (giai đoạn 1)</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22</a:t>
            </a:r>
          </a:p>
        </p:txBody>
      </p:sp>
      <p:pic>
        <p:nvPicPr>
          <p:cNvPr id="15"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0352" y="1280160"/>
          <a:ext cx="11128248" cy="4389120"/>
        </p:xfrm>
        <a:graphic>
          <a:graphicData uri="http://schemas.openxmlformats.org/drawingml/2006/table">
            <a:tbl>
              <a:tblPr/>
              <a:tblGrid>
                <a:gridCol w="4206240"/>
                <a:gridCol w="6922008"/>
              </a:tblGrid>
              <a:tr h="548640">
                <a:tc>
                  <a:txBody>
                    <a:bodyPr/>
                    <a:lstStyle/>
                    <a:p>
                      <a:pPr algn="l"/>
                      <a:r>
                        <a:rPr sz="1400" b="1">
                          <a:solidFill>
                            <a:srgbClr val="FFFFFF"/>
                          </a:solidFill>
                          <a:latin typeface="Arial"/>
                          <a:ea typeface="Arial"/>
                          <a:cs typeface="Arial"/>
                        </a:rPr>
                        <a:t>Mục tiêu, nhiệm vụ trong đề cương</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Đã thực hiện</a:t>
                      </a:r>
                    </a:p>
                  </a:txBody>
                  <a:tcPr marL="91440" marR="91440" marT="45720" marB="45720" anchor="ctr">
                    <a:solidFill>
                      <a:srgbClr val="20567B"/>
                    </a:solidFill>
                  </a:tcPr>
                </a:tc>
              </a:tr>
              <a:tr h="548640">
                <a:tc>
                  <a:txBody>
                    <a:bodyPr/>
                    <a:lstStyle/>
                    <a:p>
                      <a:pPr algn="l"/>
                      <a:r>
                        <a:rPr sz="1400" b="0">
                          <a:solidFill>
                            <a:srgbClr val="163047"/>
                          </a:solidFill>
                          <a:latin typeface="Arial"/>
                          <a:ea typeface="Arial"/>
                          <a:cs typeface="Arial"/>
                        </a:rPr>
                        <a:t>Kiến thức nền, ràng buộc hoá lý</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MLP, CNN, LSTM, Transformer, mã hoá vị trí, seq2seq; cơ chế suy giảm; PINN</a:t>
                      </a:r>
                    </a:p>
                  </a:txBody>
                  <a:tcPr marL="91440" marR="91440" marT="45720" marB="45720" anchor="ctr">
                    <a:solidFill>
                      <a:srgbClr val="EAF3F7"/>
                    </a:solidFill>
                  </a:tcPr>
                </a:tc>
              </a:tr>
              <a:tr h="548640">
                <a:tc>
                  <a:txBody>
                    <a:bodyPr/>
                    <a:lstStyle/>
                    <a:p>
                      <a:pPr algn="l"/>
                      <a:r>
                        <a:rPr sz="1400" b="0">
                          <a:solidFill>
                            <a:srgbClr val="163047"/>
                          </a:solidFill>
                          <a:latin typeface="Arial"/>
                          <a:ea typeface="Arial"/>
                          <a:cs typeface="Arial"/>
                        </a:rPr>
                        <a:t>Thống kê mô tả, ngoại lai, mẫu nhiễu</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Năm bộ dữ liệu; lọc ngoại lai nhân quả; hồi phục dung lượng của NASA</a:t>
                      </a:r>
                    </a:p>
                  </a:txBody>
                  <a:tcPr marL="91440" marR="91440" marT="45720" marB="45720" anchor="ctr">
                    <a:solidFill>
                      <a:srgbClr val="FFFFFF"/>
                    </a:solidFill>
                  </a:tcPr>
                </a:tc>
              </a:tr>
              <a:tr h="548640">
                <a:tc>
                  <a:txBody>
                    <a:bodyPr/>
                    <a:lstStyle/>
                    <a:p>
                      <a:pPr algn="l"/>
                      <a:r>
                        <a:rPr sz="1400" b="0">
                          <a:solidFill>
                            <a:srgbClr val="163047"/>
                          </a:solidFill>
                          <a:latin typeface="Arial"/>
                          <a:ea typeface="Arial"/>
                          <a:cs typeface="Arial"/>
                        </a:rPr>
                        <a:t>So sánh ≥ 4 mô hình nền bằng MAE, RMSE, MAPE</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Chín mô hình đối chứng; MAE, RMSE, MAPE, R²; kiểm định Wilcoxon</a:t>
                      </a:r>
                    </a:p>
                  </a:txBody>
                  <a:tcPr marL="91440" marR="91440" marT="45720" marB="45720" anchor="ctr">
                    <a:solidFill>
                      <a:srgbClr val="EAF3F7"/>
                    </a:solidFill>
                  </a:tcPr>
                </a:tc>
              </a:tr>
              <a:tr h="548640">
                <a:tc>
                  <a:txBody>
                    <a:bodyPr/>
                    <a:lstStyle/>
                    <a:p>
                      <a:pPr algn="l"/>
                      <a:r>
                        <a:rPr sz="1400" b="0">
                          <a:solidFill>
                            <a:srgbClr val="163047"/>
                          </a:solidFill>
                          <a:latin typeface="Arial"/>
                          <a:ea typeface="Arial"/>
                          <a:cs typeface="Arial"/>
                        </a:rPr>
                        <a:t>Tinh chỉnh, giải thích</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Độ dài cửa sổ; trọng số ghép, cửa sổ lọc; dạng lịch sử; đặc trưng cả lần sạc NASA</a:t>
                      </a:r>
                    </a:p>
                  </a:txBody>
                  <a:tcPr marL="91440" marR="91440" marT="45720" marB="45720" anchor="ctr">
                    <a:solidFill>
                      <a:srgbClr val="FFFFFF"/>
                    </a:solidFill>
                  </a:tcPr>
                </a:tc>
              </a:tr>
              <a:tr h="548640">
                <a:tc>
                  <a:txBody>
                    <a:bodyPr/>
                    <a:lstStyle/>
                    <a:p>
                      <a:pPr algn="l"/>
                      <a:r>
                        <a:rPr sz="1400" b="0">
                          <a:solidFill>
                            <a:srgbClr val="163047"/>
                          </a:solidFill>
                          <a:latin typeface="Arial"/>
                          <a:ea typeface="Arial"/>
                          <a:cs typeface="Arial"/>
                        </a:rPr>
                        <a:t>Đề xuất cải tiến cho giai đoạn 2</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PINN bán giám sát, PINN-lai, dự báo bằng nghiệm đóng của động học</a:t>
                      </a:r>
                    </a:p>
                  </a:txBody>
                  <a:tcPr marL="91440" marR="91440" marT="45720" marB="45720" anchor="ctr">
                    <a:solidFill>
                      <a:srgbClr val="EAF3F7"/>
                    </a:solidFill>
                  </a:tcPr>
                </a:tc>
              </a:tr>
              <a:tr h="548640">
                <a:tc>
                  <a:txBody>
                    <a:bodyPr/>
                    <a:lstStyle/>
                    <a:p>
                      <a:pPr algn="l"/>
                      <a:r>
                        <a:rPr sz="1400" b="0">
                          <a:solidFill>
                            <a:srgbClr val="163047"/>
                          </a:solidFill>
                          <a:latin typeface="Arial"/>
                          <a:ea typeface="Arial"/>
                          <a:cs typeface="Arial"/>
                        </a:rPr>
                        <a:t>Phạm vi SOH, RUL; chỉ số; dự phòng</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SOH trực tuyến; dự báo SOH, dung lượng, RUL; khoảng 90 %; cập nhật Kalman</a:t>
                      </a:r>
                    </a:p>
                  </a:txBody>
                  <a:tcPr marL="91440" marR="91440" marT="45720" marB="45720" anchor="ctr">
                    <a:solidFill>
                      <a:srgbClr val="FFFFFF"/>
                    </a:solidFill>
                  </a:tcPr>
                </a:tc>
              </a:tr>
              <a:tr h="548640">
                <a:tc>
                  <a:txBody>
                    <a:bodyPr/>
                    <a:lstStyle/>
                    <a:p>
                      <a:pPr algn="l"/>
                      <a:r>
                        <a:rPr sz="1400" b="0">
                          <a:solidFill>
                            <a:srgbClr val="163047"/>
                          </a:solidFill>
                          <a:latin typeface="Arial"/>
                          <a:ea typeface="Arial"/>
                          <a:cs typeface="Arial"/>
                        </a:rPr>
                        <a:t>Bản mẫu, trực quan hoá</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Đường ống tái lập được; công cụ dòng lệnh cho một cell; hình quỹ đạo</a:t>
                      </a:r>
                    </a:p>
                  </a:txBody>
                  <a:tcPr marL="91440" marR="91440" marT="45720" marB="45720" anchor="ctr">
                    <a:solidFill>
                      <a:srgbClr val="EAF3F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 name="">
            <a:extLst>
              <a:ext uri="{FF2B5EF4-FFF2-40B4-BE49-F238E27FC236}">
                <a16:creationId xmlns:a16="http://schemas.microsoft.com/office/drawing/2014/main" id="{37D1E096-D5FA-4F41-AEBA-B2142831C0DF}"/>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AB777859-78CD-4F6A-A9B4-9F54A352F3B1}"/>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Kết luận và hướng phát triển</a:t>
            </a:r>
          </a:p>
        </p:txBody>
      </p:sp>
      <p:sp>
        <p:nvSpPr>
          <p:cNvPr id="3" name="">
            <a:extLst>
              <a:ext uri="{FF2B5EF4-FFF2-40B4-BE49-F238E27FC236}">
                <a16:creationId xmlns:a16="http://schemas.microsoft.com/office/drawing/2014/main" id="{423E2091-FE09-4D1F-980D-5BDE30F015D5}"/>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23</a:t>
            </a:r>
          </a:p>
        </p:txBody>
      </p:sp>
      <p:pic>
        <p:nvPicPr>
          <p:cNvPr id="15" name=""/>
          <p:cNvPicPr>
            <a:picLocks noChangeAspect="1"/>
          </p:cNvPicPr>
          <p:nvPr/>
        </p:nvPicPr>
        <p:blipFill>
          <a:blip r:embed="rId2"/>
          <a:stretch/>
        </p:blipFill>
        <p:spPr>
          <a:xfrm>
            <a:off x="11696700" y="6384974"/>
            <a:ext cx="285750" cy="260252"/>
          </a:xfrm>
          <a:prstGeom prst="rect">
            <a:avLst/>
          </a:prstGeom>
        </p:spPr>
      </p:pic>
      <p:sp>
        <p:nvSpPr>
          <p:cNvPr id="5" name="">
            <a:extLst>
              <a:ext uri="{FF2B5EF4-FFF2-40B4-BE49-F238E27FC236}">
                <a16:creationId xmlns:a16="http://schemas.microsoft.com/office/drawing/2014/main" id="{C1E2F7BC-C449-49C6-B60D-A5759C565738}"/>
              </a:ext>
            </a:extLst>
          </p:cNvPr>
          <p:cNvSpPr>
            <a:spLocks noGrp="1"/>
          </p:cNvSpPr>
          <p:nvPr/>
        </p:nvSpPr>
        <p:spPr>
          <a:xfrm>
            <a:off x="621792" y="1325880"/>
            <a:ext cx="5486400" cy="329184"/>
          </a:xfrm>
          <a:prstGeom prst="rect">
            <a:avLst/>
          </a:prstGeom>
          <a:noFill/>
          <a:ln w="0">
            <a:noFill/>
          </a:ln>
        </p:spPr>
        <p:txBody>
          <a:bodyPr lIns="0" tIns="0" rIns="0" bIns="0" anchor="ctr">
            <a:noAutofit/>
          </a:bodyPr>
          <a:lstStyle/>
          <a:p>
            <a:pPr algn="l">
              <a:defRPr sz="2000" b="1">
                <a:solidFill>
                  <a:srgbClr val="20567B"/>
                </a:solidFill>
                <a:latin typeface="Arial"/>
                <a:ea typeface="Arial"/>
                <a:cs typeface="Arial"/>
              </a:defRPr>
            </a:pPr>
            <a:r>
              <a:rPr sz="2000" b="1">
                <a:solidFill>
                  <a:srgbClr val="20567B"/>
                </a:solidFill>
                <a:latin typeface="Arial"/>
                <a:ea typeface="Arial"/>
                <a:cs typeface="Arial"/>
              </a:rPr>
              <a:t>Kết luận</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21792" y="1783080"/>
            <a:ext cx="5486400" cy="4206240"/>
          </a:xfrm>
          <a:prstGeom prst="rect">
            <a:avLst/>
          </a:prstGeom>
          <a:noFill/>
          <a:ln w="0">
            <a:noFill/>
          </a:ln>
        </p:spPr>
        <p:txBody>
          <a:bodyPr lIns="0" tIns="0" rIns="0" bIns="0" anchor="t">
            <a:noAutofit/>
          </a:bodyPr>
          <a:lstStyle/>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PINN bán giám sát giảm sai số rõ nhất khi ít nhãn: 0,39–0,90 lần MLP ở 10 % nhãn</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Mô hình chuỗi tốt hơn MLP nhưng chưa vượt GBDT; GBDT là mốc so sánh cần có</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Kết hợp vật lý với GBDT (PINN-lai, mô hình cuối) cho sai số thấp nhất trong bảng tổng hợp</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Rải vài lần đo lên mọi cell hiệu quả hơn đo kín một phần cell</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NASA-L: chỉ thấp hơn SambaMixer khi biết mọi lần xả trước (0,80 %; giữ nguyên: 0,60 %)</a:t>
            </a:r>
          </a:p>
        </p:txBody>
      </p:sp>
      <p:sp>
        <p:nvSpPr>
          <p:cNvPr id="5" name="">
            <a:extLst>
              <a:ext uri="{FF2B5EF4-FFF2-40B4-BE49-F238E27FC236}">
                <a16:creationId xmlns:a16="http://schemas.microsoft.com/office/drawing/2014/main" id="{C1E2F7BC-C449-49C6-B60D-A5759C565738}"/>
              </a:ext>
            </a:extLst>
          </p:cNvPr>
          <p:cNvSpPr>
            <a:spLocks noGrp="1"/>
          </p:cNvSpPr>
          <p:nvPr/>
        </p:nvSpPr>
        <p:spPr>
          <a:xfrm>
            <a:off x="6400800" y="1325880"/>
            <a:ext cx="5212080" cy="329184"/>
          </a:xfrm>
          <a:prstGeom prst="rect">
            <a:avLst/>
          </a:prstGeom>
          <a:noFill/>
          <a:ln w="0">
            <a:noFill/>
          </a:ln>
        </p:spPr>
        <p:txBody>
          <a:bodyPr lIns="0" tIns="0" rIns="0" bIns="0" anchor="ctr">
            <a:noAutofit/>
          </a:bodyPr>
          <a:lstStyle/>
          <a:p>
            <a:pPr algn="l">
              <a:defRPr sz="2000" b="1">
                <a:solidFill>
                  <a:srgbClr val="20567B"/>
                </a:solidFill>
                <a:latin typeface="Arial"/>
                <a:ea typeface="Arial"/>
                <a:cs typeface="Arial"/>
              </a:defRPr>
            </a:pPr>
            <a:r>
              <a:rPr sz="2000" b="1">
                <a:solidFill>
                  <a:srgbClr val="20567B"/>
                </a:solidFill>
                <a:latin typeface="Arial"/>
                <a:ea typeface="Arial"/>
                <a:cs typeface="Arial"/>
              </a:rPr>
              <a:t>Giai đoạn 2</a:t>
            </a:r>
          </a:p>
        </p:txBody>
      </p:sp>
      <p:sp>
        <p:nvSpPr>
          <p:cNvPr id="6" name="">
            <a:extLst>
              <a:ext uri="{FF2B5EF4-FFF2-40B4-BE49-F238E27FC236}">
                <a16:creationId xmlns:a16="http://schemas.microsoft.com/office/drawing/2014/main" id="{EE2ABE15-3EEB-4EA0-9CA6-5CA037A62878}"/>
              </a:ext>
            </a:extLst>
          </p:cNvPr>
          <p:cNvSpPr>
            <a:spLocks noGrp="1"/>
          </p:cNvSpPr>
          <p:nvPr/>
        </p:nvSpPr>
        <p:spPr>
          <a:xfrm>
            <a:off x="6400800" y="1783080"/>
            <a:ext cx="5212080" cy="4206240"/>
          </a:xfrm>
          <a:prstGeom prst="rect">
            <a:avLst/>
          </a:prstGeom>
          <a:noFill/>
          <a:ln w="0">
            <a:noFill/>
          </a:ln>
        </p:spPr>
        <p:txBody>
          <a:bodyPr lIns="0" tIns="0" rIns="0" bIns="0" anchor="t">
            <a:noAutofit/>
          </a:bodyPr>
          <a:lstStyle/>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Gắn ràng buộc vật lý vào mô hình chuỗi: LSTM, Transformer làm mạng nghiệm của PINN</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Khối pin nhiều cell: mô hình hoá mất cân bằng giữa các cell, chẳng hạn bằng GCN</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Giao diện theo dõi dựng từ công cụ dòng lệnh hiện có</a:t>
            </a:r>
          </a:p>
          <a:p>
            <a:pPr algn="l" marL="246888" indent="-246888">
              <a:spcAft>
                <a:spcPts val="720"/>
              </a:spcAft>
              <a:buFont typeface="Arial"/>
              <a:buChar char="•"/>
              <a:defRPr sz="1600" b="0">
                <a:solidFill>
                  <a:srgbClr val="163047"/>
                </a:solidFill>
                <a:latin typeface="Arial"/>
                <a:ea typeface="Arial"/>
                <a:cs typeface="Arial"/>
              </a:defRPr>
            </a:pPr>
            <a:r>
              <a:rPr sz="1600" b="0">
                <a:solidFill>
                  <a:srgbClr val="163047"/>
                </a:solidFill>
                <a:latin typeface="Arial"/>
                <a:ea typeface="Arial"/>
                <a:cs typeface="Arial"/>
              </a:rPr>
              <a:t>Lịch đo chủ động theo độ bất định của mô hình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8" name=""/>
          <p:cNvPicPr>
            <a:picLocks noChangeAspect="1"/>
          </p:cNvPicPr>
          <p:nvPr/>
        </p:nvPicPr>
        <p:blipFill>
          <a:blip r:embed="rId2"/>
          <a:stretch/>
        </p:blipFill>
        <p:spPr>
          <a:xfrm>
            <a:off x="0" y="0"/>
            <a:ext cx="12192000" cy="6858000"/>
          </a:xfrm>
          <a:prstGeom prst="rect">
            <a:avLst/>
          </a:prstGeom>
        </p:spPr>
      </p:pic>
      <p:pic>
        <p:nvPicPr>
          <p:cNvPr id="9" name=""/>
          <p:cNvPicPr>
            <a:picLocks noChangeAspect="1"/>
          </p:cNvPicPr>
          <p:nvPr/>
        </p:nvPicPr>
        <p:blipFill>
          <a:blip r:embed="rId3"/>
          <a:stretch/>
        </p:blipFill>
        <p:spPr>
          <a:xfrm>
            <a:off x="4676775" y="620100"/>
            <a:ext cx="1162050" cy="569551"/>
          </a:xfrm>
          <a:prstGeom prst="rect">
            <a:avLst/>
          </a:prstGeom>
        </p:spPr>
      </p:pic>
      <p:pic>
        <p:nvPicPr>
          <p:cNvPr id="10" name=""/>
          <p:cNvPicPr>
            <a:picLocks noChangeAspect="1"/>
          </p:cNvPicPr>
          <p:nvPr/>
        </p:nvPicPr>
        <p:blipFill>
          <a:blip r:embed="rId4"/>
          <a:stretch/>
        </p:blipFill>
        <p:spPr>
          <a:xfrm>
            <a:off x="6572250" y="571822"/>
            <a:ext cx="647700" cy="589905"/>
          </a:xfrm>
          <a:prstGeom prst="rect">
            <a:avLst/>
          </a:prstGeom>
        </p:spPr>
      </p:pic>
      <p:sp>
        <p:nvSpPr>
          <p:cNvPr id="4" name="">
            <a:extLst>
              <a:ext uri="{FF2B5EF4-FFF2-40B4-BE49-F238E27FC236}">
                <a16:creationId xmlns:a16="http://schemas.microsoft.com/office/drawing/2014/main" id="{AE89EA32-4378-438E-B351-C353813ECB53}"/>
              </a:ext>
            </a:extLst>
          </p:cNvPr>
          <p:cNvSpPr>
            <a:spLocks noGrp="1"/>
          </p:cNvSpPr>
          <p:nvPr/>
        </p:nvSpPr>
        <p:spPr>
          <a:xfrm>
            <a:off x="2000250" y="1752600"/>
            <a:ext cx="8191500" cy="428625"/>
          </a:xfrm>
          <a:prstGeom prst="rect">
            <a:avLst/>
          </a:prstGeom>
          <a:noFill/>
          <a:ln w="0">
            <a:noFill/>
          </a:ln>
        </p:spPr>
        <p:txBody>
          <a:bodyPr lIns="0" tIns="0" rIns="0" bIns="0" anchor="ctr">
            <a:noAutofit/>
          </a:bodyPr>
          <a:lstStyle/>
          <a:p>
            <a:pPr algn="ctr">
              <a:defRPr sz="1950" b="1">
                <a:solidFill>
                  <a:srgbClr val="20567B"/>
                </a:solidFill>
                <a:latin typeface="Arial"/>
                <a:ea typeface="Arial"/>
                <a:cs typeface="Arial"/>
              </a:defRPr>
            </a:pPr>
            <a:r>
              <a:rPr sz="1950" b="1">
                <a:solidFill>
                  <a:srgbClr val="20567B"/>
                </a:solidFill>
                <a:latin typeface="Arial"/>
                <a:ea typeface="Arial"/>
                <a:cs typeface="Arial"/>
              </a:rPr>
              <a:t>ĐỒ ÁN CHUYÊN NGÀNH HK261</a:t>
            </a:r>
          </a:p>
        </p:txBody>
      </p:sp>
      <p:sp>
        <p:nvSpPr>
          <p:cNvPr id="5" name="">
            <a:extLst>
              <a:ext uri="{FF2B5EF4-FFF2-40B4-BE49-F238E27FC236}">
                <a16:creationId xmlns:a16="http://schemas.microsoft.com/office/drawing/2014/main" id="{76F142D9-73E8-44E7-846D-6C3B7F93CE35}"/>
              </a:ext>
            </a:extLst>
          </p:cNvPr>
          <p:cNvSpPr>
            <a:spLocks noGrp="1"/>
          </p:cNvSpPr>
          <p:nvPr/>
        </p:nvSpPr>
        <p:spPr>
          <a:xfrm>
            <a:off x="1905000" y="2524125"/>
            <a:ext cx="8382000" cy="1533525"/>
          </a:xfrm>
          <a:prstGeom prst="rect">
            <a:avLst/>
          </a:prstGeom>
          <a:noFill/>
          <a:ln w="0">
            <a:noFill/>
          </a:ln>
        </p:spPr>
        <p:txBody>
          <a:bodyPr lIns="0" tIns="0" rIns="0" bIns="0" anchor="ctr">
            <a:noAutofit/>
          </a:bodyPr>
          <a:lstStyle/>
          <a:p>
            <a:pPr algn="ctr">
              <a:defRPr sz="3300" b="1">
                <a:solidFill>
                  <a:srgbClr val="20567B"/>
                </a:solidFill>
                <a:latin typeface="Arial"/>
                <a:ea typeface="Arial"/>
                <a:cs typeface="Arial"/>
              </a:defRPr>
            </a:pPr>
            <a:r>
              <a:rPr sz="3300" b="1">
                <a:solidFill>
                  <a:srgbClr val="20567B"/>
                </a:solidFill>
                <a:latin typeface="Arial"/>
                <a:ea typeface="Arial"/>
                <a:cs typeface="Arial"/>
              </a:rPr>
              <a:t>Cảm ơn Thầy Cô đã lắng nghe</a:t>
            </a:r>
          </a:p>
        </p:txBody>
      </p:sp>
      <p:sp>
        <p:nvSpPr>
          <p:cNvPr id="6" name="">
            <a:extLst>
              <a:ext uri="{FF2B5EF4-FFF2-40B4-BE49-F238E27FC236}">
                <a16:creationId xmlns:a16="http://schemas.microsoft.com/office/drawing/2014/main" id="{6126EDAD-7C66-4704-AA1D-B0BDA5742275}"/>
              </a:ext>
            </a:extLst>
          </p:cNvPr>
          <p:cNvSpPr>
            <a:spLocks noGrp="1"/>
          </p:cNvSpPr>
          <p:nvPr/>
        </p:nvSpPr>
        <p:spPr>
          <a:xfrm>
            <a:off x="2381250" y="4524375"/>
            <a:ext cx="7429500" cy="504825"/>
          </a:xfrm>
          <a:prstGeom prst="rect">
            <a:avLst/>
          </a:prstGeom>
          <a:noFill/>
          <a:ln w="0">
            <a:noFill/>
          </a:ln>
        </p:spPr>
        <p:txBody>
          <a:bodyPr lIns="0" tIns="0" rIns="0" bIns="0" anchor="ctr">
            <a:noAutofit/>
          </a:bodyPr>
          <a:lstStyle/>
          <a:p>
            <a:pPr algn="ctr">
              <a:defRPr sz="2100" b="0">
                <a:solidFill>
                  <a:srgbClr val="163047"/>
                </a:solidFill>
                <a:latin typeface="Arial"/>
                <a:ea typeface="Arial"/>
                <a:cs typeface="Arial"/>
              </a:defRPr>
            </a:pPr>
            <a:r>
              <a:rPr sz="2100" b="0">
                <a:solidFill>
                  <a:srgbClr val="163047"/>
                </a:solidFill>
                <a:latin typeface="Arial"/>
                <a:ea typeface="Arial"/>
                <a:cs typeface="Arial"/>
              </a:rPr>
              <a:t>Em xin nhận câu hỏi</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2026-09-29T04:27:51.3170000Z</dcterms:created>
  <dcterms:modified xsi:type="dcterms:W3CDTF">2026-09-29T04:27:51.3170000Z</dcterms:modified>
</coreProperties>
</file>