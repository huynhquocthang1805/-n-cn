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slides/charts/chart6.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59afeb601eab4034" Type="http://schemas.openxmlformats.org/officeDocument/2006/relationships/extended-properties" Target="docProps/app.xml"/><Relationship Id="Rf8c5d73239c54c21" Type="http://schemas.openxmlformats.org/package/2006/relationships/metadata/core-properties" Target="docProps/core.xml"/><Relationship Id="Rf9d301a384d4456f"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0d65177f2efa4334"/>
  </p:sldMasterIdLst>
  <p:notesMasterIdLst>
    <p:notesMasterId xmlns:r="http://schemas.openxmlformats.org/officeDocument/2006/relationships" r:id="R122fdd615e0642f8"/>
  </p:notesMasterIdLst>
  <p:sldIdLst>
    <p:sldId xmlns:r="http://schemas.openxmlformats.org/officeDocument/2006/relationships" id="256" r:id="Re089232dfe4e407b"/>
    <p:sldId xmlns:r="http://schemas.openxmlformats.org/officeDocument/2006/relationships" id="257" r:id="Re2e982f8f3294160"/>
    <p:sldId xmlns:r="http://schemas.openxmlformats.org/officeDocument/2006/relationships" id="258" r:id="R6fae94ef66f440e1"/>
    <p:sldId xmlns:r="http://schemas.openxmlformats.org/officeDocument/2006/relationships" id="259" r:id="Rd412508c7d914d58"/>
    <p:sldId xmlns:r="http://schemas.openxmlformats.org/officeDocument/2006/relationships" id="260" r:id="R0c6c268805ed461d"/>
    <p:sldId xmlns:r="http://schemas.openxmlformats.org/officeDocument/2006/relationships" id="261" r:id="Rb3d323bbdd1d42cc"/>
    <p:sldId xmlns:r="http://schemas.openxmlformats.org/officeDocument/2006/relationships" id="262" r:id="R3cdef86ab8a34057"/>
    <p:sldId xmlns:r="http://schemas.openxmlformats.org/officeDocument/2006/relationships" id="263" r:id="R4841673a10974ed8"/>
    <p:sldId xmlns:r="http://schemas.openxmlformats.org/officeDocument/2006/relationships" id="264" r:id="R7cbe5d3180904bd7"/>
    <p:sldId xmlns:r="http://schemas.openxmlformats.org/officeDocument/2006/relationships" id="265" r:id="R03efeee4e94c4586"/>
    <p:sldId xmlns:r="http://schemas.openxmlformats.org/officeDocument/2006/relationships" id="266" r:id="Rd479c5c581ee46dc"/>
    <p:sldId xmlns:r="http://schemas.openxmlformats.org/officeDocument/2006/relationships" id="267" r:id="Ra3154f218172408e"/>
    <p:sldId xmlns:r="http://schemas.openxmlformats.org/officeDocument/2006/relationships" id="268" r:id="R5c847b8227714789"/>
    <p:sldId xmlns:r="http://schemas.openxmlformats.org/officeDocument/2006/relationships" id="269" r:id="R7c45af4e084d4a17"/>
    <p:sldId xmlns:r="http://schemas.openxmlformats.org/officeDocument/2006/relationships" id="270" r:id="Ra39a50e463ff4d3c"/>
    <p:sldId xmlns:r="http://schemas.openxmlformats.org/officeDocument/2006/relationships" id="271" r:id="R4d586e680dda4778"/>
    <p:sldId xmlns:r="http://schemas.openxmlformats.org/officeDocument/2006/relationships" id="272" r:id="R961210f99d8e4238"/>
    <p:sldId xmlns:r="http://schemas.openxmlformats.org/officeDocument/2006/relationships" id="273" r:id="Rf70e57253b5d4e72"/>
    <p:sldId xmlns:ns0="http://schemas.openxmlformats.org/officeDocument/2006/relationships" id="278" ns0:id="rId28"/>
    <p:sldId xmlns:ns0="http://schemas.openxmlformats.org/officeDocument/2006/relationships" id="279" ns0:id="rId29"/>
    <p:sldId xmlns:ns0="http://schemas.openxmlformats.org/officeDocument/2006/relationships" id="280" ns0:id="rId30"/>
    <p:sldId xmlns:ns0="http://schemas.openxmlformats.org/officeDocument/2006/relationships" id="281" ns0:id="rId31"/>
    <p:sldId xmlns:ns0="http://schemas.openxmlformats.org/officeDocument/2006/relationships" id="282" ns0:id="rId32"/>
    <p:sldId xmlns:ns0="http://schemas.openxmlformats.org/officeDocument/2006/relationships" id="283" ns0:id="rId33"/>
    <p:sldId xmlns:ns0="http://schemas.openxmlformats.org/officeDocument/2006/relationships" id="284" ns0:id="rId34"/>
    <p:sldId xmlns:ns0="http://schemas.openxmlformats.org/officeDocument/2006/relationships" id="285" ns0:id="rId35"/>
    <p:sldId xmlns:ns0="http://schemas.openxmlformats.org/officeDocument/2006/relationships" id="286" ns0:id="rId36"/>
    <p:sldId xmlns:ns0="http://schemas.openxmlformats.org/officeDocument/2006/relationships" id="287" ns0:id="rId37"/>
    <p:sldId xmlns:r="http://schemas.openxmlformats.org/officeDocument/2006/relationships" id="274" r:id="Rd000c34c7a35479c"/>
    <p:sldId xmlns:r="http://schemas.openxmlformats.org/officeDocument/2006/relationships" id="275" r:id="R24cb3dfdfc0e42c6"/>
    <p:sldId xmlns:r="http://schemas.openxmlformats.org/officeDocument/2006/relationships" id="276" r:id="R8ef3bdbae6ac4e26"/>
    <p:sldId xmlns:r="http://schemas.openxmlformats.org/officeDocument/2006/relationships" id="277" r:id="R6995cfb526c441a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efeee4e94c4586" Type="http://schemas.openxmlformats.org/officeDocument/2006/relationships/slide" Target="slides/slide10.xml"/><Relationship Id="R07cad3eee5e14944" Type="http://schemas.openxmlformats.org/officeDocument/2006/relationships/presProps" Target="presProps.xml"/><Relationship Id="R0c6c268805ed461d" Type="http://schemas.openxmlformats.org/officeDocument/2006/relationships/slide" Target="slides/slide5.xml"/><Relationship Id="R0d65177f2efa4334" Type="http://schemas.openxmlformats.org/officeDocument/2006/relationships/slideMaster" Target="slideMasters/slideMaster1.xml"/><Relationship Id="R122fdd615e0642f8" Type="http://schemas.openxmlformats.org/officeDocument/2006/relationships/notesMaster" Target="notesMasters/notesMaster1.xml"/><Relationship Id="R24cb3dfdfc0e42c6" Type="http://schemas.openxmlformats.org/officeDocument/2006/relationships/slide" Target="slides/slide20.xml"/><Relationship Id="R3cdef86ab8a34057" Type="http://schemas.openxmlformats.org/officeDocument/2006/relationships/slide" Target="slides/slide7.xml"/><Relationship Id="R4841673a10974ed8" Type="http://schemas.openxmlformats.org/officeDocument/2006/relationships/slide" Target="slides/slide8.xml"/><Relationship Id="R4d586e680dda4778" Type="http://schemas.openxmlformats.org/officeDocument/2006/relationships/slide" Target="slides/slide16.xml"/><Relationship Id="R522beb1df68c4fd1" Type="http://schemas.openxmlformats.org/officeDocument/2006/relationships/theme" Target="theme/theme1.xml"/><Relationship Id="R5c847b8227714789" Type="http://schemas.openxmlformats.org/officeDocument/2006/relationships/slide" Target="slides/slide13.xml"/><Relationship Id="R6995cfb526c441aa" Type="http://schemas.openxmlformats.org/officeDocument/2006/relationships/slide" Target="slides/slide22.xml"/><Relationship Id="R6fae94ef66f440e1" Type="http://schemas.openxmlformats.org/officeDocument/2006/relationships/slide" Target="slides/slide3.xml"/><Relationship Id="R7c45af4e084d4a17" Type="http://schemas.openxmlformats.org/officeDocument/2006/relationships/slide" Target="slides/slide14.xml"/><Relationship Id="R7cbe5d3180904bd7" Type="http://schemas.openxmlformats.org/officeDocument/2006/relationships/slide" Target="slides/slide9.xml"/><Relationship Id="R8ef3bdbae6ac4e26" Type="http://schemas.openxmlformats.org/officeDocument/2006/relationships/slide" Target="slides/slide21.xml"/><Relationship Id="R961210f99d8e4238" Type="http://schemas.openxmlformats.org/officeDocument/2006/relationships/slide" Target="slides/slide17.xml"/><Relationship Id="Ra3154f218172408e" Type="http://schemas.openxmlformats.org/officeDocument/2006/relationships/slide" Target="slides/slide12.xml"/><Relationship Id="Ra39a50e463ff4d3c" Type="http://schemas.openxmlformats.org/officeDocument/2006/relationships/slide" Target="slides/slide15.xml"/><Relationship Id="Rab56e47df87e4612" Type="http://schemas.openxmlformats.org/officeDocument/2006/relationships/tableStyles" Target="tableStyles.xml"/><Relationship Id="Rb3d323bbdd1d42cc" Type="http://schemas.openxmlformats.org/officeDocument/2006/relationships/slide" Target="slides/slide6.xml"/><Relationship Id="Rd000c34c7a35479c" Type="http://schemas.openxmlformats.org/officeDocument/2006/relationships/slide" Target="slides/slide19.xml"/><Relationship Id="Rd412508c7d914d58" Type="http://schemas.openxmlformats.org/officeDocument/2006/relationships/slide" Target="slides/slide4.xml"/><Relationship Id="Rd479c5c581ee46dc" Type="http://schemas.openxmlformats.org/officeDocument/2006/relationships/slide" Target="slides/slide11.xml"/><Relationship Id="Re089232dfe4e407b" Type="http://schemas.openxmlformats.org/officeDocument/2006/relationships/slide" Target="slides/slide1.xml"/><Relationship Id="Re2e982f8f3294160" Type="http://schemas.openxmlformats.org/officeDocument/2006/relationships/slide" Target="slides/slide2.xml"/><Relationship Id="Rf70e57253b5d4e72" Type="http://schemas.openxmlformats.org/officeDocument/2006/relationships/slide" Target="slides/slide18.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19ee874815c0407a"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914a033ffbc44a84" Type="http://schemas.openxmlformats.org/officeDocument/2006/relationships/slide" Target="../slides/slide1.xml"/><Relationship Id="Rf18f9ad82ac54129"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33e5eeaa4a1a4414" Type="http://schemas.openxmlformats.org/officeDocument/2006/relationships/notesMaster" Target="../notesMasters/notesMaster1.xml"/><Relationship Id="R63301abbfabf4e87"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0f0a59499b464384" Type="http://schemas.openxmlformats.org/officeDocument/2006/relationships/slide" Target="../slides/slide3.xml"/><Relationship Id="Rff3a7da978e84fb5"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8afcfc9bd68a4f57" Type="http://schemas.openxmlformats.org/officeDocument/2006/relationships/slide" Target="../slides/slide4.xml"/><Relationship Id="Rd8ac1b6ebdb74bdb"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7d91cffc10bf4dad" Type="http://schemas.openxmlformats.org/officeDocument/2006/relationships/notesMaster" Target="../notesMasters/notesMaster1.xml"/><Relationship Id="Radd34d3c1c4548ae"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5e3bf8cb60b24f06" Type="http://schemas.openxmlformats.org/officeDocument/2006/relationships/slide" Target="../slides/slide6.xml"/><Relationship Id="R6a45c5be4380408c"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0caddbc6207648ed" Type="http://schemas.openxmlformats.org/officeDocument/2006/relationships/notesMaster" Target="../notesMasters/notesMaster1.xml"/><Relationship Id="R59ac85e28be44349"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9a0444c62e864c96" Type="http://schemas.openxmlformats.org/officeDocument/2006/relationships/notesMaster" Target="../notesMasters/notesMaster1.xml"/><Relationship Id="Rafb9257d65294ab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069c0dd9262a4383" Type="http://schemas.openxmlformats.org/officeDocument/2006/relationships/slide" Target="../slides/slide9.xml"/><Relationship Id="R6928467eae88447a"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2c639fb79b574d46" Type="http://schemas.openxmlformats.org/officeDocument/2006/relationships/slide" Target="../slides/slide10.xml"/><Relationship Id="R3fd3ee3af80a4975"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00ce17c326f04512" Type="http://schemas.openxmlformats.org/officeDocument/2006/relationships/notesMaster" Target="../notesMasters/notesMaster1.xml"/><Relationship Id="Rf8c997e831d94b68"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65fd135b1c3a4825" Type="http://schemas.openxmlformats.org/officeDocument/2006/relationships/slide" Target="../slides/slide12.xml"/><Relationship Id="Rc12f5fe343474e7b"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1030fc9b96d14784" Type="http://schemas.openxmlformats.org/officeDocument/2006/relationships/notesMaster" Target="../notesMasters/notesMaster1.xml"/><Relationship Id="R695f98de7bd1458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3ebacadc934f47c9" Type="http://schemas.openxmlformats.org/officeDocument/2006/relationships/slide" Target="../slides/slide14.xml"/><Relationship Id="R59dc1eace931499f"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060fbe0bad1a454f" Type="http://schemas.openxmlformats.org/officeDocument/2006/relationships/slide" Target="../slides/slide15.xml"/><Relationship Id="R8ed05e1d2ad540f7"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074c187ff7b8480c" Type="http://schemas.openxmlformats.org/officeDocument/2006/relationships/notesMaster" Target="../notesMasters/notesMaster1.xml"/><Relationship Id="R3f6c1a955bcc4fcb"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e52a1551729c4237" Type="http://schemas.openxmlformats.org/officeDocument/2006/relationships/notesMaster" Target="../notesMasters/notesMaster1.xml"/><Relationship Id="Re5774d9d6f7349b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169da8f198d24f87" Type="http://schemas.openxmlformats.org/officeDocument/2006/relationships/slide" Target="../slides/slide18.xml"/><Relationship Id="R47b28638c741457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9422994fc9f34cf2" Type="http://schemas.openxmlformats.org/officeDocument/2006/relationships/slide" Target="../slides/slide19.xml"/><Relationship Id="Rfa3f8a5518c14d03"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0610f140f0514c45" Type="http://schemas.openxmlformats.org/officeDocument/2006/relationships/notesMaster" Target="../notesMasters/notesMaster1.xml"/><Relationship Id="R96c8dea01ed74ea4"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9c43a1aa96a34635" Type="http://schemas.openxmlformats.org/officeDocument/2006/relationships/slide" Target="../slides/slide21.xml"/><Relationship Id="Rb3431f7757bb4a54"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75580f8d7e2545ff" Type="http://schemas.openxmlformats.org/officeDocument/2006/relationships/notesMaster" Target="../notesMasters/notesMaster1.xml"/><Relationship Id="Rd74c4549a9164d18"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Bản cập nhật dựa trên dữ liệu, mã nguồn và kết quả người dùng cung cấp. Chỉ xác nhận phần đối chiếu trong lần cập nhật này, không coi toàn bộ thí nghiệm lưu sẵn là công việc mới trong tuần.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Tuần này: sửa pipeline, chốt đề cương, chạy E13 (kiểm định chéo theo cell) và E14. Các slide 9–15 là kết quả v1 giữ lại để đối chiếu.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Wang et al. (2024), Nature Communications 15, 4332. https://doi.org/10.1038/s41467-024-48779-z</a:t>
            </a:r>
          </a:p>
          <a:p xmlns:a="http://schemas.openxmlformats.org/drawingml/2006/main">
            <a:r>
              <a:t>Raissi et al. (2019): https://doi.org/10.1016/j.jcp.2018.10.045</a:t>
            </a:r>
          </a:p>
          <a:p xmlns:a="http://schemas.openxmlformats.org/drawingml/2006/main">
            <a:r>
              <a:t>Wen et al.: https://arxiv.org/abs/2301.00776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Wang et al. (2024), Nature Communications 15, 4332. https://doi.org/10.1038/s41467-024-48779-z</a:t>
            </a:r>
          </a:p>
          <a:p xmlns:a="http://schemas.openxmlformats.org/drawingml/2006/main">
            <a:r>
              <a:t>Đếm lại bằng pinnsoh/data.py trên 387 CSV ngày 29/09/2026. XJTU dùng nhiệt độ gán 25 °C, bài báo mô tả nhiệt độ phòng.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data.py split_cells/choose_labelled và train.py prepare. Tỉ lệ được làm tròn theo nhóm cell, không đúng tuyệt đối 70/15/15. Validation còn cần nhãn ngoài ngân sách 30% cell dùng loss dữ liệu.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models.py và train.py. E1 hidden64,64,32. TUNED wide128,128,64. Dynamics16,32,32,1. Mạng nghiệm và tốc độ là hai mạng độc lập, nối qua loss. Arrhenius và knee có thể tắt bằng cấu hình.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train.py physics/fit. Nhánh không nhãn không dùng y trong biểu thức vật lý, nhưng loader hiện tại vẫn dropna toàn bảng. Tổng loss vẫn phụ thuộc nhãn qua Ldata.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results/E1_hypothesis.csv. Trung bình MAE gộp hàng, 3 seed. Các tỉ số chỉ mô tả trung bình. Chưa thực hiện phép kiểm tương đương hay không kém hơn với biên định trước.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tính trực tiếp test_predictions trong runs/TUNED, 80 log, so với CSV gốc. Chỉ số là MAE trung bình theo cell rồi trung bình qua 10 seed. 1 đơn vị trên trục = 1 điểm phần trăm SOH.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Tính lại từ 160 bộ dự đoán E1/TUNED. Wilcoxon hai phía theo seed, Holm cho bốn bộ dữ liệu. Split giữa các seed chồng lấp cell nên đây là bằng chứng theo lần chia, chưa thay thế kiểm chứng trên cell/protocol mới.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TUNED seed0, cell đầu tiên trong split.test, không chọn theo kết quả. Cell IDs: XJTU/2C_battery-7; MIT/2017-05-12_battery-32. Dự đoán khớp nhãn gốc. Hiển thị khoảng70 mốc, trục số dùng chu kỳ gốc. MAE tính toàn bộ hàng.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TUNED seed0, cell đầu tiên trong split.test, không chọn theo kết quả. Cell IDs: TJU/Dataset_1_NCA_battery/CY25-025_1-#7; HUST/6-3. Dự đoán khớp nhãn gốc. Hiển thị khoảng70 mốc, trục số dùng chu kỳ gốc. MAE tính toàn bộ hàng.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results/E12_table.csv và E12_selected.csv. 3 seed, MAE gộp hàng. Tám cấu hình tổng quát mỗi mô hình nhưng PINN đã có prior từ E7, chưa bằng tổng ngân sách tìm kiếm.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results/E5_table.csv và pinnsoh/transfer.py. Hai mô hình khởi tạo riêng. PINN chuẩn hoá source+target train còn MLP k0 dùng source. Không mô tả bảng này như cùng PINN trước/sau fine-tuning.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pinnsoh/data.py (_clean_causal_features, sample_pairs_cycle, cv_split), train.py (Config.v2, norm_pool), metrics.py (eol_cycle). Kết quả kiểm: results/verify_pipeline.csv.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models.py, train.py và chung-minh.md. r≥0 chỉ bảo đảm nghiệm ODE du/dt=−r giảm. Fφ là mạng độc lập nên loss hữu hạn không đủ bảo đảm. Với x(t)=2t và u=x−t, ∂u/∂t=−1 nhưng du/dt=1. Khi T cố định, Ea lẫn với k, chỉ T=Tref làm đạo hàm theo Ea bằng0.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ô Chưa chạy là kế hoạch thí nghiệm, không phải kết quả đã đạt. Chạy cùng split, normalizer, nhãn và ngân sách lựa chọn. Đánh giá chính MAE macro theo cell, thêm sai số cuối đời và vi phạm đơn điệu chuẩn hoá theo độ dài.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Mọi đối chứng mới chạy trên đúng cv_split và pipeline v2 để so được trực tiếp với E13.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H1 (cùng 30 % nhãn): PINN-semi có MAE theo cell thấp hơn MLP, có ý nghĩa sau hiệu chỉnh Holm, trên 4/4 bộ (XJTU, TJU, MIT, HUST).</a:t>
            </a:r>
          </a:p>
          <a:p xmlns:a="http://schemas.openxmlformats.org/drawingml/2006/main">
            <a:r>
              <a:t>Phép t hiệu chỉnh ở mức fold (bảo thủ hơn, tính cả biến thiên do huấn luyện lại) chỉ xác nhận 1/4 bộ (MIT) — kết luận phụ thuộc đơn vị phân tích, nên phát biểu mạnh chỉ dành cho các bộ qua cả hai phép kiểm.</a:t>
            </a:r>
          </a:p>
          <a:p xmlns:a="http://schemas.openxmlformats.org/drawingml/2006/main">
            <a:r>
              <a:t>H2 (PINN-semi 30 % so với MLP 70 %, biên 10 %): không kém hơn trên 2/4 bộ (MIT, HUST).</a:t>
            </a:r>
          </a:p>
          <a:p xmlns:a="http://schemas.openxmlformats.org/drawingml/2006/main">
            <a:r>
              <a:t>Trên XJTU, TJU chưa chứng minh được tiết kiệm nhãn ở biên 10 %.</a:t>
            </a:r>
          </a:p>
          <a:p xmlns:a="http://schemas.openxmlformats.org/drawingml/2006/main">
            <a:r>
              <a:t>Với phép t mức fold, H2 chỉ đứng vững trên 1/4 bộ (MIT).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train.py physics/fit. Δt=(cycle2−cycle1)/1000 dùng chỉ số chu kỳ gốc. h_min/h_max hiện là offset hàng. Range có thêm fresh prior mà template cũ chưa ghi. Warmup vòng fit bắt đầu step1.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Wang et al. (2024), Nature Communications 15, 4332. https://doi.org/10.1038/s41467-024-48779-z</a:t>
            </a:r>
          </a:p>
          <a:p xmlns:a="http://schemas.openxmlformats.org/drawingml/2006/main">
            <a:r>
              <a:t>Lakens (2017), https://doi.org/10.1177/1948550617697177</a:t>
            </a:r>
          </a:p>
          <a:p xmlns:a="http://schemas.openxmlformats.org/drawingml/2006/main">
            <a:r>
              <a:t>Nguồn dự án: pinn-soh-code.zip, du-lieu-*.zip, ket-qua-*.zip. Mẫu bố cục: DACN_16_09_Group 15.pdf. Lưu ý tổng1387 gồm24SCALE, không phải1387 thí nghiệm độc lập.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Điểm khác so với E1–E12: đơn vị phân tích là cell, mỗi cell được test đúng một lần mỗi lần lặp, nên không còn chuyện các seed chồng lấp cell test.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H1 (cùng 30 % nhãn): PINN-semi có MAE theo cell thấp hơn MLP, có ý nghĩa sau hiệu chỉnh Holm, trên 4/4 bộ (XJTU, TJU, MIT, HUST). Phép t hiệu chỉnh ở mức fold (bảo thủ hơn, tính cả biến thiên do huấn luyện lại) chỉ xác nhận 1/4 bộ (MIT) — kết luận phụ thuộc đơn vị phân tích, nên phát biểu mạnh chỉ dành cho các bộ qua cả hai phép kiểm. H2 (PINN-semi 30 % so với MLP 70 %, biên 10 %): không kém hơn trên 2/4 bộ (MIT, HUST).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Đọc theo hàng: H1 và H2 là hai giả thuyết chính; các hàng dưới là so sánh thăm dò. Chấm = tỉ số MAE theo cell trung bình; vạch ngang = KTC 95 % bootstrap theo cell (H2: KTC 90 %). Xanh = tốt hơn có ý nghĩa sau Holm; cam = tệ hơn có ý nghĩa; xám = chưa đủ bằng chứng. Vạch dọc liền tại 1 = ngang nhau; vạch đứt tại 1,10 = biên không kém hơn của H2.</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Dải = KTC 95 % bootstrap theo cell; vạch đứt ngang = MLP dùng 70 % nhãn (mốc của H2); trục dọc thang log. Kiểm định chéo 5 fold × 5 lần lặp, pipeline v2.</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chấm là một cell (MAE trung bình 5 lần lặp); dưới đường chéo, màu xanh lục = PINN-semi sai số thấp hơn. Tỉ lệ cell PINN-semi thấp hơn: XJTU 65 %, TJU 68 %, MIT 82 %, HUST 71 %.</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Cell có MAE của MLP 30 % đúng trung vị mỗi bộ (quy tắc chọn không phụ thuộc PINN), lần lặp 0. MAE ×10⁻³ (MLP 30 % / PINN-semi 30 % / MLP 70 %) — XJTU R3_battery-1: 10,6 / 8,2 / 16,2; TJU CY25-05_1-#16: 9,0 / 10,2 / 5,0; MIT 2017-05-12_battery-34: 2,6 / 3,8 / 2,3; HUST 2-8: 17,5 / 10,0 / 15,7.</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E14 trả lời lưu ý ở slide 15: chênh lệch E5 có còn khi bỏ khác biệt normalizer.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17a4e4852f204d22"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e32bab2fb96496e" Type="http://schemas.openxmlformats.org/officeDocument/2006/relationships/theme" Target="theme/theme2.xml"/><Relationship Id="Rf73ea25edfaa4493" Type="http://schemas.openxmlformats.org/officeDocument/2006/relationships/slideLayout" Target="../slideLayouts/slideLayout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73ea25edfaa449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1cb7eb55322849fc" Type="http://schemas.openxmlformats.org/officeDocument/2006/relationships/notesSlide" Target="../notesSlides/notesSlide1.xml"/><Relationship Id="R25cf6b758bc74db5" Type="http://schemas.openxmlformats.org/officeDocument/2006/relationships/image" Target="../media/image.png"/><Relationship Id="Rd17197143e8f48ed" Type="http://schemas.openxmlformats.org/officeDocument/2006/relationships/image" Target="../media/image2.png"/><Relationship Id="Re00d6b0aa60a4e62" Type="http://schemas.openxmlformats.org/officeDocument/2006/relationships/slideLayout" Target="../slideLayouts/slideLayout1.xml"/><Relationship Id="Recaf59b52a634569" Type="http://schemas.openxmlformats.org/officeDocument/2006/relationships/image" Target="../media/image3.png"/></Relationships>
</file>

<file path=ppt/slides/_rels/slide2.xml.rels><?xml version='1.0' encoding='UTF-8' standalone='yes'?>
<Relationships xmlns="http://schemas.openxmlformats.org/package/2006/relationships"><Relationship Id="Re4ef2a39df4a4a36" Type="http://schemas.openxmlformats.org/officeDocument/2006/relationships/slideLayout" Target="../slideLayouts/slideLayout1.xml"/><Relationship Id="Red0b7fe49c97453d" Type="http://schemas.openxmlformats.org/officeDocument/2006/relationships/notesSlide" Target="../notesSlides/notesSlide2.xml"/><Relationship Id="Rff9a0fd670da4fdb" Type="http://schemas.openxmlformats.org/officeDocument/2006/relationships/image" Target="../media/image4.png"/></Relationships>
</file>

<file path=ppt/slides/_rels/slide3.xml.rels><?xml version='1.0' encoding='UTF-8' standalone='yes'?>
<Relationships xmlns="http://schemas.openxmlformats.org/package/2006/relationships"><Relationship Id="R956788ff69f74a0f" Type="http://schemas.openxmlformats.org/officeDocument/2006/relationships/image" Target="../media/image5.png"/><Relationship Id="R9aff9f9be4794a3e" Type="http://schemas.openxmlformats.org/officeDocument/2006/relationships/slideLayout" Target="../slideLayouts/slideLayout1.xml"/><Relationship Id="Rddb5cef704cc4c7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a0bb56be8ed94a25" Type="http://schemas.openxmlformats.org/officeDocument/2006/relationships/image" Target="../media/image6.png"/><Relationship Id="Rd561b643ee704f19" Type="http://schemas.openxmlformats.org/officeDocument/2006/relationships/notesSlide" Target="../notesSlides/notesSlide4.xml"/><Relationship Id="Rec70c58f579142ef"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2d2d839b61c04873" Type="http://schemas.openxmlformats.org/officeDocument/2006/relationships/image" Target="../media/image7.png"/><Relationship Id="R610fe496793e45af" Type="http://schemas.openxmlformats.org/officeDocument/2006/relationships/slideLayout" Target="../slideLayouts/slideLayout1.xml"/><Relationship Id="R9019fda5a2b54f2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1a0bd487a4be424b" Type="http://schemas.openxmlformats.org/officeDocument/2006/relationships/image" Target="../media/image8.png"/><Relationship Id="R218f0909b118474c" Type="http://schemas.openxmlformats.org/officeDocument/2006/relationships/slideLayout" Target="../slideLayouts/slideLayout1.xml"/><Relationship Id="R59c5fe1caade4ca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4015739e4ec540bc" Type="http://schemas.openxmlformats.org/officeDocument/2006/relationships/image" Target="../media/image9.png"/><Relationship Id="R44b0438247a5403d" Type="http://schemas.openxmlformats.org/officeDocument/2006/relationships/slideLayout" Target="../slideLayouts/slideLayout1.xml"/><Relationship Id="R9bc7ca9dffcd483a"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a7cdcbe13b4849d3" Type="http://schemas.openxmlformats.org/officeDocument/2006/relationships/image" Target="../media/image10.png"/><Relationship Id="Rb02c22baef0b47ea" Type="http://schemas.openxmlformats.org/officeDocument/2006/relationships/slideLayout" Target="../slideLayouts/slideLayout1.xml"/><Relationship Id="Re320e35bf88045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021282899c8e4014" Type="http://schemas.openxmlformats.org/officeDocument/2006/relationships/notesSlide" Target="../notesSlides/notesSlide9.xml"/><Relationship Id="R27b50330d6c34533" Type="http://schemas.openxmlformats.org/officeDocument/2006/relationships/slideLayout" Target="../slideLayouts/slideLayout1.xml"/><Relationship Id="R33588d80f65748f5" Type="http://schemas.openxmlformats.org/officeDocument/2006/relationships/chart" Target="charts/chart1.xml"/><Relationship Id="R7ec20149fc474e5e" Type="http://schemas.openxmlformats.org/officeDocument/2006/relationships/image" Target="../media/image11.png"/></Relationships>
</file>

<file path=ppt/slides/_rels/slide10.xml.rels><?xml version='1.0' encoding='UTF-8' standalone='yes'?>
<Relationships xmlns="http://schemas.openxmlformats.org/package/2006/relationships"><Relationship Id="R82acf530798b4330" Type="http://schemas.openxmlformats.org/officeDocument/2006/relationships/image" Target="../media/image12.png"/><Relationship Id="R8f9b07baf13e4ed0" Type="http://schemas.openxmlformats.org/officeDocument/2006/relationships/notesSlide" Target="../notesSlides/notesSlide10.xml"/><Relationship Id="R9bba4a4413ea4bae" Type="http://schemas.openxmlformats.org/officeDocument/2006/relationships/chart" Target="charts/chart2.xml"/><Relationship Id="Rd9aec25a29ff47ee"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0fb7916272534204" Type="http://schemas.openxmlformats.org/officeDocument/2006/relationships/notesSlide" Target="../notesSlides/notesSlide11.xml"/><Relationship Id="R33359c2e262542bc" Type="http://schemas.openxmlformats.org/officeDocument/2006/relationships/image" Target="../media/image13.png"/><Relationship Id="Rf86b284ab6f4447f"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11d6dca4cfbb4bfd" Type="http://schemas.openxmlformats.org/officeDocument/2006/relationships/chart" Target="charts/chart3.xml"/><Relationship Id="R35e0b4f376f14241" Type="http://schemas.openxmlformats.org/officeDocument/2006/relationships/slideLayout" Target="../slideLayouts/slideLayout1.xml"/><Relationship Id="R5a3cc0c87fa3467d" Type="http://schemas.openxmlformats.org/officeDocument/2006/relationships/chart" Target="charts/chart4.xml"/><Relationship Id="Rc61416e06f994697" Type="http://schemas.openxmlformats.org/officeDocument/2006/relationships/notesSlide" Target="../notesSlides/notesSlide12.xml"/><Relationship Id="Rda4f806f53cc4a02" Type="http://schemas.openxmlformats.org/officeDocument/2006/relationships/image" Target="../media/image14.png"/></Relationships>
</file>

<file path=ppt/slides/_rels/slide13.xml.rels><?xml version='1.0' encoding='UTF-8' standalone='yes'?>
<Relationships xmlns="http://schemas.openxmlformats.org/package/2006/relationships"><Relationship Id="R0800aee9c9e24750" Type="http://schemas.openxmlformats.org/officeDocument/2006/relationships/chart" Target="charts/chart6.xml"/><Relationship Id="R2bc28dcce3d345e6" Type="http://schemas.openxmlformats.org/officeDocument/2006/relationships/image" Target="../media/image15.png"/><Relationship Id="R599f02af2e524686" Type="http://schemas.openxmlformats.org/officeDocument/2006/relationships/slideLayout" Target="../slideLayouts/slideLayout1.xml"/><Relationship Id="R96becd0a56284dea" Type="http://schemas.openxmlformats.org/officeDocument/2006/relationships/chart" Target="charts/chart5.xml"/><Relationship Id="Rcf1c188913054c9f"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6d799af93f6e47b7" Type="http://schemas.openxmlformats.org/officeDocument/2006/relationships/notesSlide" Target="../notesSlides/notesSlide14.xml"/><Relationship Id="Ra818d77d60bb4cff" Type="http://schemas.openxmlformats.org/officeDocument/2006/relationships/image" Target="../media/image16.png"/><Relationship Id="Rbce08251d52244a4"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4f1c875bfa6d4eaa" Type="http://schemas.openxmlformats.org/officeDocument/2006/relationships/slideLayout" Target="../slideLayouts/slideLayout1.xml"/><Relationship Id="Re4bf465dae9b43c4" Type="http://schemas.openxmlformats.org/officeDocument/2006/relationships/notesSlide" Target="../notesSlides/notesSlide15.xml"/><Relationship Id="Reeee4d67164f4813" Type="http://schemas.openxmlformats.org/officeDocument/2006/relationships/image" Target="../media/image17.png"/></Relationships>
</file>

<file path=ppt/slides/_rels/slide16.xml.rels><?xml version='1.0' encoding='UTF-8' standalone='yes'?>
<Relationships xmlns="http://schemas.openxmlformats.org/package/2006/relationships"><Relationship Id="R2e15b1f345fc4c86" Type="http://schemas.openxmlformats.org/officeDocument/2006/relationships/notesSlide" Target="../notesSlides/notesSlide16.xml"/><Relationship Id="R4956c15bdda14a09" Type="http://schemas.openxmlformats.org/officeDocument/2006/relationships/slideLayout" Target="../slideLayouts/slideLayout1.xml"/><Relationship Id="Rc23976f9db50440a" Type="http://schemas.openxmlformats.org/officeDocument/2006/relationships/image" Target="../media/image18.png"/></Relationships>
</file>

<file path=ppt/slides/_rels/slide17.xml.rels><?xml version='1.0' encoding='UTF-8' standalone='yes'?>
<Relationships xmlns="http://schemas.openxmlformats.org/package/2006/relationships"><Relationship Id="R26ee63661d61432f" Type="http://schemas.openxmlformats.org/officeDocument/2006/relationships/notesSlide" Target="../notesSlides/notesSlide17.xml"/><Relationship Id="R3dc42d25f61448ed" Type="http://schemas.openxmlformats.org/officeDocument/2006/relationships/image" Target="../media/image19.png"/><Relationship Id="R75759fb048564d9e"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668eb224328648d6" Type="http://schemas.openxmlformats.org/officeDocument/2006/relationships/slideLayout" Target="../slideLayouts/slideLayout1.xml"/><Relationship Id="Rd4e9de7fb8c54f67" Type="http://schemas.openxmlformats.org/officeDocument/2006/relationships/notesSlide" Target="../notesSlides/notesSlide18.xml"/><Relationship Id="Re49deedc8b9c4300" Type="http://schemas.openxmlformats.org/officeDocument/2006/relationships/image" Target="../media/image20.png"/></Relationships>
</file>

<file path=ppt/slides/_rels/slide19.xml.rels><?xml version='1.0' encoding='UTF-8' standalone='yes'?>
<Relationships xmlns="http://schemas.openxmlformats.org/package/2006/relationships"><Relationship Id="R0cc8117956eb4ca6" Type="http://schemas.openxmlformats.org/officeDocument/2006/relationships/notesSlide" Target="../notesSlides/notesSlide19.xml"/><Relationship Id="R4e772653f8e2463b" Type="http://schemas.openxmlformats.org/officeDocument/2006/relationships/image" Target="../media/image21.png"/><Relationship Id="R55799cfab49a41f9"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44495358526844c5" Type="http://schemas.openxmlformats.org/officeDocument/2006/relationships/notesSlide" Target="../notesSlides/notesSlide20.xml"/><Relationship Id="Rb65fa5fd4c474f73" Type="http://schemas.openxmlformats.org/officeDocument/2006/relationships/image" Target="../media/image22.png"/><Relationship Id="Rf871950e548d4673"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07079feee7454879" Type="http://schemas.openxmlformats.org/officeDocument/2006/relationships/image" Target="../media/image23.png"/><Relationship Id="R4bf901e3684440f7" Type="http://schemas.openxmlformats.org/officeDocument/2006/relationships/notesSlide" Target="../notesSlides/notesSlide21.xml"/><Relationship Id="Rd46bbde083404c17"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220fc3f7d75c44c2" Type="http://schemas.openxmlformats.org/officeDocument/2006/relationships/image" Target="../media/image24.png"/><Relationship Id="R3b7c84726bf64b06" Type="http://schemas.openxmlformats.org/officeDocument/2006/relationships/slideLayout" Target="../slideLayouts/slideLayout1.xml"/><Relationship Id="Rc8b54088f16c4c71"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png"/><Relationship Id="rId3" Type="http://schemas.openxmlformats.org/officeDocument/2006/relationships/image" Target="../media/image1.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png"/><Relationship Id="rId3" Type="http://schemas.openxmlformats.org/officeDocument/2006/relationships/image" Target="../media/image25.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png"/><Relationship Id="rId3" Type="http://schemas.openxmlformats.org/officeDocument/2006/relationships/image" Target="../media/image26.png"/><Relationship Id="rId4"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png"/><Relationship Id="rId3" Type="http://schemas.openxmlformats.org/officeDocument/2006/relationships/image" Target="../media/image27.png"/><Relationship Id="rId4"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png"/><Relationship Id="rId3"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png"/><Relationship Id="rId3" Type="http://schemas.openxmlformats.org/officeDocument/2006/relationships/image" Target="../media/image28.png"/></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3.xml.rels><?xml version='1.0' encoding='UTF-8' standalone='yes'?>
<Relationships xmlns="http://schemas.openxmlformats.org/package/2006/relationships"><Relationship Id="rIdChartSnapshot1" Type="http://schemas.openxmlformats.org/officeDocument/2006/relationships/package" Target="../../embeddings/chart-data-snapshot-003.xlsx"/></Relationships>
</file>

<file path=ppt/slides/charts/_rels/chart4.xml.rels><?xml version='1.0' encoding='UTF-8' standalone='yes'?>
<Relationships xmlns="http://schemas.openxmlformats.org/package/2006/relationships"><Relationship Id="rIdChartSnapshot1" Type="http://schemas.openxmlformats.org/officeDocument/2006/relationships/package" Target="../../embeddings/chart-data-snapshot-004.xlsx"/></Relationships>
</file>

<file path=ppt/slides/charts/_rels/chart5.xml.rels><?xml version='1.0' encoding='UTF-8' standalone='yes'?>
<Relationships xmlns="http://schemas.openxmlformats.org/package/2006/relationships"><Relationship Id="rIdChartSnapshot1" Type="http://schemas.openxmlformats.org/officeDocument/2006/relationships/package" Target="../../embeddings/chart-data-snapshot-005.xlsx"/></Relationships>
</file>

<file path=ppt/slides/charts/_rels/chart6.xml.rels><?xml version='1.0' encoding='UTF-8' standalone='yes'?>
<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MLP 30%</c:v>
          </c:tx>
          <c:spPr>
            <a:solidFill xmlns:a="http://schemas.openxmlformats.org/drawingml/2006/main">
              <a:srgbClr val="94B2C6"/>
            </a:solidFill>
          </c:spPr>
          <c:cat>
            <c:strRef>
              <c:f>'Chart Data'!$A$2:$A$5</c:f>
              <c:strCache>
                <c:ptCount val="4"/>
                <c:pt idx="0">
                  <c:v>XJTU</c:v>
                </c:pt>
                <c:pt idx="1">
                  <c:v>TJU</c:v>
                </c:pt>
                <c:pt idx="2">
                  <c:v>MIT</c:v>
                </c:pt>
                <c:pt idx="3">
                  <c:v>HUST</c:v>
                </c:pt>
              </c:strCache>
            </c:strRef>
          </c:cat>
          <c:val>
            <c:numRef>
              <c:f>'Chart Data'!$B$2:$B$5</c:f>
              <c:numCache>
                <c:formatCode>0.00</c:formatCode>
                <c:ptCount val="4"/>
                <c:pt idx="0">
                  <c:v>1.30439378</c:v>
                </c:pt>
                <c:pt idx="1">
                  <c:v>1.0385173</c:v>
                </c:pt>
                <c:pt idx="2">
                  <c:v>1.35250778</c:v>
                </c:pt>
                <c:pt idx="3">
                  <c:v>1.16644285</c:v>
                </c:pt>
              </c:numCache>
            </c:numRef>
          </c:val>
        </c:ser>
        <c:ser>
          <c:idx val="1"/>
          <c:order val="1"/>
          <c:tx>
            <c:v>PINN 30%</c:v>
          </c:tx>
          <c:spPr>
            <a:solidFill xmlns:a="http://schemas.openxmlformats.org/drawingml/2006/main">
              <a:srgbClr val="20567B"/>
            </a:solidFill>
          </c:spPr>
          <c:cat>
            <c:strRef>
              <c:f>'Chart Data'!$C$2:$C$5</c:f>
              <c:strCache>
                <c:ptCount val="4"/>
                <c:pt idx="0">
                  <c:v>XJTU</c:v>
                </c:pt>
                <c:pt idx="1">
                  <c:v>TJU</c:v>
                </c:pt>
                <c:pt idx="2">
                  <c:v>MIT</c:v>
                </c:pt>
                <c:pt idx="3">
                  <c:v>HUST</c:v>
                </c:pt>
              </c:strCache>
            </c:strRef>
          </c:cat>
          <c:val>
            <c:numRef>
              <c:f>'Chart Data'!$D$2:$D$5</c:f>
              <c:numCache>
                <c:formatCode>0.00</c:formatCode>
                <c:ptCount val="4"/>
                <c:pt idx="0">
                  <c:v>1.24965085</c:v>
                </c:pt>
                <c:pt idx="1">
                  <c:v>1.1693065</c:v>
                </c:pt>
                <c:pt idx="2">
                  <c:v>0.91225109</c:v>
                </c:pt>
                <c:pt idx="3">
                  <c:v>0.95983171</c:v>
                </c:pt>
              </c:numCache>
            </c:numRef>
          </c:val>
        </c:ser>
        <c:dLbls>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max val="1.6"/>
          <c:min val="0"/>
        </c:scaling>
        <c:delete val="0"/>
        <c:axPos val="l"/>
        <c:majorGridlines>
          <c:spPr>
            <a:ln xmlns:a="http://schemas.openxmlformats.org/drawingml/2006/main" w="7620">
              <a:solidFill>
                <a:srgbClr val="D8E1E6"/>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Tỉ số MAE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MLP</c:v>
          </c:tx>
          <c:spPr>
            <a:solidFill xmlns:a="http://schemas.openxmlformats.org/drawingml/2006/main">
              <a:srgbClr val="94B2C6"/>
            </a:solidFill>
          </c:spPr>
          <c:cat>
            <c:strRef>
              <c:f>'Chart Data'!$A$2:$A$5</c:f>
              <c:strCache>
                <c:ptCount val="4"/>
                <c:pt idx="0">
                  <c:v>XJTU</c:v>
                </c:pt>
                <c:pt idx="1">
                  <c:v>TJU</c:v>
                </c:pt>
                <c:pt idx="2">
                  <c:v>MIT</c:v>
                </c:pt>
                <c:pt idx="3">
                  <c:v>HUST</c:v>
                </c:pt>
              </c:strCache>
            </c:strRef>
          </c:cat>
          <c:val>
            <c:numRef>
              <c:f>'Chart Data'!$B$2:$B$5</c:f>
              <c:numCache>
                <c:formatCode>0.00</c:formatCode>
                <c:ptCount val="4"/>
                <c:pt idx="0">
                  <c:v>1.77733692</c:v>
                </c:pt>
                <c:pt idx="1">
                  <c:v>1.0508105</c:v>
                </c:pt>
                <c:pt idx="2">
                  <c:v>0.42230436</c:v>
                </c:pt>
                <c:pt idx="3">
                  <c:v>1.8291205</c:v>
                </c:pt>
              </c:numCache>
            </c:numRef>
          </c:val>
        </c:ser>
        <c:ser>
          <c:idx val="1"/>
          <c:order val="1"/>
          <c:tx>
            <c:v>PINN</c:v>
          </c:tx>
          <c:spPr>
            <a:solidFill xmlns:a="http://schemas.openxmlformats.org/drawingml/2006/main">
              <a:srgbClr val="20567B"/>
            </a:solidFill>
          </c:spPr>
          <c:cat>
            <c:strRef>
              <c:f>'Chart Data'!$C$2:$C$5</c:f>
              <c:strCache>
                <c:ptCount val="4"/>
                <c:pt idx="0">
                  <c:v>XJTU</c:v>
                </c:pt>
                <c:pt idx="1">
                  <c:v>TJU</c:v>
                </c:pt>
                <c:pt idx="2">
                  <c:v>MIT</c:v>
                </c:pt>
                <c:pt idx="3">
                  <c:v>HUST</c:v>
                </c:pt>
              </c:strCache>
            </c:strRef>
          </c:cat>
          <c:val>
            <c:numRef>
              <c:f>'Chart Data'!$D$2:$D$5</c:f>
              <c:numCache>
                <c:formatCode>0.00</c:formatCode>
                <c:ptCount val="4"/>
                <c:pt idx="0">
                  <c:v>1.376215</c:v>
                </c:pt>
                <c:pt idx="1">
                  <c:v>1.02915092</c:v>
                </c:pt>
                <c:pt idx="2">
                  <c:v>0.30429314</c:v>
                </c:pt>
                <c:pt idx="3">
                  <c:v>1.64818532</c:v>
                </c:pt>
              </c:numCache>
            </c:numRef>
          </c:val>
        </c:ser>
        <c:dLbls>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max val="2.2"/>
          <c:min val="0"/>
        </c:scaling>
        <c:delete val="0"/>
        <c:axPos val="l"/>
        <c:majorGridlines>
          <c:spPr>
            <a:ln xmlns:a="http://schemas.openxmlformats.org/drawingml/2006/main" w="7620">
              <a:solidFill>
                <a:srgbClr val="D8E1E6"/>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Điểm phần trăm SOH</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Thực tế</c:v>
          </c:tx>
          <c:spPr>
            <a:solidFill xmlns:a="http://schemas.openxmlformats.org/drawingml/2006/main">
              <a:srgbClr val="222222"/>
            </a:solidFill>
            <a:ln xmlns:a="http://schemas.openxmlformats.org/drawingml/2006/main" w="19050">
              <a:solidFill>
                <a:srgbClr val="222222"/>
              </a:solidFill>
            </a:ln>
          </c:spPr>
          <c:xVal>
            <c:numRef>
              <c:f>'Chart Data'!$A$2:$A$75</c:f>
              <c:numCache>
                <c:formatCode>General</c:formatCode>
                <c:ptCount val="74"/>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271</c:v>
                </c:pt>
                <c:pt idx="55">
                  <c:v>276</c:v>
                </c:pt>
                <c:pt idx="56">
                  <c:v>286</c:v>
                </c:pt>
                <c:pt idx="57">
                  <c:v>293</c:v>
                </c:pt>
                <c:pt idx="58">
                  <c:v>300</c:v>
                </c:pt>
                <c:pt idx="59">
                  <c:v>305</c:v>
                </c:pt>
                <c:pt idx="60">
                  <c:v>311</c:v>
                </c:pt>
                <c:pt idx="61">
                  <c:v>319</c:v>
                </c:pt>
                <c:pt idx="62">
                  <c:v>326</c:v>
                </c:pt>
                <c:pt idx="63">
                  <c:v>333</c:v>
                </c:pt>
                <c:pt idx="64">
                  <c:v>341</c:v>
                </c:pt>
                <c:pt idx="65">
                  <c:v>346</c:v>
                </c:pt>
                <c:pt idx="66">
                  <c:v>353</c:v>
                </c:pt>
                <c:pt idx="67">
                  <c:v>359</c:v>
                </c:pt>
                <c:pt idx="68">
                  <c:v>364</c:v>
                </c:pt>
                <c:pt idx="69">
                  <c:v>369</c:v>
                </c:pt>
                <c:pt idx="70">
                  <c:v>374</c:v>
                </c:pt>
                <c:pt idx="71">
                  <c:v>379</c:v>
                </c:pt>
                <c:pt idx="72">
                  <c:v>385</c:v>
                </c:pt>
                <c:pt idx="73">
                  <c:v>392</c:v>
                </c:pt>
              </c:numCache>
            </c:numRef>
          </c:xVal>
          <c:yVal>
            <c:numRef>
              <c:f>'Chart Data'!$B$2:$B$75</c:f>
              <c:numCache>
                <c:formatCode>0.00</c:formatCode>
                <c:ptCount val="74"/>
                <c:pt idx="0">
                  <c:v>0.96899998</c:v>
                </c:pt>
                <c:pt idx="1">
                  <c:v>0.97500002</c:v>
                </c:pt>
                <c:pt idx="2">
                  <c:v>0.98049998</c:v>
                </c:pt>
                <c:pt idx="3">
                  <c:v>0.98250002</c:v>
                </c:pt>
                <c:pt idx="4">
                  <c:v>0.98449999</c:v>
                </c:pt>
                <c:pt idx="5">
                  <c:v>0.98500001</c:v>
                </c:pt>
                <c:pt idx="6">
                  <c:v>0.98500001</c:v>
                </c:pt>
                <c:pt idx="7">
                  <c:v>0.98549998</c:v>
                </c:pt>
                <c:pt idx="8">
                  <c:v>0.98449999</c:v>
                </c:pt>
                <c:pt idx="9">
                  <c:v>0.98500001</c:v>
                </c:pt>
                <c:pt idx="10">
                  <c:v>0.9835</c:v>
                </c:pt>
                <c:pt idx="11">
                  <c:v>0.98500001</c:v>
                </c:pt>
                <c:pt idx="12">
                  <c:v>0.98250002</c:v>
                </c:pt>
                <c:pt idx="13">
                  <c:v>0.98400003</c:v>
                </c:pt>
                <c:pt idx="14">
                  <c:v>0.98250002</c:v>
                </c:pt>
                <c:pt idx="15">
                  <c:v>0.98100001</c:v>
                </c:pt>
                <c:pt idx="16">
                  <c:v>0.98150003</c:v>
                </c:pt>
                <c:pt idx="17">
                  <c:v>0.97899997</c:v>
                </c:pt>
                <c:pt idx="18">
                  <c:v>0.97799999</c:v>
                </c:pt>
                <c:pt idx="19">
                  <c:v>0.97649997</c:v>
                </c:pt>
                <c:pt idx="20">
                  <c:v>0.97649997</c:v>
                </c:pt>
                <c:pt idx="21">
                  <c:v>0.97549999</c:v>
                </c:pt>
                <c:pt idx="22">
                  <c:v>0.97399998</c:v>
                </c:pt>
                <c:pt idx="23">
                  <c:v>0.97500002</c:v>
                </c:pt>
                <c:pt idx="24">
                  <c:v>0.97350001</c:v>
                </c:pt>
                <c:pt idx="25">
                  <c:v>0.97299999</c:v>
                </c:pt>
                <c:pt idx="26">
                  <c:v>0.972</c:v>
                </c:pt>
                <c:pt idx="27">
                  <c:v>0.97000003</c:v>
                </c:pt>
                <c:pt idx="28">
                  <c:v>0.97100002</c:v>
                </c:pt>
                <c:pt idx="29">
                  <c:v>0.96950001</c:v>
                </c:pt>
                <c:pt idx="30">
                  <c:v>0.97299999</c:v>
                </c:pt>
                <c:pt idx="31">
                  <c:v>0.97000003</c:v>
                </c:pt>
                <c:pt idx="32">
                  <c:v>0.96850002</c:v>
                </c:pt>
                <c:pt idx="33">
                  <c:v>0.96799999</c:v>
                </c:pt>
                <c:pt idx="34">
                  <c:v>0.96600002</c:v>
                </c:pt>
                <c:pt idx="35">
                  <c:v>0.96450001</c:v>
                </c:pt>
                <c:pt idx="36">
                  <c:v>0.96350002</c:v>
                </c:pt>
                <c:pt idx="37">
                  <c:v>0.96200001</c:v>
                </c:pt>
                <c:pt idx="38">
                  <c:v>0.96100003</c:v>
                </c:pt>
                <c:pt idx="39">
                  <c:v>0.95899999</c:v>
                </c:pt>
                <c:pt idx="40">
                  <c:v>0.95649999</c:v>
                </c:pt>
                <c:pt idx="41">
                  <c:v>0.95499998</c:v>
                </c:pt>
                <c:pt idx="42">
                  <c:v>0.95249999</c:v>
                </c:pt>
                <c:pt idx="43">
                  <c:v>0.94950002</c:v>
                </c:pt>
                <c:pt idx="44">
                  <c:v>0.94599998</c:v>
                </c:pt>
                <c:pt idx="45">
                  <c:v>0.94199997</c:v>
                </c:pt>
                <c:pt idx="46">
                  <c:v>0.93849999</c:v>
                </c:pt>
                <c:pt idx="47">
                  <c:v>0.93550003</c:v>
                </c:pt>
                <c:pt idx="48">
                  <c:v>0.93400002</c:v>
                </c:pt>
                <c:pt idx="49">
                  <c:v>0.93000001</c:v>
                </c:pt>
                <c:pt idx="50">
                  <c:v>0.92799997</c:v>
                </c:pt>
                <c:pt idx="51">
                  <c:v>0.92500001</c:v>
                </c:pt>
                <c:pt idx="52">
                  <c:v>0.92250001</c:v>
                </c:pt>
                <c:pt idx="53">
                  <c:v>0.92049998</c:v>
                </c:pt>
                <c:pt idx="54">
                  <c:v>0.91850001</c:v>
                </c:pt>
                <c:pt idx="55">
                  <c:v>0.9145</c:v>
                </c:pt>
                <c:pt idx="56">
                  <c:v>0.90850002</c:v>
                </c:pt>
                <c:pt idx="57">
                  <c:v>0.90200001</c:v>
                </c:pt>
                <c:pt idx="58">
                  <c:v>0.89950001</c:v>
                </c:pt>
                <c:pt idx="59">
                  <c:v>0.89499998</c:v>
                </c:pt>
                <c:pt idx="60">
                  <c:v>0.88749999</c:v>
                </c:pt>
                <c:pt idx="61">
                  <c:v>0.87849998</c:v>
                </c:pt>
                <c:pt idx="62">
                  <c:v>0.87</c:v>
                </c:pt>
                <c:pt idx="63">
                  <c:v>0.861</c:v>
                </c:pt>
                <c:pt idx="64">
                  <c:v>0.852</c:v>
                </c:pt>
                <c:pt idx="65">
                  <c:v>0.84799999</c:v>
                </c:pt>
                <c:pt idx="66">
                  <c:v>0.84100002</c:v>
                </c:pt>
                <c:pt idx="67">
                  <c:v>0.83649999</c:v>
                </c:pt>
                <c:pt idx="68">
                  <c:v>0.83050001</c:v>
                </c:pt>
                <c:pt idx="69">
                  <c:v>0.82800001</c:v>
                </c:pt>
                <c:pt idx="70">
                  <c:v>0.82050002</c:v>
                </c:pt>
                <c:pt idx="71">
                  <c:v>0.81550002</c:v>
                </c:pt>
                <c:pt idx="72">
                  <c:v>0.80949998</c:v>
                </c:pt>
                <c:pt idx="73">
                  <c:v>0.80199999</c:v>
                </c:pt>
              </c:numCache>
            </c:numRef>
          </c:yVal>
        </c:ser>
        <c:ser>
          <c:idx val="1"/>
          <c:order val="1"/>
          <c:tx>
            <c:v>MLP</c:v>
          </c:tx>
          <c:spPr>
            <a:solidFill xmlns:a="http://schemas.openxmlformats.org/drawingml/2006/main">
              <a:srgbClr val="95B4C8"/>
            </a:solidFill>
            <a:ln xmlns:a="http://schemas.openxmlformats.org/drawingml/2006/main" w="14288">
              <a:solidFill>
                <a:srgbClr val="95B4C8"/>
              </a:solidFill>
            </a:ln>
          </c:spPr>
          <c:xVal>
            <c:numRef>
              <c:f>'Chart Data'!$C$2:$C$75</c:f>
              <c:numCache>
                <c:formatCode>General</c:formatCode>
                <c:ptCount val="74"/>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271</c:v>
                </c:pt>
                <c:pt idx="55">
                  <c:v>276</c:v>
                </c:pt>
                <c:pt idx="56">
                  <c:v>286</c:v>
                </c:pt>
                <c:pt idx="57">
                  <c:v>293</c:v>
                </c:pt>
                <c:pt idx="58">
                  <c:v>300</c:v>
                </c:pt>
                <c:pt idx="59">
                  <c:v>305</c:v>
                </c:pt>
                <c:pt idx="60">
                  <c:v>311</c:v>
                </c:pt>
                <c:pt idx="61">
                  <c:v>319</c:v>
                </c:pt>
                <c:pt idx="62">
                  <c:v>326</c:v>
                </c:pt>
                <c:pt idx="63">
                  <c:v>333</c:v>
                </c:pt>
                <c:pt idx="64">
                  <c:v>341</c:v>
                </c:pt>
                <c:pt idx="65">
                  <c:v>346</c:v>
                </c:pt>
                <c:pt idx="66">
                  <c:v>353</c:v>
                </c:pt>
                <c:pt idx="67">
                  <c:v>359</c:v>
                </c:pt>
                <c:pt idx="68">
                  <c:v>364</c:v>
                </c:pt>
                <c:pt idx="69">
                  <c:v>369</c:v>
                </c:pt>
                <c:pt idx="70">
                  <c:v>374</c:v>
                </c:pt>
                <c:pt idx="71">
                  <c:v>379</c:v>
                </c:pt>
                <c:pt idx="72">
                  <c:v>385</c:v>
                </c:pt>
                <c:pt idx="73">
                  <c:v>392</c:v>
                </c:pt>
              </c:numCache>
            </c:numRef>
          </c:xVal>
          <c:yVal>
            <c:numRef>
              <c:f>'Chart Data'!$D$2:$D$75</c:f>
              <c:numCache>
                <c:formatCode>0.00</c:formatCode>
                <c:ptCount val="74"/>
                <c:pt idx="0">
                  <c:v>0.96952307</c:v>
                </c:pt>
                <c:pt idx="1">
                  <c:v>0.97396713</c:v>
                </c:pt>
                <c:pt idx="2">
                  <c:v>0.97635037</c:v>
                </c:pt>
                <c:pt idx="3">
                  <c:v>0.97849458</c:v>
                </c:pt>
                <c:pt idx="4">
                  <c:v>0.98535556</c:v>
                </c:pt>
                <c:pt idx="5">
                  <c:v>0.9906494</c:v>
                </c:pt>
                <c:pt idx="6">
                  <c:v>0.98341155</c:v>
                </c:pt>
                <c:pt idx="7">
                  <c:v>0.97993803</c:v>
                </c:pt>
                <c:pt idx="8">
                  <c:v>0.98550713</c:v>
                </c:pt>
                <c:pt idx="9">
                  <c:v>0.98783165</c:v>
                </c:pt>
                <c:pt idx="10">
                  <c:v>0.98386371</c:v>
                </c:pt>
                <c:pt idx="11">
                  <c:v>0.99001592</c:v>
                </c:pt>
                <c:pt idx="12">
                  <c:v>0.98483527</c:v>
                </c:pt>
                <c:pt idx="13">
                  <c:v>0.98884737</c:v>
                </c:pt>
                <c:pt idx="14">
                  <c:v>0.98551929</c:v>
                </c:pt>
                <c:pt idx="15">
                  <c:v>0.98317975</c:v>
                </c:pt>
                <c:pt idx="16">
                  <c:v>0.98903006</c:v>
                </c:pt>
                <c:pt idx="17">
                  <c:v>0.98632288</c:v>
                </c:pt>
                <c:pt idx="18">
                  <c:v>0.98447591</c:v>
                </c:pt>
                <c:pt idx="19">
                  <c:v>0.9851042</c:v>
                </c:pt>
                <c:pt idx="20">
                  <c:v>0.98538613</c:v>
                </c:pt>
                <c:pt idx="21">
                  <c:v>0.97957689</c:v>
                </c:pt>
                <c:pt idx="22">
                  <c:v>0.97863376</c:v>
                </c:pt>
                <c:pt idx="23">
                  <c:v>0.97962296</c:v>
                </c:pt>
                <c:pt idx="24">
                  <c:v>0.97857243</c:v>
                </c:pt>
                <c:pt idx="25">
                  <c:v>0.97868001</c:v>
                </c:pt>
                <c:pt idx="26">
                  <c:v>0.97245818</c:v>
                </c:pt>
                <c:pt idx="27">
                  <c:v>0.97752881</c:v>
                </c:pt>
                <c:pt idx="28">
                  <c:v>0.98330808</c:v>
                </c:pt>
                <c:pt idx="29">
                  <c:v>0.97443759</c:v>
                </c:pt>
                <c:pt idx="30">
                  <c:v>0.98601264</c:v>
                </c:pt>
                <c:pt idx="31">
                  <c:v>0.97314876</c:v>
                </c:pt>
                <c:pt idx="32">
                  <c:v>0.97564149</c:v>
                </c:pt>
                <c:pt idx="33">
                  <c:v>0.97714806</c:v>
                </c:pt>
                <c:pt idx="34">
                  <c:v>0.96737754</c:v>
                </c:pt>
                <c:pt idx="35">
                  <c:v>0.96377343</c:v>
                </c:pt>
                <c:pt idx="36">
                  <c:v>0.96696931</c:v>
                </c:pt>
                <c:pt idx="37">
                  <c:v>0.96550369</c:v>
                </c:pt>
                <c:pt idx="38">
                  <c:v>0.96446735</c:v>
                </c:pt>
                <c:pt idx="39">
                  <c:v>0.96021032</c:v>
                </c:pt>
                <c:pt idx="40">
                  <c:v>0.95482248</c:v>
                </c:pt>
                <c:pt idx="41">
                  <c:v>0.96238589</c:v>
                </c:pt>
                <c:pt idx="42">
                  <c:v>0.9523133</c:v>
                </c:pt>
                <c:pt idx="43">
                  <c:v>0.944942</c:v>
                </c:pt>
                <c:pt idx="44">
                  <c:v>0.94070607</c:v>
                </c:pt>
                <c:pt idx="45">
                  <c:v>0.93018126</c:v>
                </c:pt>
                <c:pt idx="46">
                  <c:v>0.92655921</c:v>
                </c:pt>
                <c:pt idx="47">
                  <c:v>0.91988426</c:v>
                </c:pt>
                <c:pt idx="48">
                  <c:v>0.92292482</c:v>
                </c:pt>
                <c:pt idx="49">
                  <c:v>0.91514105</c:v>
                </c:pt>
                <c:pt idx="50">
                  <c:v>0.90768921</c:v>
                </c:pt>
                <c:pt idx="51">
                  <c:v>0.90099657</c:v>
                </c:pt>
                <c:pt idx="52">
                  <c:v>0.89530927</c:v>
                </c:pt>
                <c:pt idx="53">
                  <c:v>0.90658873</c:v>
                </c:pt>
                <c:pt idx="54">
                  <c:v>0.8931967</c:v>
                </c:pt>
                <c:pt idx="55">
                  <c:v>0.8946442</c:v>
                </c:pt>
                <c:pt idx="56">
                  <c:v>0.89874238</c:v>
                </c:pt>
                <c:pt idx="57">
                  <c:v>0.87649387</c:v>
                </c:pt>
                <c:pt idx="58">
                  <c:v>0.89695114</c:v>
                </c:pt>
                <c:pt idx="59">
                  <c:v>0.88348341</c:v>
                </c:pt>
                <c:pt idx="60">
                  <c:v>0.8711285</c:v>
                </c:pt>
                <c:pt idx="61">
                  <c:v>0.87203181</c:v>
                </c:pt>
                <c:pt idx="62">
                  <c:v>0.85201591</c:v>
                </c:pt>
                <c:pt idx="63">
                  <c:v>0.85488701</c:v>
                </c:pt>
                <c:pt idx="64">
                  <c:v>0.83442783</c:v>
                </c:pt>
                <c:pt idx="65">
                  <c:v>0.84075099</c:v>
                </c:pt>
                <c:pt idx="66">
                  <c:v>0.81156409</c:v>
                </c:pt>
                <c:pt idx="67">
                  <c:v>0.83326948</c:v>
                </c:pt>
                <c:pt idx="68">
                  <c:v>0.82405829</c:v>
                </c:pt>
                <c:pt idx="69">
                  <c:v>0.82153416</c:v>
                </c:pt>
                <c:pt idx="70">
                  <c:v>0.80525136</c:v>
                </c:pt>
                <c:pt idx="71">
                  <c:v>0.8084324</c:v>
                </c:pt>
                <c:pt idx="72">
                  <c:v>0.81004584</c:v>
                </c:pt>
                <c:pt idx="73">
                  <c:v>0.79710454</c:v>
                </c:pt>
              </c:numCache>
            </c:numRef>
          </c:yVal>
        </c:ser>
        <c:ser>
          <c:idx val="2"/>
          <c:order val="2"/>
          <c:tx>
            <c:v>PINN</c:v>
          </c:tx>
          <c:spPr>
            <a:solidFill xmlns:a="http://schemas.openxmlformats.org/drawingml/2006/main">
              <a:srgbClr val="20567B"/>
            </a:solidFill>
            <a:ln xmlns:a="http://schemas.openxmlformats.org/drawingml/2006/main" w="19050">
              <a:solidFill>
                <a:srgbClr val="20567B"/>
              </a:solidFill>
            </a:ln>
          </c:spPr>
          <c:xVal>
            <c:numRef>
              <c:f>'Chart Data'!$E$2:$E$75</c:f>
              <c:numCache>
                <c:formatCode>General</c:formatCode>
                <c:ptCount val="74"/>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pt idx="25">
                  <c:v>125</c:v>
                </c:pt>
                <c:pt idx="26">
                  <c:v>130</c:v>
                </c:pt>
                <c:pt idx="27">
                  <c:v>135</c:v>
                </c:pt>
                <c:pt idx="28">
                  <c:v>140</c:v>
                </c:pt>
                <c:pt idx="29">
                  <c:v>145</c:v>
                </c:pt>
                <c:pt idx="30">
                  <c:v>150</c:v>
                </c:pt>
                <c:pt idx="31">
                  <c:v>155</c:v>
                </c:pt>
                <c:pt idx="32">
                  <c:v>160</c:v>
                </c:pt>
                <c:pt idx="33">
                  <c:v>165</c:v>
                </c:pt>
                <c:pt idx="34">
                  <c:v>170</c:v>
                </c:pt>
                <c:pt idx="35">
                  <c:v>175</c:v>
                </c:pt>
                <c:pt idx="36">
                  <c:v>180</c:v>
                </c:pt>
                <c:pt idx="37">
                  <c:v>185</c:v>
                </c:pt>
                <c:pt idx="38">
                  <c:v>190</c:v>
                </c:pt>
                <c:pt idx="39">
                  <c:v>195</c:v>
                </c:pt>
                <c:pt idx="40">
                  <c:v>200</c:v>
                </c:pt>
                <c:pt idx="41">
                  <c:v>205</c:v>
                </c:pt>
                <c:pt idx="42">
                  <c:v>210</c:v>
                </c:pt>
                <c:pt idx="43">
                  <c:v>215</c:v>
                </c:pt>
                <c:pt idx="44">
                  <c:v>220</c:v>
                </c:pt>
                <c:pt idx="45">
                  <c:v>225</c:v>
                </c:pt>
                <c:pt idx="46">
                  <c:v>230</c:v>
                </c:pt>
                <c:pt idx="47">
                  <c:v>235</c:v>
                </c:pt>
                <c:pt idx="48">
                  <c:v>240</c:v>
                </c:pt>
                <c:pt idx="49">
                  <c:v>245</c:v>
                </c:pt>
                <c:pt idx="50">
                  <c:v>250</c:v>
                </c:pt>
                <c:pt idx="51">
                  <c:v>255</c:v>
                </c:pt>
                <c:pt idx="52">
                  <c:v>260</c:v>
                </c:pt>
                <c:pt idx="53">
                  <c:v>265</c:v>
                </c:pt>
                <c:pt idx="54">
                  <c:v>271</c:v>
                </c:pt>
                <c:pt idx="55">
                  <c:v>276</c:v>
                </c:pt>
                <c:pt idx="56">
                  <c:v>286</c:v>
                </c:pt>
                <c:pt idx="57">
                  <c:v>293</c:v>
                </c:pt>
                <c:pt idx="58">
                  <c:v>300</c:v>
                </c:pt>
                <c:pt idx="59">
                  <c:v>305</c:v>
                </c:pt>
                <c:pt idx="60">
                  <c:v>311</c:v>
                </c:pt>
                <c:pt idx="61">
                  <c:v>319</c:v>
                </c:pt>
                <c:pt idx="62">
                  <c:v>326</c:v>
                </c:pt>
                <c:pt idx="63">
                  <c:v>333</c:v>
                </c:pt>
                <c:pt idx="64">
                  <c:v>341</c:v>
                </c:pt>
                <c:pt idx="65">
                  <c:v>346</c:v>
                </c:pt>
                <c:pt idx="66">
                  <c:v>353</c:v>
                </c:pt>
                <c:pt idx="67">
                  <c:v>359</c:v>
                </c:pt>
                <c:pt idx="68">
                  <c:v>364</c:v>
                </c:pt>
                <c:pt idx="69">
                  <c:v>369</c:v>
                </c:pt>
                <c:pt idx="70">
                  <c:v>374</c:v>
                </c:pt>
                <c:pt idx="71">
                  <c:v>379</c:v>
                </c:pt>
                <c:pt idx="72">
                  <c:v>385</c:v>
                </c:pt>
                <c:pt idx="73">
                  <c:v>392</c:v>
                </c:pt>
              </c:numCache>
            </c:numRef>
          </c:xVal>
          <c:yVal>
            <c:numRef>
              <c:f>'Chart Data'!$F$2:$F$75</c:f>
              <c:numCache>
                <c:formatCode>0.00</c:formatCode>
                <c:ptCount val="74"/>
                <c:pt idx="0">
                  <c:v>0.97581971</c:v>
                </c:pt>
                <c:pt idx="1">
                  <c:v>0.98392397</c:v>
                </c:pt>
                <c:pt idx="2">
                  <c:v>0.986094</c:v>
                </c:pt>
                <c:pt idx="3">
                  <c:v>0.98473877</c:v>
                </c:pt>
                <c:pt idx="4">
                  <c:v>0.98355311</c:v>
                </c:pt>
                <c:pt idx="5">
                  <c:v>0.98750687</c:v>
                </c:pt>
                <c:pt idx="6">
                  <c:v>0.98344857</c:v>
                </c:pt>
                <c:pt idx="7">
                  <c:v>0.98056293</c:v>
                </c:pt>
                <c:pt idx="8">
                  <c:v>0.98301345</c:v>
                </c:pt>
                <c:pt idx="9">
                  <c:v>0.98184121</c:v>
                </c:pt>
                <c:pt idx="10">
                  <c:v>0.98009545</c:v>
                </c:pt>
                <c:pt idx="11">
                  <c:v>0.9822796</c:v>
                </c:pt>
                <c:pt idx="12">
                  <c:v>0.97715956</c:v>
                </c:pt>
                <c:pt idx="13">
                  <c:v>0.98288262</c:v>
                </c:pt>
                <c:pt idx="14">
                  <c:v>0.97798711</c:v>
                </c:pt>
                <c:pt idx="15">
                  <c:v>0.97656834</c:v>
                </c:pt>
                <c:pt idx="16">
                  <c:v>0.98040628</c:v>
                </c:pt>
                <c:pt idx="17">
                  <c:v>0.9818337</c:v>
                </c:pt>
                <c:pt idx="18">
                  <c:v>0.97570103</c:v>
                </c:pt>
                <c:pt idx="19">
                  <c:v>0.97583222</c:v>
                </c:pt>
                <c:pt idx="20">
                  <c:v>0.97626525</c:v>
                </c:pt>
                <c:pt idx="21">
                  <c:v>0.97080022</c:v>
                </c:pt>
                <c:pt idx="22">
                  <c:v>0.97454959</c:v>
                </c:pt>
                <c:pt idx="23">
                  <c:v>0.9717598</c:v>
                </c:pt>
                <c:pt idx="24">
                  <c:v>0.97151476</c:v>
                </c:pt>
                <c:pt idx="25">
                  <c:v>0.97315103</c:v>
                </c:pt>
                <c:pt idx="26">
                  <c:v>0.96734983</c:v>
                </c:pt>
                <c:pt idx="27">
                  <c:v>0.97146422</c:v>
                </c:pt>
                <c:pt idx="28">
                  <c:v>0.9772684</c:v>
                </c:pt>
                <c:pt idx="29">
                  <c:v>0.9692024</c:v>
                </c:pt>
                <c:pt idx="30">
                  <c:v>0.97653657</c:v>
                </c:pt>
                <c:pt idx="31">
                  <c:v>0.96660417</c:v>
                </c:pt>
                <c:pt idx="32">
                  <c:v>0.96932077</c:v>
                </c:pt>
                <c:pt idx="33">
                  <c:v>0.97164172</c:v>
                </c:pt>
                <c:pt idx="34">
                  <c:v>0.96701372</c:v>
                </c:pt>
                <c:pt idx="35">
                  <c:v>0.96407062</c:v>
                </c:pt>
                <c:pt idx="36">
                  <c:v>0.96307194</c:v>
                </c:pt>
                <c:pt idx="37">
                  <c:v>0.96185583</c:v>
                </c:pt>
                <c:pt idx="38">
                  <c:v>0.96128643</c:v>
                </c:pt>
                <c:pt idx="39">
                  <c:v>0.95883185</c:v>
                </c:pt>
                <c:pt idx="40">
                  <c:v>0.95503336</c:v>
                </c:pt>
                <c:pt idx="41">
                  <c:v>0.95869118</c:v>
                </c:pt>
                <c:pt idx="42">
                  <c:v>0.94885153</c:v>
                </c:pt>
                <c:pt idx="43">
                  <c:v>0.94206649</c:v>
                </c:pt>
                <c:pt idx="44">
                  <c:v>0.9415549</c:v>
                </c:pt>
                <c:pt idx="45">
                  <c:v>0.92966229</c:v>
                </c:pt>
                <c:pt idx="46">
                  <c:v>0.92089534</c:v>
                </c:pt>
                <c:pt idx="47">
                  <c:v>0.91507602</c:v>
                </c:pt>
                <c:pt idx="48">
                  <c:v>0.91894668</c:v>
                </c:pt>
                <c:pt idx="49">
                  <c:v>0.91321719</c:v>
                </c:pt>
                <c:pt idx="50">
                  <c:v>0.90937614</c:v>
                </c:pt>
                <c:pt idx="51">
                  <c:v>0.90376091</c:v>
                </c:pt>
                <c:pt idx="52">
                  <c:v>0.89639628</c:v>
                </c:pt>
                <c:pt idx="53">
                  <c:v>0.90382826</c:v>
                </c:pt>
                <c:pt idx="54">
                  <c:v>0.89708024</c:v>
                </c:pt>
                <c:pt idx="55">
                  <c:v>0.89056039</c:v>
                </c:pt>
                <c:pt idx="56">
                  <c:v>0.89298409</c:v>
                </c:pt>
                <c:pt idx="57">
                  <c:v>0.85943031</c:v>
                </c:pt>
                <c:pt idx="58">
                  <c:v>0.88470745</c:v>
                </c:pt>
                <c:pt idx="59">
                  <c:v>0.87581873</c:v>
                </c:pt>
                <c:pt idx="60">
                  <c:v>0.86598003</c:v>
                </c:pt>
                <c:pt idx="61">
                  <c:v>0.85894996</c:v>
                </c:pt>
                <c:pt idx="62">
                  <c:v>0.84126705</c:v>
                </c:pt>
                <c:pt idx="63">
                  <c:v>0.84251064</c:v>
                </c:pt>
                <c:pt idx="64">
                  <c:v>0.8234784</c:v>
                </c:pt>
                <c:pt idx="65">
                  <c:v>0.82365239</c:v>
                </c:pt>
                <c:pt idx="66">
                  <c:v>0.80825269</c:v>
                </c:pt>
                <c:pt idx="67">
                  <c:v>0.82074386</c:v>
                </c:pt>
                <c:pt idx="68">
                  <c:v>0.8161515</c:v>
                </c:pt>
                <c:pt idx="69">
                  <c:v>0.81990421</c:v>
                </c:pt>
                <c:pt idx="70">
                  <c:v>0.8014611</c:v>
                </c:pt>
                <c:pt idx="71">
                  <c:v>0.8017599</c:v>
                </c:pt>
                <c:pt idx="72">
                  <c:v>0.80446357</c:v>
                </c:pt>
                <c:pt idx="73">
                  <c:v>0.78989887</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15"/>
          <c:min val="0.65"/>
        </c:scaling>
        <c:delete val="0"/>
        <c:axPos val="l"/>
        <c:majorGridlines>
          <c:spPr>
            <a:ln xmlns:a="http://schemas.openxmlformats.org/drawingml/2006/main" w="5715">
              <a:solidFill>
                <a:srgbClr val="DFE6EA"/>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SOH</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Arial"/>
                <a:ea typeface="Arial"/>
                <a:cs typeface="Arial"/>
              </a:defRPr>
            </a:pPr>
          </a:p>
        </c:txPr>
        <c:crossAx val="48650112"/>
        <c:majorUnit val="0.1"/>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Chu kỳ N</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72768"/>
      </c:valAx>
    </c:plotArea>
    <c:legend>
      <c:legendPos val="b"/>
      <c:overlay val="0"/>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Thực tế</c:v>
          </c:tx>
          <c:spPr>
            <a:solidFill xmlns:a="http://schemas.openxmlformats.org/drawingml/2006/main">
              <a:srgbClr val="222222"/>
            </a:solidFill>
            <a:ln xmlns:a="http://schemas.openxmlformats.org/drawingml/2006/main" w="19050">
              <a:solidFill>
                <a:srgbClr val="222222"/>
              </a:solidFill>
            </a:ln>
          </c:spPr>
          <c:xVal>
            <c:numRef>
              <c:f>'Chart Data'!$A$2:$A$75</c:f>
              <c:numCache>
                <c:formatCode>General</c:formatCode>
                <c:ptCount val="74"/>
                <c:pt idx="0">
                  <c:v>0</c:v>
                </c:pt>
                <c:pt idx="1">
                  <c:v>11</c:v>
                </c:pt>
                <c:pt idx="2">
                  <c:v>22</c:v>
                </c:pt>
                <c:pt idx="3">
                  <c:v>33</c:v>
                </c:pt>
                <c:pt idx="4">
                  <c:v>44</c:v>
                </c:pt>
                <c:pt idx="5">
                  <c:v>55</c:v>
                </c:pt>
                <c:pt idx="6">
                  <c:v>66</c:v>
                </c:pt>
                <c:pt idx="7">
                  <c:v>77</c:v>
                </c:pt>
                <c:pt idx="8">
                  <c:v>88</c:v>
                </c:pt>
                <c:pt idx="9">
                  <c:v>99</c:v>
                </c:pt>
                <c:pt idx="10">
                  <c:v>110</c:v>
                </c:pt>
                <c:pt idx="11">
                  <c:v>121</c:v>
                </c:pt>
                <c:pt idx="12">
                  <c:v>132</c:v>
                </c:pt>
                <c:pt idx="13">
                  <c:v>143</c:v>
                </c:pt>
                <c:pt idx="14">
                  <c:v>154</c:v>
                </c:pt>
                <c:pt idx="15">
                  <c:v>165</c:v>
                </c:pt>
                <c:pt idx="16">
                  <c:v>176</c:v>
                </c:pt>
                <c:pt idx="17">
                  <c:v>187</c:v>
                </c:pt>
                <c:pt idx="18">
                  <c:v>198</c:v>
                </c:pt>
                <c:pt idx="19">
                  <c:v>209</c:v>
                </c:pt>
                <c:pt idx="20">
                  <c:v>220</c:v>
                </c:pt>
                <c:pt idx="21">
                  <c:v>231</c:v>
                </c:pt>
                <c:pt idx="22">
                  <c:v>242</c:v>
                </c:pt>
                <c:pt idx="23">
                  <c:v>253</c:v>
                </c:pt>
                <c:pt idx="24">
                  <c:v>264</c:v>
                </c:pt>
                <c:pt idx="25">
                  <c:v>275</c:v>
                </c:pt>
                <c:pt idx="26">
                  <c:v>286</c:v>
                </c:pt>
                <c:pt idx="27">
                  <c:v>297</c:v>
                </c:pt>
                <c:pt idx="28">
                  <c:v>308</c:v>
                </c:pt>
                <c:pt idx="29">
                  <c:v>319</c:v>
                </c:pt>
                <c:pt idx="30">
                  <c:v>330</c:v>
                </c:pt>
                <c:pt idx="31">
                  <c:v>341</c:v>
                </c:pt>
                <c:pt idx="32">
                  <c:v>352</c:v>
                </c:pt>
                <c:pt idx="33">
                  <c:v>363</c:v>
                </c:pt>
                <c:pt idx="34">
                  <c:v>374</c:v>
                </c:pt>
                <c:pt idx="35">
                  <c:v>385</c:v>
                </c:pt>
                <c:pt idx="36">
                  <c:v>396</c:v>
                </c:pt>
                <c:pt idx="37">
                  <c:v>407</c:v>
                </c:pt>
                <c:pt idx="38">
                  <c:v>418</c:v>
                </c:pt>
                <c:pt idx="39">
                  <c:v>429</c:v>
                </c:pt>
                <c:pt idx="40">
                  <c:v>440</c:v>
                </c:pt>
                <c:pt idx="41">
                  <c:v>451</c:v>
                </c:pt>
                <c:pt idx="42">
                  <c:v>462</c:v>
                </c:pt>
                <c:pt idx="43">
                  <c:v>473</c:v>
                </c:pt>
                <c:pt idx="44">
                  <c:v>484</c:v>
                </c:pt>
                <c:pt idx="45">
                  <c:v>495</c:v>
                </c:pt>
                <c:pt idx="46">
                  <c:v>506</c:v>
                </c:pt>
                <c:pt idx="47">
                  <c:v>517</c:v>
                </c:pt>
                <c:pt idx="48">
                  <c:v>528</c:v>
                </c:pt>
                <c:pt idx="49">
                  <c:v>539</c:v>
                </c:pt>
                <c:pt idx="50">
                  <c:v>550</c:v>
                </c:pt>
                <c:pt idx="51">
                  <c:v>561</c:v>
                </c:pt>
                <c:pt idx="52">
                  <c:v>572</c:v>
                </c:pt>
                <c:pt idx="53">
                  <c:v>583</c:v>
                </c:pt>
                <c:pt idx="54">
                  <c:v>594</c:v>
                </c:pt>
                <c:pt idx="55">
                  <c:v>605</c:v>
                </c:pt>
                <c:pt idx="56">
                  <c:v>616</c:v>
                </c:pt>
                <c:pt idx="57">
                  <c:v>627</c:v>
                </c:pt>
                <c:pt idx="58">
                  <c:v>638</c:v>
                </c:pt>
                <c:pt idx="59">
                  <c:v>649</c:v>
                </c:pt>
                <c:pt idx="60">
                  <c:v>660</c:v>
                </c:pt>
                <c:pt idx="61">
                  <c:v>671</c:v>
                </c:pt>
                <c:pt idx="62">
                  <c:v>682</c:v>
                </c:pt>
                <c:pt idx="63">
                  <c:v>693</c:v>
                </c:pt>
                <c:pt idx="64">
                  <c:v>704</c:v>
                </c:pt>
                <c:pt idx="65">
                  <c:v>715</c:v>
                </c:pt>
                <c:pt idx="66">
                  <c:v>726</c:v>
                </c:pt>
                <c:pt idx="67">
                  <c:v>737</c:v>
                </c:pt>
                <c:pt idx="68">
                  <c:v>748</c:v>
                </c:pt>
                <c:pt idx="69">
                  <c:v>759</c:v>
                </c:pt>
                <c:pt idx="70">
                  <c:v>770</c:v>
                </c:pt>
                <c:pt idx="71">
                  <c:v>781</c:v>
                </c:pt>
                <c:pt idx="72">
                  <c:v>792</c:v>
                </c:pt>
                <c:pt idx="73">
                  <c:v>799</c:v>
                </c:pt>
              </c:numCache>
            </c:numRef>
          </c:xVal>
          <c:yVal>
            <c:numRef>
              <c:f>'Chart Data'!$B$2:$B$75</c:f>
              <c:numCache>
                <c:formatCode>0.00</c:formatCode>
                <c:ptCount val="74"/>
                <c:pt idx="0">
                  <c:v>0.9974519</c:v>
                </c:pt>
                <c:pt idx="1">
                  <c:v>0.9984681</c:v>
                </c:pt>
                <c:pt idx="2">
                  <c:v>0.99821943</c:v>
                </c:pt>
                <c:pt idx="3">
                  <c:v>0.99693972</c:v>
                </c:pt>
                <c:pt idx="4">
                  <c:v>0.99766862</c:v>
                </c:pt>
                <c:pt idx="5">
                  <c:v>0.9973321</c:v>
                </c:pt>
                <c:pt idx="6">
                  <c:v>0.99688894</c:v>
                </c:pt>
                <c:pt idx="7">
                  <c:v>0.99645925</c:v>
                </c:pt>
                <c:pt idx="8">
                  <c:v>0.99601966</c:v>
                </c:pt>
                <c:pt idx="9">
                  <c:v>0.99559557</c:v>
                </c:pt>
                <c:pt idx="10">
                  <c:v>0.99519372</c:v>
                </c:pt>
                <c:pt idx="11">
                  <c:v>0.99365318</c:v>
                </c:pt>
                <c:pt idx="12">
                  <c:v>0.99412727</c:v>
                </c:pt>
                <c:pt idx="13">
                  <c:v>0.99358916</c:v>
                </c:pt>
                <c:pt idx="14">
                  <c:v>0.99320346</c:v>
                </c:pt>
                <c:pt idx="15">
                  <c:v>0.99297529</c:v>
                </c:pt>
                <c:pt idx="16">
                  <c:v>0.9925192</c:v>
                </c:pt>
                <c:pt idx="17">
                  <c:v>0.99164182</c:v>
                </c:pt>
                <c:pt idx="18">
                  <c:v>0.9910419</c:v>
                </c:pt>
                <c:pt idx="19">
                  <c:v>0.99062955</c:v>
                </c:pt>
                <c:pt idx="20">
                  <c:v>0.99020648</c:v>
                </c:pt>
                <c:pt idx="21">
                  <c:v>0.98980844</c:v>
                </c:pt>
                <c:pt idx="22">
                  <c:v>0.98891926</c:v>
                </c:pt>
                <c:pt idx="23">
                  <c:v>0.98840672</c:v>
                </c:pt>
                <c:pt idx="24">
                  <c:v>0.98808455</c:v>
                </c:pt>
                <c:pt idx="25">
                  <c:v>0.98730063</c:v>
                </c:pt>
                <c:pt idx="26">
                  <c:v>0.98578089</c:v>
                </c:pt>
                <c:pt idx="27">
                  <c:v>0.98619872</c:v>
                </c:pt>
                <c:pt idx="28">
                  <c:v>0.98549175</c:v>
                </c:pt>
                <c:pt idx="29">
                  <c:v>0.98511553</c:v>
                </c:pt>
                <c:pt idx="30">
                  <c:v>0.98429745</c:v>
                </c:pt>
                <c:pt idx="31">
                  <c:v>0.98469955</c:v>
                </c:pt>
                <c:pt idx="32">
                  <c:v>0.98432207</c:v>
                </c:pt>
                <c:pt idx="33">
                  <c:v>0.982297</c:v>
                </c:pt>
                <c:pt idx="34">
                  <c:v>0.98323566</c:v>
                </c:pt>
                <c:pt idx="35">
                  <c:v>0.98200417</c:v>
                </c:pt>
                <c:pt idx="36">
                  <c:v>0.981332</c:v>
                </c:pt>
                <c:pt idx="37">
                  <c:v>0.98108017</c:v>
                </c:pt>
                <c:pt idx="38">
                  <c:v>0.97986716</c:v>
                </c:pt>
                <c:pt idx="39">
                  <c:v>0.9793998</c:v>
                </c:pt>
                <c:pt idx="40">
                  <c:v>0.97818929</c:v>
                </c:pt>
                <c:pt idx="41">
                  <c:v>0.97754818</c:v>
                </c:pt>
                <c:pt idx="42">
                  <c:v>0.977009</c:v>
                </c:pt>
                <c:pt idx="43">
                  <c:v>0.97562283</c:v>
                </c:pt>
                <c:pt idx="44">
                  <c:v>0.97473156</c:v>
                </c:pt>
                <c:pt idx="45">
                  <c:v>0.97412175</c:v>
                </c:pt>
                <c:pt idx="46">
                  <c:v>0.97196102</c:v>
                </c:pt>
                <c:pt idx="47">
                  <c:v>0.97137034</c:v>
                </c:pt>
                <c:pt idx="48">
                  <c:v>0.96988475</c:v>
                </c:pt>
                <c:pt idx="49">
                  <c:v>0.96875799</c:v>
                </c:pt>
                <c:pt idx="50">
                  <c:v>0.96770948</c:v>
                </c:pt>
                <c:pt idx="51">
                  <c:v>0.96622598</c:v>
                </c:pt>
                <c:pt idx="52">
                  <c:v>0.96495283</c:v>
                </c:pt>
                <c:pt idx="53">
                  <c:v>0.96326989</c:v>
                </c:pt>
                <c:pt idx="54">
                  <c:v>0.96172088</c:v>
                </c:pt>
                <c:pt idx="55">
                  <c:v>0.96007442</c:v>
                </c:pt>
                <c:pt idx="56">
                  <c:v>0.95778555</c:v>
                </c:pt>
                <c:pt idx="57">
                  <c:v>0.95546848</c:v>
                </c:pt>
                <c:pt idx="58">
                  <c:v>0.9532972</c:v>
                </c:pt>
                <c:pt idx="59">
                  <c:v>0.95042801</c:v>
                </c:pt>
                <c:pt idx="60">
                  <c:v>0.94773054</c:v>
                </c:pt>
                <c:pt idx="61">
                  <c:v>0.94431853</c:v>
                </c:pt>
                <c:pt idx="62">
                  <c:v>0.94046682</c:v>
                </c:pt>
                <c:pt idx="63">
                  <c:v>0.93581426</c:v>
                </c:pt>
                <c:pt idx="64">
                  <c:v>0.9306168</c:v>
                </c:pt>
                <c:pt idx="65">
                  <c:v>0.92441529</c:v>
                </c:pt>
                <c:pt idx="66">
                  <c:v>0.9182629</c:v>
                </c:pt>
                <c:pt idx="67">
                  <c:v>0.91112244</c:v>
                </c:pt>
                <c:pt idx="68">
                  <c:v>0.90394616</c:v>
                </c:pt>
                <c:pt idx="69">
                  <c:v>0.89539856</c:v>
                </c:pt>
                <c:pt idx="70">
                  <c:v>0.88703424</c:v>
                </c:pt>
                <c:pt idx="71">
                  <c:v>0.87942052</c:v>
                </c:pt>
                <c:pt idx="72">
                  <c:v>0.87032747</c:v>
                </c:pt>
                <c:pt idx="73">
                  <c:v>0.86484575</c:v>
                </c:pt>
              </c:numCache>
            </c:numRef>
          </c:yVal>
        </c:ser>
        <c:ser>
          <c:idx val="1"/>
          <c:order val="1"/>
          <c:tx>
            <c:v>MLP</c:v>
          </c:tx>
          <c:spPr>
            <a:solidFill xmlns:a="http://schemas.openxmlformats.org/drawingml/2006/main">
              <a:srgbClr val="95B4C8"/>
            </a:solidFill>
            <a:ln xmlns:a="http://schemas.openxmlformats.org/drawingml/2006/main" w="14288">
              <a:solidFill>
                <a:srgbClr val="95B4C8"/>
              </a:solidFill>
            </a:ln>
          </c:spPr>
          <c:xVal>
            <c:numRef>
              <c:f>'Chart Data'!$C$2:$C$75</c:f>
              <c:numCache>
                <c:formatCode>General</c:formatCode>
                <c:ptCount val="74"/>
                <c:pt idx="0">
                  <c:v>0</c:v>
                </c:pt>
                <c:pt idx="1">
                  <c:v>11</c:v>
                </c:pt>
                <c:pt idx="2">
                  <c:v>22</c:v>
                </c:pt>
                <c:pt idx="3">
                  <c:v>33</c:v>
                </c:pt>
                <c:pt idx="4">
                  <c:v>44</c:v>
                </c:pt>
                <c:pt idx="5">
                  <c:v>55</c:v>
                </c:pt>
                <c:pt idx="6">
                  <c:v>66</c:v>
                </c:pt>
                <c:pt idx="7">
                  <c:v>77</c:v>
                </c:pt>
                <c:pt idx="8">
                  <c:v>88</c:v>
                </c:pt>
                <c:pt idx="9">
                  <c:v>99</c:v>
                </c:pt>
                <c:pt idx="10">
                  <c:v>110</c:v>
                </c:pt>
                <c:pt idx="11">
                  <c:v>121</c:v>
                </c:pt>
                <c:pt idx="12">
                  <c:v>132</c:v>
                </c:pt>
                <c:pt idx="13">
                  <c:v>143</c:v>
                </c:pt>
                <c:pt idx="14">
                  <c:v>154</c:v>
                </c:pt>
                <c:pt idx="15">
                  <c:v>165</c:v>
                </c:pt>
                <c:pt idx="16">
                  <c:v>176</c:v>
                </c:pt>
                <c:pt idx="17">
                  <c:v>187</c:v>
                </c:pt>
                <c:pt idx="18">
                  <c:v>198</c:v>
                </c:pt>
                <c:pt idx="19">
                  <c:v>209</c:v>
                </c:pt>
                <c:pt idx="20">
                  <c:v>220</c:v>
                </c:pt>
                <c:pt idx="21">
                  <c:v>231</c:v>
                </c:pt>
                <c:pt idx="22">
                  <c:v>242</c:v>
                </c:pt>
                <c:pt idx="23">
                  <c:v>253</c:v>
                </c:pt>
                <c:pt idx="24">
                  <c:v>264</c:v>
                </c:pt>
                <c:pt idx="25">
                  <c:v>275</c:v>
                </c:pt>
                <c:pt idx="26">
                  <c:v>286</c:v>
                </c:pt>
                <c:pt idx="27">
                  <c:v>297</c:v>
                </c:pt>
                <c:pt idx="28">
                  <c:v>308</c:v>
                </c:pt>
                <c:pt idx="29">
                  <c:v>319</c:v>
                </c:pt>
                <c:pt idx="30">
                  <c:v>330</c:v>
                </c:pt>
                <c:pt idx="31">
                  <c:v>341</c:v>
                </c:pt>
                <c:pt idx="32">
                  <c:v>352</c:v>
                </c:pt>
                <c:pt idx="33">
                  <c:v>363</c:v>
                </c:pt>
                <c:pt idx="34">
                  <c:v>374</c:v>
                </c:pt>
                <c:pt idx="35">
                  <c:v>385</c:v>
                </c:pt>
                <c:pt idx="36">
                  <c:v>396</c:v>
                </c:pt>
                <c:pt idx="37">
                  <c:v>407</c:v>
                </c:pt>
                <c:pt idx="38">
                  <c:v>418</c:v>
                </c:pt>
                <c:pt idx="39">
                  <c:v>429</c:v>
                </c:pt>
                <c:pt idx="40">
                  <c:v>440</c:v>
                </c:pt>
                <c:pt idx="41">
                  <c:v>451</c:v>
                </c:pt>
                <c:pt idx="42">
                  <c:v>462</c:v>
                </c:pt>
                <c:pt idx="43">
                  <c:v>473</c:v>
                </c:pt>
                <c:pt idx="44">
                  <c:v>484</c:v>
                </c:pt>
                <c:pt idx="45">
                  <c:v>495</c:v>
                </c:pt>
                <c:pt idx="46">
                  <c:v>506</c:v>
                </c:pt>
                <c:pt idx="47">
                  <c:v>517</c:v>
                </c:pt>
                <c:pt idx="48">
                  <c:v>528</c:v>
                </c:pt>
                <c:pt idx="49">
                  <c:v>539</c:v>
                </c:pt>
                <c:pt idx="50">
                  <c:v>550</c:v>
                </c:pt>
                <c:pt idx="51">
                  <c:v>561</c:v>
                </c:pt>
                <c:pt idx="52">
                  <c:v>572</c:v>
                </c:pt>
                <c:pt idx="53">
                  <c:v>583</c:v>
                </c:pt>
                <c:pt idx="54">
                  <c:v>594</c:v>
                </c:pt>
                <c:pt idx="55">
                  <c:v>605</c:v>
                </c:pt>
                <c:pt idx="56">
                  <c:v>616</c:v>
                </c:pt>
                <c:pt idx="57">
                  <c:v>627</c:v>
                </c:pt>
                <c:pt idx="58">
                  <c:v>638</c:v>
                </c:pt>
                <c:pt idx="59">
                  <c:v>649</c:v>
                </c:pt>
                <c:pt idx="60">
                  <c:v>660</c:v>
                </c:pt>
                <c:pt idx="61">
                  <c:v>671</c:v>
                </c:pt>
                <c:pt idx="62">
                  <c:v>682</c:v>
                </c:pt>
                <c:pt idx="63">
                  <c:v>693</c:v>
                </c:pt>
                <c:pt idx="64">
                  <c:v>704</c:v>
                </c:pt>
                <c:pt idx="65">
                  <c:v>715</c:v>
                </c:pt>
                <c:pt idx="66">
                  <c:v>726</c:v>
                </c:pt>
                <c:pt idx="67">
                  <c:v>737</c:v>
                </c:pt>
                <c:pt idx="68">
                  <c:v>748</c:v>
                </c:pt>
                <c:pt idx="69">
                  <c:v>759</c:v>
                </c:pt>
                <c:pt idx="70">
                  <c:v>770</c:v>
                </c:pt>
                <c:pt idx="71">
                  <c:v>781</c:v>
                </c:pt>
                <c:pt idx="72">
                  <c:v>792</c:v>
                </c:pt>
                <c:pt idx="73">
                  <c:v>799</c:v>
                </c:pt>
              </c:numCache>
            </c:numRef>
          </c:xVal>
          <c:yVal>
            <c:numRef>
              <c:f>'Chart Data'!$D$2:$D$75</c:f>
              <c:numCache>
                <c:formatCode>0.00</c:formatCode>
                <c:ptCount val="74"/>
                <c:pt idx="0">
                  <c:v>0.99004722</c:v>
                </c:pt>
                <c:pt idx="1">
                  <c:v>0.9864192</c:v>
                </c:pt>
                <c:pt idx="2">
                  <c:v>0.98858762</c:v>
                </c:pt>
                <c:pt idx="3">
                  <c:v>0.99034363</c:v>
                </c:pt>
                <c:pt idx="4">
                  <c:v>0.97948605</c:v>
                </c:pt>
                <c:pt idx="5">
                  <c:v>0.98289424</c:v>
                </c:pt>
                <c:pt idx="6">
                  <c:v>0.9850114</c:v>
                </c:pt>
                <c:pt idx="7">
                  <c:v>0.98586172</c:v>
                </c:pt>
                <c:pt idx="8">
                  <c:v>0.98416126</c:v>
                </c:pt>
                <c:pt idx="9">
                  <c:v>0.98304844</c:v>
                </c:pt>
                <c:pt idx="10">
                  <c:v>0.98956186</c:v>
                </c:pt>
                <c:pt idx="11">
                  <c:v>0.98455489</c:v>
                </c:pt>
                <c:pt idx="12">
                  <c:v>0.98428345</c:v>
                </c:pt>
                <c:pt idx="13">
                  <c:v>0.98262239</c:v>
                </c:pt>
                <c:pt idx="14">
                  <c:v>0.98446345</c:v>
                </c:pt>
                <c:pt idx="15">
                  <c:v>0.98263866</c:v>
                </c:pt>
                <c:pt idx="16">
                  <c:v>0.98148817</c:v>
                </c:pt>
                <c:pt idx="17">
                  <c:v>0.98285234</c:v>
                </c:pt>
                <c:pt idx="18">
                  <c:v>0.98227721</c:v>
                </c:pt>
                <c:pt idx="19">
                  <c:v>0.98286933</c:v>
                </c:pt>
                <c:pt idx="20">
                  <c:v>0.98400259</c:v>
                </c:pt>
                <c:pt idx="21">
                  <c:v>0.97885269</c:v>
                </c:pt>
                <c:pt idx="22">
                  <c:v>0.98313987</c:v>
                </c:pt>
                <c:pt idx="23">
                  <c:v>0.97884834</c:v>
                </c:pt>
                <c:pt idx="24">
                  <c:v>0.97917509</c:v>
                </c:pt>
                <c:pt idx="25">
                  <c:v>0.98027593</c:v>
                </c:pt>
                <c:pt idx="26">
                  <c:v>0.97953475</c:v>
                </c:pt>
                <c:pt idx="27">
                  <c:v>0.98097157</c:v>
                </c:pt>
                <c:pt idx="28">
                  <c:v>0.97878677</c:v>
                </c:pt>
                <c:pt idx="29">
                  <c:v>0.97563642</c:v>
                </c:pt>
                <c:pt idx="30">
                  <c:v>0.97889906</c:v>
                </c:pt>
                <c:pt idx="31">
                  <c:v>0.97865105</c:v>
                </c:pt>
                <c:pt idx="32">
                  <c:v>0.96880472</c:v>
                </c:pt>
                <c:pt idx="33">
                  <c:v>0.97848743</c:v>
                </c:pt>
                <c:pt idx="34">
                  <c:v>0.97607958</c:v>
                </c:pt>
                <c:pt idx="35">
                  <c:v>0.97081524</c:v>
                </c:pt>
                <c:pt idx="36">
                  <c:v>0.9689647</c:v>
                </c:pt>
                <c:pt idx="37">
                  <c:v>0.9728989</c:v>
                </c:pt>
                <c:pt idx="38">
                  <c:v>0.96860707</c:v>
                </c:pt>
                <c:pt idx="39">
                  <c:v>0.97326458</c:v>
                </c:pt>
                <c:pt idx="40">
                  <c:v>0.97156668</c:v>
                </c:pt>
                <c:pt idx="41">
                  <c:v>0.96590084</c:v>
                </c:pt>
                <c:pt idx="42">
                  <c:v>0.96993721</c:v>
                </c:pt>
                <c:pt idx="43">
                  <c:v>0.97316486</c:v>
                </c:pt>
                <c:pt idx="44">
                  <c:v>0.96607387</c:v>
                </c:pt>
                <c:pt idx="45">
                  <c:v>0.97149843</c:v>
                </c:pt>
                <c:pt idx="46">
                  <c:v>0.96734583</c:v>
                </c:pt>
                <c:pt idx="47">
                  <c:v>0.96666873</c:v>
                </c:pt>
                <c:pt idx="48">
                  <c:v>0.96629536</c:v>
                </c:pt>
                <c:pt idx="49">
                  <c:v>0.96367639</c:v>
                </c:pt>
                <c:pt idx="50">
                  <c:v>0.96452057</c:v>
                </c:pt>
                <c:pt idx="51">
                  <c:v>0.96167082</c:v>
                </c:pt>
                <c:pt idx="52">
                  <c:v>0.95954555</c:v>
                </c:pt>
                <c:pt idx="53">
                  <c:v>0.95534766</c:v>
                </c:pt>
                <c:pt idx="54">
                  <c:v>0.9583205</c:v>
                </c:pt>
                <c:pt idx="55">
                  <c:v>0.95672828</c:v>
                </c:pt>
                <c:pt idx="56">
                  <c:v>0.95424187</c:v>
                </c:pt>
                <c:pt idx="57">
                  <c:v>0.95161629</c:v>
                </c:pt>
                <c:pt idx="58">
                  <c:v>0.9509576</c:v>
                </c:pt>
                <c:pt idx="59">
                  <c:v>0.94916904</c:v>
                </c:pt>
                <c:pt idx="60">
                  <c:v>0.94781417</c:v>
                </c:pt>
                <c:pt idx="61">
                  <c:v>0.9431864</c:v>
                </c:pt>
                <c:pt idx="62">
                  <c:v>0.93889016</c:v>
                </c:pt>
                <c:pt idx="63">
                  <c:v>0.93648332</c:v>
                </c:pt>
                <c:pt idx="64">
                  <c:v>0.93133485</c:v>
                </c:pt>
                <c:pt idx="65">
                  <c:v>0.92410457</c:v>
                </c:pt>
                <c:pt idx="66">
                  <c:v>0.91688508</c:v>
                </c:pt>
                <c:pt idx="67">
                  <c:v>0.91009998</c:v>
                </c:pt>
                <c:pt idx="68">
                  <c:v>0.90497333</c:v>
                </c:pt>
                <c:pt idx="69">
                  <c:v>0.89242274</c:v>
                </c:pt>
                <c:pt idx="70">
                  <c:v>0.88639009</c:v>
                </c:pt>
                <c:pt idx="71">
                  <c:v>0.88158154</c:v>
                </c:pt>
                <c:pt idx="72">
                  <c:v>0.87060362</c:v>
                </c:pt>
                <c:pt idx="73">
                  <c:v>0.86563998</c:v>
                </c:pt>
              </c:numCache>
            </c:numRef>
          </c:yVal>
        </c:ser>
        <c:ser>
          <c:idx val="2"/>
          <c:order val="2"/>
          <c:tx>
            <c:v>PINN</c:v>
          </c:tx>
          <c:spPr>
            <a:solidFill xmlns:a="http://schemas.openxmlformats.org/drawingml/2006/main">
              <a:srgbClr val="20567B"/>
            </a:solidFill>
            <a:ln xmlns:a="http://schemas.openxmlformats.org/drawingml/2006/main" w="19050">
              <a:solidFill>
                <a:srgbClr val="20567B"/>
              </a:solidFill>
            </a:ln>
          </c:spPr>
          <c:xVal>
            <c:numRef>
              <c:f>'Chart Data'!$E$2:$E$75</c:f>
              <c:numCache>
                <c:formatCode>General</c:formatCode>
                <c:ptCount val="74"/>
                <c:pt idx="0">
                  <c:v>0</c:v>
                </c:pt>
                <c:pt idx="1">
                  <c:v>11</c:v>
                </c:pt>
                <c:pt idx="2">
                  <c:v>22</c:v>
                </c:pt>
                <c:pt idx="3">
                  <c:v>33</c:v>
                </c:pt>
                <c:pt idx="4">
                  <c:v>44</c:v>
                </c:pt>
                <c:pt idx="5">
                  <c:v>55</c:v>
                </c:pt>
                <c:pt idx="6">
                  <c:v>66</c:v>
                </c:pt>
                <c:pt idx="7">
                  <c:v>77</c:v>
                </c:pt>
                <c:pt idx="8">
                  <c:v>88</c:v>
                </c:pt>
                <c:pt idx="9">
                  <c:v>99</c:v>
                </c:pt>
                <c:pt idx="10">
                  <c:v>110</c:v>
                </c:pt>
                <c:pt idx="11">
                  <c:v>121</c:v>
                </c:pt>
                <c:pt idx="12">
                  <c:v>132</c:v>
                </c:pt>
                <c:pt idx="13">
                  <c:v>143</c:v>
                </c:pt>
                <c:pt idx="14">
                  <c:v>154</c:v>
                </c:pt>
                <c:pt idx="15">
                  <c:v>165</c:v>
                </c:pt>
                <c:pt idx="16">
                  <c:v>176</c:v>
                </c:pt>
                <c:pt idx="17">
                  <c:v>187</c:v>
                </c:pt>
                <c:pt idx="18">
                  <c:v>198</c:v>
                </c:pt>
                <c:pt idx="19">
                  <c:v>209</c:v>
                </c:pt>
                <c:pt idx="20">
                  <c:v>220</c:v>
                </c:pt>
                <c:pt idx="21">
                  <c:v>231</c:v>
                </c:pt>
                <c:pt idx="22">
                  <c:v>242</c:v>
                </c:pt>
                <c:pt idx="23">
                  <c:v>253</c:v>
                </c:pt>
                <c:pt idx="24">
                  <c:v>264</c:v>
                </c:pt>
                <c:pt idx="25">
                  <c:v>275</c:v>
                </c:pt>
                <c:pt idx="26">
                  <c:v>286</c:v>
                </c:pt>
                <c:pt idx="27">
                  <c:v>297</c:v>
                </c:pt>
                <c:pt idx="28">
                  <c:v>308</c:v>
                </c:pt>
                <c:pt idx="29">
                  <c:v>319</c:v>
                </c:pt>
                <c:pt idx="30">
                  <c:v>330</c:v>
                </c:pt>
                <c:pt idx="31">
                  <c:v>341</c:v>
                </c:pt>
                <c:pt idx="32">
                  <c:v>352</c:v>
                </c:pt>
                <c:pt idx="33">
                  <c:v>363</c:v>
                </c:pt>
                <c:pt idx="34">
                  <c:v>374</c:v>
                </c:pt>
                <c:pt idx="35">
                  <c:v>385</c:v>
                </c:pt>
                <c:pt idx="36">
                  <c:v>396</c:v>
                </c:pt>
                <c:pt idx="37">
                  <c:v>407</c:v>
                </c:pt>
                <c:pt idx="38">
                  <c:v>418</c:v>
                </c:pt>
                <c:pt idx="39">
                  <c:v>429</c:v>
                </c:pt>
                <c:pt idx="40">
                  <c:v>440</c:v>
                </c:pt>
                <c:pt idx="41">
                  <c:v>451</c:v>
                </c:pt>
                <c:pt idx="42">
                  <c:v>462</c:v>
                </c:pt>
                <c:pt idx="43">
                  <c:v>473</c:v>
                </c:pt>
                <c:pt idx="44">
                  <c:v>484</c:v>
                </c:pt>
                <c:pt idx="45">
                  <c:v>495</c:v>
                </c:pt>
                <c:pt idx="46">
                  <c:v>506</c:v>
                </c:pt>
                <c:pt idx="47">
                  <c:v>517</c:v>
                </c:pt>
                <c:pt idx="48">
                  <c:v>528</c:v>
                </c:pt>
                <c:pt idx="49">
                  <c:v>539</c:v>
                </c:pt>
                <c:pt idx="50">
                  <c:v>550</c:v>
                </c:pt>
                <c:pt idx="51">
                  <c:v>561</c:v>
                </c:pt>
                <c:pt idx="52">
                  <c:v>572</c:v>
                </c:pt>
                <c:pt idx="53">
                  <c:v>583</c:v>
                </c:pt>
                <c:pt idx="54">
                  <c:v>594</c:v>
                </c:pt>
                <c:pt idx="55">
                  <c:v>605</c:v>
                </c:pt>
                <c:pt idx="56">
                  <c:v>616</c:v>
                </c:pt>
                <c:pt idx="57">
                  <c:v>627</c:v>
                </c:pt>
                <c:pt idx="58">
                  <c:v>638</c:v>
                </c:pt>
                <c:pt idx="59">
                  <c:v>649</c:v>
                </c:pt>
                <c:pt idx="60">
                  <c:v>660</c:v>
                </c:pt>
                <c:pt idx="61">
                  <c:v>671</c:v>
                </c:pt>
                <c:pt idx="62">
                  <c:v>682</c:v>
                </c:pt>
                <c:pt idx="63">
                  <c:v>693</c:v>
                </c:pt>
                <c:pt idx="64">
                  <c:v>704</c:v>
                </c:pt>
                <c:pt idx="65">
                  <c:v>715</c:v>
                </c:pt>
                <c:pt idx="66">
                  <c:v>726</c:v>
                </c:pt>
                <c:pt idx="67">
                  <c:v>737</c:v>
                </c:pt>
                <c:pt idx="68">
                  <c:v>748</c:v>
                </c:pt>
                <c:pt idx="69">
                  <c:v>759</c:v>
                </c:pt>
                <c:pt idx="70">
                  <c:v>770</c:v>
                </c:pt>
                <c:pt idx="71">
                  <c:v>781</c:v>
                </c:pt>
                <c:pt idx="72">
                  <c:v>792</c:v>
                </c:pt>
                <c:pt idx="73">
                  <c:v>799</c:v>
                </c:pt>
              </c:numCache>
            </c:numRef>
          </c:xVal>
          <c:yVal>
            <c:numRef>
              <c:f>'Chart Data'!$F$2:$F$75</c:f>
              <c:numCache>
                <c:formatCode>0.00</c:formatCode>
                <c:ptCount val="74"/>
                <c:pt idx="0">
                  <c:v>0.98871666</c:v>
                </c:pt>
                <c:pt idx="1">
                  <c:v>0.98779434</c:v>
                </c:pt>
                <c:pt idx="2">
                  <c:v>0.98478758</c:v>
                </c:pt>
                <c:pt idx="3">
                  <c:v>0.98588187</c:v>
                </c:pt>
                <c:pt idx="4">
                  <c:v>0.98630458</c:v>
                </c:pt>
                <c:pt idx="5">
                  <c:v>0.98280841</c:v>
                </c:pt>
                <c:pt idx="6">
                  <c:v>0.98365796</c:v>
                </c:pt>
                <c:pt idx="7">
                  <c:v>0.98456246</c:v>
                </c:pt>
                <c:pt idx="8">
                  <c:v>0.98298061</c:v>
                </c:pt>
                <c:pt idx="9">
                  <c:v>0.98279101</c:v>
                </c:pt>
                <c:pt idx="10">
                  <c:v>0.9838835</c:v>
                </c:pt>
                <c:pt idx="11">
                  <c:v>0.9822312</c:v>
                </c:pt>
                <c:pt idx="12">
                  <c:v>0.98235452</c:v>
                </c:pt>
                <c:pt idx="13">
                  <c:v>0.98018855</c:v>
                </c:pt>
                <c:pt idx="14">
                  <c:v>0.98237032</c:v>
                </c:pt>
                <c:pt idx="15">
                  <c:v>0.98065943</c:v>
                </c:pt>
                <c:pt idx="16">
                  <c:v>0.98111051</c:v>
                </c:pt>
                <c:pt idx="17">
                  <c:v>0.98041725</c:v>
                </c:pt>
                <c:pt idx="18">
                  <c:v>0.97996116</c:v>
                </c:pt>
                <c:pt idx="19">
                  <c:v>0.9800204</c:v>
                </c:pt>
                <c:pt idx="20">
                  <c:v>0.98082405</c:v>
                </c:pt>
                <c:pt idx="21">
                  <c:v>0.97934955</c:v>
                </c:pt>
                <c:pt idx="22">
                  <c:v>0.97967649</c:v>
                </c:pt>
                <c:pt idx="23">
                  <c:v>0.97775769</c:v>
                </c:pt>
                <c:pt idx="24">
                  <c:v>0.9785918</c:v>
                </c:pt>
                <c:pt idx="25">
                  <c:v>0.97803652</c:v>
                </c:pt>
                <c:pt idx="26">
                  <c:v>0.9767639</c:v>
                </c:pt>
                <c:pt idx="27">
                  <c:v>0.97763538</c:v>
                </c:pt>
                <c:pt idx="28">
                  <c:v>0.97662175</c:v>
                </c:pt>
                <c:pt idx="29">
                  <c:v>0.97504133</c:v>
                </c:pt>
                <c:pt idx="30">
                  <c:v>0.97477555</c:v>
                </c:pt>
                <c:pt idx="31">
                  <c:v>0.97537804</c:v>
                </c:pt>
                <c:pt idx="32">
                  <c:v>0.97401416</c:v>
                </c:pt>
                <c:pt idx="33">
                  <c:v>0.97461075</c:v>
                </c:pt>
                <c:pt idx="34">
                  <c:v>0.97264731</c:v>
                </c:pt>
                <c:pt idx="35">
                  <c:v>0.97236425</c:v>
                </c:pt>
                <c:pt idx="36">
                  <c:v>0.9683997</c:v>
                </c:pt>
                <c:pt idx="37">
                  <c:v>0.97135657</c:v>
                </c:pt>
                <c:pt idx="38">
                  <c:v>0.97032279</c:v>
                </c:pt>
                <c:pt idx="39">
                  <c:v>0.97069287</c:v>
                </c:pt>
                <c:pt idx="40">
                  <c:v>0.96986616</c:v>
                </c:pt>
                <c:pt idx="41">
                  <c:v>0.96792191</c:v>
                </c:pt>
                <c:pt idx="42">
                  <c:v>0.96749747</c:v>
                </c:pt>
                <c:pt idx="43">
                  <c:v>0.96769613</c:v>
                </c:pt>
                <c:pt idx="44">
                  <c:v>0.96484256</c:v>
                </c:pt>
                <c:pt idx="45">
                  <c:v>0.96658009</c:v>
                </c:pt>
                <c:pt idx="46">
                  <c:v>0.96650332</c:v>
                </c:pt>
                <c:pt idx="47">
                  <c:v>0.96524185</c:v>
                </c:pt>
                <c:pt idx="48">
                  <c:v>0.96335948</c:v>
                </c:pt>
                <c:pt idx="49">
                  <c:v>0.96208125</c:v>
                </c:pt>
                <c:pt idx="50">
                  <c:v>0.96091276</c:v>
                </c:pt>
                <c:pt idx="51">
                  <c:v>0.9604944</c:v>
                </c:pt>
                <c:pt idx="52">
                  <c:v>0.95969379</c:v>
                </c:pt>
                <c:pt idx="53">
                  <c:v>0.95724583</c:v>
                </c:pt>
                <c:pt idx="54">
                  <c:v>0.95720994</c:v>
                </c:pt>
                <c:pt idx="55">
                  <c:v>0.95544767</c:v>
                </c:pt>
                <c:pt idx="56">
                  <c:v>0.9533627</c:v>
                </c:pt>
                <c:pt idx="57">
                  <c:v>0.95181966</c:v>
                </c:pt>
                <c:pt idx="58">
                  <c:v>0.9506197</c:v>
                </c:pt>
                <c:pt idx="59">
                  <c:v>0.94999605</c:v>
                </c:pt>
                <c:pt idx="60">
                  <c:v>0.94777393</c:v>
                </c:pt>
                <c:pt idx="61">
                  <c:v>0.94397098</c:v>
                </c:pt>
                <c:pt idx="62">
                  <c:v>0.94092613</c:v>
                </c:pt>
                <c:pt idx="63">
                  <c:v>0.93735027</c:v>
                </c:pt>
                <c:pt idx="64">
                  <c:v>0.93267071</c:v>
                </c:pt>
                <c:pt idx="65">
                  <c:v>0.92414153</c:v>
                </c:pt>
                <c:pt idx="66">
                  <c:v>0.91685665</c:v>
                </c:pt>
                <c:pt idx="67">
                  <c:v>0.91060704</c:v>
                </c:pt>
                <c:pt idx="68">
                  <c:v>0.90505338</c:v>
                </c:pt>
                <c:pt idx="69">
                  <c:v>0.89359647</c:v>
                </c:pt>
                <c:pt idx="70">
                  <c:v>0.8881408</c:v>
                </c:pt>
                <c:pt idx="71">
                  <c:v>0.88124192</c:v>
                </c:pt>
                <c:pt idx="72">
                  <c:v>0.87143219</c:v>
                </c:pt>
                <c:pt idx="73">
                  <c:v>0.86483002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15"/>
          <c:min val="0.65"/>
        </c:scaling>
        <c:delete val="0"/>
        <c:axPos val="l"/>
        <c:majorGridlines>
          <c:spPr>
            <a:ln xmlns:a="http://schemas.openxmlformats.org/drawingml/2006/main" w="5715">
              <a:solidFill>
                <a:srgbClr val="DFE6EA"/>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SOH</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Arial"/>
                <a:ea typeface="Arial"/>
                <a:cs typeface="Arial"/>
              </a:defRPr>
            </a:pPr>
          </a:p>
        </c:txPr>
        <c:crossAx val="48650112"/>
        <c:majorUnit val="0.1"/>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Chu kỳ N</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72768"/>
      </c:valAx>
    </c:plotArea>
    <c:legend>
      <c:legendPos val="b"/>
      <c:overlay val="0"/>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
        <c:ser>
          <c:idx val="0"/>
          <c:order val="0"/>
          <c:tx>
            <c:v>Thực tế</c:v>
          </c:tx>
          <c:spPr>
            <a:solidFill xmlns:a="http://schemas.openxmlformats.org/drawingml/2006/main">
              <a:srgbClr val="222222"/>
            </a:solidFill>
            <a:ln xmlns:a="http://schemas.openxmlformats.org/drawingml/2006/main" w="19050">
              <a:solidFill>
                <a:srgbClr val="222222"/>
              </a:solidFill>
            </a:ln>
          </c:spPr>
          <c:xVal>
            <c:numRef>
              <c:f>'Chart Data'!$A$2:$A$81</c:f>
              <c:numCache>
                <c:formatCode>General</c:formatCode>
                <c:ptCount val="80"/>
                <c:pt idx="0">
                  <c:v>0</c:v>
                </c:pt>
                <c:pt idx="1">
                  <c:v>3</c:v>
                </c:pt>
                <c:pt idx="2">
                  <c:v>6</c:v>
                </c:pt>
                <c:pt idx="3">
                  <c:v>9</c:v>
                </c:pt>
                <c:pt idx="4">
                  <c:v>12</c:v>
                </c:pt>
                <c:pt idx="5">
                  <c:v>15</c:v>
                </c:pt>
                <c:pt idx="6">
                  <c:v>18</c:v>
                </c:pt>
                <c:pt idx="7">
                  <c:v>21</c:v>
                </c:pt>
                <c:pt idx="8">
                  <c:v>24</c:v>
                </c:pt>
                <c:pt idx="9">
                  <c:v>27</c:v>
                </c:pt>
                <c:pt idx="10">
                  <c:v>30</c:v>
                </c:pt>
                <c:pt idx="11">
                  <c:v>33</c:v>
                </c:pt>
                <c:pt idx="12">
                  <c:v>36</c:v>
                </c:pt>
                <c:pt idx="13">
                  <c:v>39</c:v>
                </c:pt>
                <c:pt idx="14">
                  <c:v>42</c:v>
                </c:pt>
                <c:pt idx="15">
                  <c:v>45</c:v>
                </c:pt>
                <c:pt idx="16">
                  <c:v>48</c:v>
                </c:pt>
                <c:pt idx="17">
                  <c:v>51</c:v>
                </c:pt>
                <c:pt idx="18">
                  <c:v>54</c:v>
                </c:pt>
                <c:pt idx="19">
                  <c:v>57</c:v>
                </c:pt>
                <c:pt idx="20">
                  <c:v>60</c:v>
                </c:pt>
                <c:pt idx="21">
                  <c:v>63</c:v>
                </c:pt>
                <c:pt idx="22">
                  <c:v>66</c:v>
                </c:pt>
                <c:pt idx="23">
                  <c:v>69</c:v>
                </c:pt>
                <c:pt idx="24">
                  <c:v>72</c:v>
                </c:pt>
                <c:pt idx="25">
                  <c:v>75</c:v>
                </c:pt>
                <c:pt idx="26">
                  <c:v>78</c:v>
                </c:pt>
                <c:pt idx="27">
                  <c:v>81</c:v>
                </c:pt>
                <c:pt idx="28">
                  <c:v>84</c:v>
                </c:pt>
                <c:pt idx="29">
                  <c:v>87</c:v>
                </c:pt>
                <c:pt idx="30">
                  <c:v>90</c:v>
                </c:pt>
                <c:pt idx="31">
                  <c:v>93</c:v>
                </c:pt>
                <c:pt idx="32">
                  <c:v>96</c:v>
                </c:pt>
                <c:pt idx="33">
                  <c:v>99</c:v>
                </c:pt>
                <c:pt idx="34">
                  <c:v>102</c:v>
                </c:pt>
                <c:pt idx="35">
                  <c:v>105</c:v>
                </c:pt>
                <c:pt idx="36">
                  <c:v>108</c:v>
                </c:pt>
                <c:pt idx="37">
                  <c:v>111</c:v>
                </c:pt>
                <c:pt idx="38">
                  <c:v>114</c:v>
                </c:pt>
                <c:pt idx="39">
                  <c:v>117</c:v>
                </c:pt>
                <c:pt idx="40">
                  <c:v>120</c:v>
                </c:pt>
                <c:pt idx="41">
                  <c:v>123</c:v>
                </c:pt>
                <c:pt idx="42">
                  <c:v>126</c:v>
                </c:pt>
                <c:pt idx="43">
                  <c:v>129</c:v>
                </c:pt>
                <c:pt idx="44">
                  <c:v>132</c:v>
                </c:pt>
                <c:pt idx="45">
                  <c:v>135</c:v>
                </c:pt>
                <c:pt idx="46">
                  <c:v>138</c:v>
                </c:pt>
                <c:pt idx="47">
                  <c:v>141</c:v>
                </c:pt>
                <c:pt idx="48">
                  <c:v>144</c:v>
                </c:pt>
                <c:pt idx="49">
                  <c:v>147</c:v>
                </c:pt>
                <c:pt idx="50">
                  <c:v>150</c:v>
                </c:pt>
                <c:pt idx="51">
                  <c:v>153</c:v>
                </c:pt>
                <c:pt idx="52">
                  <c:v>156</c:v>
                </c:pt>
                <c:pt idx="53">
                  <c:v>159</c:v>
                </c:pt>
                <c:pt idx="54">
                  <c:v>162</c:v>
                </c:pt>
                <c:pt idx="55">
                  <c:v>165</c:v>
                </c:pt>
                <c:pt idx="56">
                  <c:v>168</c:v>
                </c:pt>
                <c:pt idx="57">
                  <c:v>171</c:v>
                </c:pt>
                <c:pt idx="58">
                  <c:v>174</c:v>
                </c:pt>
                <c:pt idx="59">
                  <c:v>177</c:v>
                </c:pt>
                <c:pt idx="60">
                  <c:v>180</c:v>
                </c:pt>
                <c:pt idx="61">
                  <c:v>183</c:v>
                </c:pt>
                <c:pt idx="62">
                  <c:v>186</c:v>
                </c:pt>
                <c:pt idx="63">
                  <c:v>189</c:v>
                </c:pt>
                <c:pt idx="64">
                  <c:v>192</c:v>
                </c:pt>
                <c:pt idx="65">
                  <c:v>195</c:v>
                </c:pt>
                <c:pt idx="66">
                  <c:v>198</c:v>
                </c:pt>
                <c:pt idx="67">
                  <c:v>201</c:v>
                </c:pt>
                <c:pt idx="68">
                  <c:v>204</c:v>
                </c:pt>
                <c:pt idx="69">
                  <c:v>207</c:v>
                </c:pt>
                <c:pt idx="70">
                  <c:v>210</c:v>
                </c:pt>
                <c:pt idx="71">
                  <c:v>213</c:v>
                </c:pt>
                <c:pt idx="72">
                  <c:v>216</c:v>
                </c:pt>
                <c:pt idx="73">
                  <c:v>219</c:v>
                </c:pt>
                <c:pt idx="74">
                  <c:v>222</c:v>
                </c:pt>
                <c:pt idx="75">
                  <c:v>225</c:v>
                </c:pt>
                <c:pt idx="76">
                  <c:v>228</c:v>
                </c:pt>
                <c:pt idx="77">
                  <c:v>231</c:v>
                </c:pt>
                <c:pt idx="78">
                  <c:v>234</c:v>
                </c:pt>
                <c:pt idx="79">
                  <c:v>243</c:v>
                </c:pt>
              </c:numCache>
            </c:numRef>
          </c:xVal>
          <c:yVal>
            <c:numRef>
              <c:f>'Chart Data'!$B$2:$B$81</c:f>
              <c:numCache>
                <c:formatCode>0.00</c:formatCode>
                <c:ptCount val="80"/>
                <c:pt idx="0">
                  <c:v>0.92430186</c:v>
                </c:pt>
                <c:pt idx="1">
                  <c:v>0.92318767</c:v>
                </c:pt>
                <c:pt idx="2">
                  <c:v>0.92123705</c:v>
                </c:pt>
                <c:pt idx="3">
                  <c:v>0.91944838</c:v>
                </c:pt>
                <c:pt idx="4">
                  <c:v>0.91776198</c:v>
                </c:pt>
                <c:pt idx="5">
                  <c:v>0.91612476</c:v>
                </c:pt>
                <c:pt idx="6">
                  <c:v>0.91414183</c:v>
                </c:pt>
                <c:pt idx="7">
                  <c:v>0.91227949</c:v>
                </c:pt>
                <c:pt idx="8">
                  <c:v>0.91032177</c:v>
                </c:pt>
                <c:pt idx="9">
                  <c:v>0.90858459</c:v>
                </c:pt>
                <c:pt idx="10">
                  <c:v>0.906735</c:v>
                </c:pt>
                <c:pt idx="11">
                  <c:v>0.90531778</c:v>
                </c:pt>
                <c:pt idx="12">
                  <c:v>0.90384233</c:v>
                </c:pt>
                <c:pt idx="13">
                  <c:v>0.90221256</c:v>
                </c:pt>
                <c:pt idx="14">
                  <c:v>0.9006229</c:v>
                </c:pt>
                <c:pt idx="15">
                  <c:v>0.89951909</c:v>
                </c:pt>
                <c:pt idx="16">
                  <c:v>0.89769292</c:v>
                </c:pt>
                <c:pt idx="17">
                  <c:v>0.89640641</c:v>
                </c:pt>
                <c:pt idx="18">
                  <c:v>0.8946479</c:v>
                </c:pt>
                <c:pt idx="19">
                  <c:v>0.8932575</c:v>
                </c:pt>
                <c:pt idx="20">
                  <c:v>0.89190227</c:v>
                </c:pt>
                <c:pt idx="21">
                  <c:v>0.8904621</c:v>
                </c:pt>
                <c:pt idx="22">
                  <c:v>0.88900435</c:v>
                </c:pt>
                <c:pt idx="23">
                  <c:v>0.88789356</c:v>
                </c:pt>
                <c:pt idx="24">
                  <c:v>0.88679266</c:v>
                </c:pt>
                <c:pt idx="25">
                  <c:v>0.88507003</c:v>
                </c:pt>
                <c:pt idx="26">
                  <c:v>0.88362974</c:v>
                </c:pt>
                <c:pt idx="27">
                  <c:v>0.88216233</c:v>
                </c:pt>
                <c:pt idx="28">
                  <c:v>0.8810305</c:v>
                </c:pt>
                <c:pt idx="29">
                  <c:v>0.88036203</c:v>
                </c:pt>
                <c:pt idx="30">
                  <c:v>0.87898362</c:v>
                </c:pt>
                <c:pt idx="31">
                  <c:v>0.87763196</c:v>
                </c:pt>
                <c:pt idx="32">
                  <c:v>0.87663281</c:v>
                </c:pt>
                <c:pt idx="33">
                  <c:v>0.87476063</c:v>
                </c:pt>
                <c:pt idx="34">
                  <c:v>0.87328565</c:v>
                </c:pt>
                <c:pt idx="35">
                  <c:v>0.87248123</c:v>
                </c:pt>
                <c:pt idx="36">
                  <c:v>0.87102324</c:v>
                </c:pt>
                <c:pt idx="37">
                  <c:v>0.86930388</c:v>
                </c:pt>
                <c:pt idx="38">
                  <c:v>0.86823779</c:v>
                </c:pt>
                <c:pt idx="39">
                  <c:v>0.86733764</c:v>
                </c:pt>
                <c:pt idx="40">
                  <c:v>0.86587286</c:v>
                </c:pt>
                <c:pt idx="41">
                  <c:v>0.86415613</c:v>
                </c:pt>
                <c:pt idx="42">
                  <c:v>0.8640669</c:v>
                </c:pt>
                <c:pt idx="43">
                  <c:v>0.86276436</c:v>
                </c:pt>
                <c:pt idx="44">
                  <c:v>0.86134243</c:v>
                </c:pt>
                <c:pt idx="45">
                  <c:v>0.8597886</c:v>
                </c:pt>
                <c:pt idx="46">
                  <c:v>0.85867685</c:v>
                </c:pt>
                <c:pt idx="47">
                  <c:v>0.85736316</c:v>
                </c:pt>
                <c:pt idx="48">
                  <c:v>0.85556501</c:v>
                </c:pt>
                <c:pt idx="49">
                  <c:v>0.85394675</c:v>
                </c:pt>
                <c:pt idx="50">
                  <c:v>0.85186934</c:v>
                </c:pt>
                <c:pt idx="51">
                  <c:v>0.84923488</c:v>
                </c:pt>
                <c:pt idx="52">
                  <c:v>0.84731388</c:v>
                </c:pt>
                <c:pt idx="53">
                  <c:v>0.84581351</c:v>
                </c:pt>
                <c:pt idx="54">
                  <c:v>0.84300411</c:v>
                </c:pt>
                <c:pt idx="55">
                  <c:v>0.84033889</c:v>
                </c:pt>
                <c:pt idx="56">
                  <c:v>0.83792752</c:v>
                </c:pt>
                <c:pt idx="57">
                  <c:v>0.83556223</c:v>
                </c:pt>
                <c:pt idx="58">
                  <c:v>0.83262086</c:v>
                </c:pt>
                <c:pt idx="59">
                  <c:v>0.82872182</c:v>
                </c:pt>
                <c:pt idx="60">
                  <c:v>0.82565451</c:v>
                </c:pt>
                <c:pt idx="61">
                  <c:v>0.8217777</c:v>
                </c:pt>
                <c:pt idx="62">
                  <c:v>0.81835991</c:v>
                </c:pt>
                <c:pt idx="63">
                  <c:v>0.81447339</c:v>
                </c:pt>
                <c:pt idx="64">
                  <c:v>0.81123883</c:v>
                </c:pt>
                <c:pt idx="65">
                  <c:v>0.80688494</c:v>
                </c:pt>
                <c:pt idx="66">
                  <c:v>0.800547</c:v>
                </c:pt>
                <c:pt idx="67">
                  <c:v>0.79607761</c:v>
                </c:pt>
                <c:pt idx="68">
                  <c:v>0.7921831</c:v>
                </c:pt>
                <c:pt idx="69">
                  <c:v>0.78739619</c:v>
                </c:pt>
                <c:pt idx="70">
                  <c:v>0.78076249</c:v>
                </c:pt>
                <c:pt idx="71">
                  <c:v>0.77585554</c:v>
                </c:pt>
                <c:pt idx="72">
                  <c:v>0.77038801</c:v>
                </c:pt>
                <c:pt idx="73">
                  <c:v>0.76473445</c:v>
                </c:pt>
                <c:pt idx="74">
                  <c:v>0.75953507</c:v>
                </c:pt>
                <c:pt idx="75">
                  <c:v>0.75389373</c:v>
                </c:pt>
                <c:pt idx="76">
                  <c:v>0.74833655</c:v>
                </c:pt>
                <c:pt idx="77">
                  <c:v>0.74279356</c:v>
                </c:pt>
                <c:pt idx="78">
                  <c:v>0.73926985</c:v>
                </c:pt>
                <c:pt idx="79">
                  <c:v>0.7180357</c:v>
                </c:pt>
              </c:numCache>
            </c:numRef>
          </c:yVal>
        </c:ser>
        <c:ser>
          <c:idx val="1"/>
          <c:order val="1"/>
          <c:tx>
            <c:v>MLP</c:v>
          </c:tx>
          <c:spPr>
            <a:solidFill xmlns:a="http://schemas.openxmlformats.org/drawingml/2006/main">
              <a:srgbClr val="95B4C8"/>
            </a:solidFill>
            <a:ln xmlns:a="http://schemas.openxmlformats.org/drawingml/2006/main" w="14288">
              <a:solidFill>
                <a:srgbClr val="95B4C8"/>
              </a:solidFill>
            </a:ln>
          </c:spPr>
          <c:xVal>
            <c:numRef>
              <c:f>'Chart Data'!$C$2:$C$81</c:f>
              <c:numCache>
                <c:formatCode>General</c:formatCode>
                <c:ptCount val="80"/>
                <c:pt idx="0">
                  <c:v>0</c:v>
                </c:pt>
                <c:pt idx="1">
                  <c:v>3</c:v>
                </c:pt>
                <c:pt idx="2">
                  <c:v>6</c:v>
                </c:pt>
                <c:pt idx="3">
                  <c:v>9</c:v>
                </c:pt>
                <c:pt idx="4">
                  <c:v>12</c:v>
                </c:pt>
                <c:pt idx="5">
                  <c:v>15</c:v>
                </c:pt>
                <c:pt idx="6">
                  <c:v>18</c:v>
                </c:pt>
                <c:pt idx="7">
                  <c:v>21</c:v>
                </c:pt>
                <c:pt idx="8">
                  <c:v>24</c:v>
                </c:pt>
                <c:pt idx="9">
                  <c:v>27</c:v>
                </c:pt>
                <c:pt idx="10">
                  <c:v>30</c:v>
                </c:pt>
                <c:pt idx="11">
                  <c:v>33</c:v>
                </c:pt>
                <c:pt idx="12">
                  <c:v>36</c:v>
                </c:pt>
                <c:pt idx="13">
                  <c:v>39</c:v>
                </c:pt>
                <c:pt idx="14">
                  <c:v>42</c:v>
                </c:pt>
                <c:pt idx="15">
                  <c:v>45</c:v>
                </c:pt>
                <c:pt idx="16">
                  <c:v>48</c:v>
                </c:pt>
                <c:pt idx="17">
                  <c:v>51</c:v>
                </c:pt>
                <c:pt idx="18">
                  <c:v>54</c:v>
                </c:pt>
                <c:pt idx="19">
                  <c:v>57</c:v>
                </c:pt>
                <c:pt idx="20">
                  <c:v>60</c:v>
                </c:pt>
                <c:pt idx="21">
                  <c:v>63</c:v>
                </c:pt>
                <c:pt idx="22">
                  <c:v>66</c:v>
                </c:pt>
                <c:pt idx="23">
                  <c:v>69</c:v>
                </c:pt>
                <c:pt idx="24">
                  <c:v>72</c:v>
                </c:pt>
                <c:pt idx="25">
                  <c:v>75</c:v>
                </c:pt>
                <c:pt idx="26">
                  <c:v>78</c:v>
                </c:pt>
                <c:pt idx="27">
                  <c:v>81</c:v>
                </c:pt>
                <c:pt idx="28">
                  <c:v>84</c:v>
                </c:pt>
                <c:pt idx="29">
                  <c:v>87</c:v>
                </c:pt>
                <c:pt idx="30">
                  <c:v>90</c:v>
                </c:pt>
                <c:pt idx="31">
                  <c:v>93</c:v>
                </c:pt>
                <c:pt idx="32">
                  <c:v>96</c:v>
                </c:pt>
                <c:pt idx="33">
                  <c:v>99</c:v>
                </c:pt>
                <c:pt idx="34">
                  <c:v>102</c:v>
                </c:pt>
                <c:pt idx="35">
                  <c:v>105</c:v>
                </c:pt>
                <c:pt idx="36">
                  <c:v>108</c:v>
                </c:pt>
                <c:pt idx="37">
                  <c:v>111</c:v>
                </c:pt>
                <c:pt idx="38">
                  <c:v>114</c:v>
                </c:pt>
                <c:pt idx="39">
                  <c:v>117</c:v>
                </c:pt>
                <c:pt idx="40">
                  <c:v>120</c:v>
                </c:pt>
                <c:pt idx="41">
                  <c:v>123</c:v>
                </c:pt>
                <c:pt idx="42">
                  <c:v>126</c:v>
                </c:pt>
                <c:pt idx="43">
                  <c:v>129</c:v>
                </c:pt>
                <c:pt idx="44">
                  <c:v>132</c:v>
                </c:pt>
                <c:pt idx="45">
                  <c:v>135</c:v>
                </c:pt>
                <c:pt idx="46">
                  <c:v>138</c:v>
                </c:pt>
                <c:pt idx="47">
                  <c:v>141</c:v>
                </c:pt>
                <c:pt idx="48">
                  <c:v>144</c:v>
                </c:pt>
                <c:pt idx="49">
                  <c:v>147</c:v>
                </c:pt>
                <c:pt idx="50">
                  <c:v>150</c:v>
                </c:pt>
                <c:pt idx="51">
                  <c:v>153</c:v>
                </c:pt>
                <c:pt idx="52">
                  <c:v>156</c:v>
                </c:pt>
                <c:pt idx="53">
                  <c:v>159</c:v>
                </c:pt>
                <c:pt idx="54">
                  <c:v>162</c:v>
                </c:pt>
                <c:pt idx="55">
                  <c:v>165</c:v>
                </c:pt>
                <c:pt idx="56">
                  <c:v>168</c:v>
                </c:pt>
                <c:pt idx="57">
                  <c:v>171</c:v>
                </c:pt>
                <c:pt idx="58">
                  <c:v>174</c:v>
                </c:pt>
                <c:pt idx="59">
                  <c:v>177</c:v>
                </c:pt>
                <c:pt idx="60">
                  <c:v>180</c:v>
                </c:pt>
                <c:pt idx="61">
                  <c:v>183</c:v>
                </c:pt>
                <c:pt idx="62">
                  <c:v>186</c:v>
                </c:pt>
                <c:pt idx="63">
                  <c:v>189</c:v>
                </c:pt>
                <c:pt idx="64">
                  <c:v>192</c:v>
                </c:pt>
                <c:pt idx="65">
                  <c:v>195</c:v>
                </c:pt>
                <c:pt idx="66">
                  <c:v>198</c:v>
                </c:pt>
                <c:pt idx="67">
                  <c:v>201</c:v>
                </c:pt>
                <c:pt idx="68">
                  <c:v>204</c:v>
                </c:pt>
                <c:pt idx="69">
                  <c:v>207</c:v>
                </c:pt>
                <c:pt idx="70">
                  <c:v>210</c:v>
                </c:pt>
                <c:pt idx="71">
                  <c:v>213</c:v>
                </c:pt>
                <c:pt idx="72">
                  <c:v>216</c:v>
                </c:pt>
                <c:pt idx="73">
                  <c:v>219</c:v>
                </c:pt>
                <c:pt idx="74">
                  <c:v>222</c:v>
                </c:pt>
                <c:pt idx="75">
                  <c:v>225</c:v>
                </c:pt>
                <c:pt idx="76">
                  <c:v>228</c:v>
                </c:pt>
                <c:pt idx="77">
                  <c:v>231</c:v>
                </c:pt>
                <c:pt idx="78">
                  <c:v>234</c:v>
                </c:pt>
                <c:pt idx="79">
                  <c:v>243</c:v>
                </c:pt>
              </c:numCache>
            </c:numRef>
          </c:xVal>
          <c:yVal>
            <c:numRef>
              <c:f>'Chart Data'!$D$2:$D$81</c:f>
              <c:numCache>
                <c:formatCode>0.00</c:formatCode>
                <c:ptCount val="80"/>
                <c:pt idx="0">
                  <c:v>0.93288368</c:v>
                </c:pt>
                <c:pt idx="1">
                  <c:v>0.92245489</c:v>
                </c:pt>
                <c:pt idx="2">
                  <c:v>0.91654074</c:v>
                </c:pt>
                <c:pt idx="3">
                  <c:v>0.92223305</c:v>
                </c:pt>
                <c:pt idx="4">
                  <c:v>0.91391283</c:v>
                </c:pt>
                <c:pt idx="5">
                  <c:v>0.90404016</c:v>
                </c:pt>
                <c:pt idx="6">
                  <c:v>0.91063941</c:v>
                </c:pt>
                <c:pt idx="7">
                  <c:v>0.90334034</c:v>
                </c:pt>
                <c:pt idx="8">
                  <c:v>0.8949905</c:v>
                </c:pt>
                <c:pt idx="9">
                  <c:v>0.88902372</c:v>
                </c:pt>
                <c:pt idx="10">
                  <c:v>0.89727706</c:v>
                </c:pt>
                <c:pt idx="11">
                  <c:v>0.88577574</c:v>
                </c:pt>
                <c:pt idx="12">
                  <c:v>0.8968116</c:v>
                </c:pt>
                <c:pt idx="13">
                  <c:v>0.89589959</c:v>
                </c:pt>
                <c:pt idx="14">
                  <c:v>0.89473563</c:v>
                </c:pt>
                <c:pt idx="15">
                  <c:v>0.8902182</c:v>
                </c:pt>
                <c:pt idx="16">
                  <c:v>0.88995028</c:v>
                </c:pt>
                <c:pt idx="17">
                  <c:v>0.87785459</c:v>
                </c:pt>
                <c:pt idx="18">
                  <c:v>0.8889327</c:v>
                </c:pt>
                <c:pt idx="19">
                  <c:v>0.88012123</c:v>
                </c:pt>
                <c:pt idx="20">
                  <c:v>0.88860452</c:v>
                </c:pt>
                <c:pt idx="21">
                  <c:v>0.8862111</c:v>
                </c:pt>
                <c:pt idx="22">
                  <c:v>0.8799876</c:v>
                </c:pt>
                <c:pt idx="23">
                  <c:v>0.88103807</c:v>
                </c:pt>
                <c:pt idx="24">
                  <c:v>0.87638342</c:v>
                </c:pt>
                <c:pt idx="25">
                  <c:v>0.86631441</c:v>
                </c:pt>
                <c:pt idx="26">
                  <c:v>0.86481154</c:v>
                </c:pt>
                <c:pt idx="27">
                  <c:v>0.87976348</c:v>
                </c:pt>
                <c:pt idx="28">
                  <c:v>0.86767286</c:v>
                </c:pt>
                <c:pt idx="29">
                  <c:v>0.87596017</c:v>
                </c:pt>
                <c:pt idx="30">
                  <c:v>0.87506473</c:v>
                </c:pt>
                <c:pt idx="31">
                  <c:v>0.87510228</c:v>
                </c:pt>
                <c:pt idx="32">
                  <c:v>0.86889595</c:v>
                </c:pt>
                <c:pt idx="33">
                  <c:v>0.86496472</c:v>
                </c:pt>
                <c:pt idx="34">
                  <c:v>0.86735904</c:v>
                </c:pt>
                <c:pt idx="35">
                  <c:v>0.85961235</c:v>
                </c:pt>
                <c:pt idx="36">
                  <c:v>0.86855954</c:v>
                </c:pt>
                <c:pt idx="37">
                  <c:v>0.85583836</c:v>
                </c:pt>
                <c:pt idx="38">
                  <c:v>0.84641623</c:v>
                </c:pt>
                <c:pt idx="39">
                  <c:v>0.85326576</c:v>
                </c:pt>
                <c:pt idx="40">
                  <c:v>0.85802078</c:v>
                </c:pt>
                <c:pt idx="41">
                  <c:v>0.8498624</c:v>
                </c:pt>
                <c:pt idx="42">
                  <c:v>0.84885645</c:v>
                </c:pt>
                <c:pt idx="43">
                  <c:v>0.84814775</c:v>
                </c:pt>
                <c:pt idx="44">
                  <c:v>0.84108269</c:v>
                </c:pt>
                <c:pt idx="45">
                  <c:v>0.84883308</c:v>
                </c:pt>
                <c:pt idx="46">
                  <c:v>0.84155476</c:v>
                </c:pt>
                <c:pt idx="47">
                  <c:v>0.84754562</c:v>
                </c:pt>
                <c:pt idx="48">
                  <c:v>0.84973788</c:v>
                </c:pt>
                <c:pt idx="49">
                  <c:v>0.83847648</c:v>
                </c:pt>
                <c:pt idx="50">
                  <c:v>0.83942074</c:v>
                </c:pt>
                <c:pt idx="51">
                  <c:v>0.83790851</c:v>
                </c:pt>
                <c:pt idx="52">
                  <c:v>0.8285085</c:v>
                </c:pt>
                <c:pt idx="53">
                  <c:v>0.83205974</c:v>
                </c:pt>
                <c:pt idx="54">
                  <c:v>0.83642215</c:v>
                </c:pt>
                <c:pt idx="55">
                  <c:v>0.83137906</c:v>
                </c:pt>
                <c:pt idx="56">
                  <c:v>0.8269375</c:v>
                </c:pt>
                <c:pt idx="57">
                  <c:v>0.82540572</c:v>
                </c:pt>
                <c:pt idx="58">
                  <c:v>0.82271433</c:v>
                </c:pt>
                <c:pt idx="59">
                  <c:v>0.82571113</c:v>
                </c:pt>
                <c:pt idx="60">
                  <c:v>0.82430333</c:v>
                </c:pt>
                <c:pt idx="61">
                  <c:v>0.81230015</c:v>
                </c:pt>
                <c:pt idx="62">
                  <c:v>0.80979753</c:v>
                </c:pt>
                <c:pt idx="63">
                  <c:v>0.80741441</c:v>
                </c:pt>
                <c:pt idx="64">
                  <c:v>0.80621755</c:v>
                </c:pt>
                <c:pt idx="65">
                  <c:v>0.80313379</c:v>
                </c:pt>
                <c:pt idx="66">
                  <c:v>0.79624414</c:v>
                </c:pt>
                <c:pt idx="67">
                  <c:v>0.79503101</c:v>
                </c:pt>
                <c:pt idx="68">
                  <c:v>0.78517705</c:v>
                </c:pt>
                <c:pt idx="69">
                  <c:v>0.78578484</c:v>
                </c:pt>
                <c:pt idx="70">
                  <c:v>0.77785081</c:v>
                </c:pt>
                <c:pt idx="71">
                  <c:v>0.77771777</c:v>
                </c:pt>
                <c:pt idx="72">
                  <c:v>0.76405871</c:v>
                </c:pt>
                <c:pt idx="73">
                  <c:v>0.7595706</c:v>
                </c:pt>
                <c:pt idx="74">
                  <c:v>0.76026362</c:v>
                </c:pt>
                <c:pt idx="75">
                  <c:v>0.75398767</c:v>
                </c:pt>
                <c:pt idx="76">
                  <c:v>0.75030929</c:v>
                </c:pt>
                <c:pt idx="77">
                  <c:v>0.73345786</c:v>
                </c:pt>
                <c:pt idx="78">
                  <c:v>0.73536545</c:v>
                </c:pt>
                <c:pt idx="79">
                  <c:v>0.74091065</c:v>
                </c:pt>
              </c:numCache>
            </c:numRef>
          </c:yVal>
        </c:ser>
        <c:ser>
          <c:idx val="2"/>
          <c:order val="2"/>
          <c:tx>
            <c:v>PINN</c:v>
          </c:tx>
          <c:spPr>
            <a:solidFill xmlns:a="http://schemas.openxmlformats.org/drawingml/2006/main">
              <a:srgbClr val="20567B"/>
            </a:solidFill>
            <a:ln xmlns:a="http://schemas.openxmlformats.org/drawingml/2006/main" w="19050">
              <a:solidFill>
                <a:srgbClr val="20567B"/>
              </a:solidFill>
            </a:ln>
          </c:spPr>
          <c:xVal>
            <c:numRef>
              <c:f>'Chart Data'!$E$2:$E$81</c:f>
              <c:numCache>
                <c:formatCode>General</c:formatCode>
                <c:ptCount val="80"/>
                <c:pt idx="0">
                  <c:v>0</c:v>
                </c:pt>
                <c:pt idx="1">
                  <c:v>3</c:v>
                </c:pt>
                <c:pt idx="2">
                  <c:v>6</c:v>
                </c:pt>
                <c:pt idx="3">
                  <c:v>9</c:v>
                </c:pt>
                <c:pt idx="4">
                  <c:v>12</c:v>
                </c:pt>
                <c:pt idx="5">
                  <c:v>15</c:v>
                </c:pt>
                <c:pt idx="6">
                  <c:v>18</c:v>
                </c:pt>
                <c:pt idx="7">
                  <c:v>21</c:v>
                </c:pt>
                <c:pt idx="8">
                  <c:v>24</c:v>
                </c:pt>
                <c:pt idx="9">
                  <c:v>27</c:v>
                </c:pt>
                <c:pt idx="10">
                  <c:v>30</c:v>
                </c:pt>
                <c:pt idx="11">
                  <c:v>33</c:v>
                </c:pt>
                <c:pt idx="12">
                  <c:v>36</c:v>
                </c:pt>
                <c:pt idx="13">
                  <c:v>39</c:v>
                </c:pt>
                <c:pt idx="14">
                  <c:v>42</c:v>
                </c:pt>
                <c:pt idx="15">
                  <c:v>45</c:v>
                </c:pt>
                <c:pt idx="16">
                  <c:v>48</c:v>
                </c:pt>
                <c:pt idx="17">
                  <c:v>51</c:v>
                </c:pt>
                <c:pt idx="18">
                  <c:v>54</c:v>
                </c:pt>
                <c:pt idx="19">
                  <c:v>57</c:v>
                </c:pt>
                <c:pt idx="20">
                  <c:v>60</c:v>
                </c:pt>
                <c:pt idx="21">
                  <c:v>63</c:v>
                </c:pt>
                <c:pt idx="22">
                  <c:v>66</c:v>
                </c:pt>
                <c:pt idx="23">
                  <c:v>69</c:v>
                </c:pt>
                <c:pt idx="24">
                  <c:v>72</c:v>
                </c:pt>
                <c:pt idx="25">
                  <c:v>75</c:v>
                </c:pt>
                <c:pt idx="26">
                  <c:v>78</c:v>
                </c:pt>
                <c:pt idx="27">
                  <c:v>81</c:v>
                </c:pt>
                <c:pt idx="28">
                  <c:v>84</c:v>
                </c:pt>
                <c:pt idx="29">
                  <c:v>87</c:v>
                </c:pt>
                <c:pt idx="30">
                  <c:v>90</c:v>
                </c:pt>
                <c:pt idx="31">
                  <c:v>93</c:v>
                </c:pt>
                <c:pt idx="32">
                  <c:v>96</c:v>
                </c:pt>
                <c:pt idx="33">
                  <c:v>99</c:v>
                </c:pt>
                <c:pt idx="34">
                  <c:v>102</c:v>
                </c:pt>
                <c:pt idx="35">
                  <c:v>105</c:v>
                </c:pt>
                <c:pt idx="36">
                  <c:v>108</c:v>
                </c:pt>
                <c:pt idx="37">
                  <c:v>111</c:v>
                </c:pt>
                <c:pt idx="38">
                  <c:v>114</c:v>
                </c:pt>
                <c:pt idx="39">
                  <c:v>117</c:v>
                </c:pt>
                <c:pt idx="40">
                  <c:v>120</c:v>
                </c:pt>
                <c:pt idx="41">
                  <c:v>123</c:v>
                </c:pt>
                <c:pt idx="42">
                  <c:v>126</c:v>
                </c:pt>
                <c:pt idx="43">
                  <c:v>129</c:v>
                </c:pt>
                <c:pt idx="44">
                  <c:v>132</c:v>
                </c:pt>
                <c:pt idx="45">
                  <c:v>135</c:v>
                </c:pt>
                <c:pt idx="46">
                  <c:v>138</c:v>
                </c:pt>
                <c:pt idx="47">
                  <c:v>141</c:v>
                </c:pt>
                <c:pt idx="48">
                  <c:v>144</c:v>
                </c:pt>
                <c:pt idx="49">
                  <c:v>147</c:v>
                </c:pt>
                <c:pt idx="50">
                  <c:v>150</c:v>
                </c:pt>
                <c:pt idx="51">
                  <c:v>153</c:v>
                </c:pt>
                <c:pt idx="52">
                  <c:v>156</c:v>
                </c:pt>
                <c:pt idx="53">
                  <c:v>159</c:v>
                </c:pt>
                <c:pt idx="54">
                  <c:v>162</c:v>
                </c:pt>
                <c:pt idx="55">
                  <c:v>165</c:v>
                </c:pt>
                <c:pt idx="56">
                  <c:v>168</c:v>
                </c:pt>
                <c:pt idx="57">
                  <c:v>171</c:v>
                </c:pt>
                <c:pt idx="58">
                  <c:v>174</c:v>
                </c:pt>
                <c:pt idx="59">
                  <c:v>177</c:v>
                </c:pt>
                <c:pt idx="60">
                  <c:v>180</c:v>
                </c:pt>
                <c:pt idx="61">
                  <c:v>183</c:v>
                </c:pt>
                <c:pt idx="62">
                  <c:v>186</c:v>
                </c:pt>
                <c:pt idx="63">
                  <c:v>189</c:v>
                </c:pt>
                <c:pt idx="64">
                  <c:v>192</c:v>
                </c:pt>
                <c:pt idx="65">
                  <c:v>195</c:v>
                </c:pt>
                <c:pt idx="66">
                  <c:v>198</c:v>
                </c:pt>
                <c:pt idx="67">
                  <c:v>201</c:v>
                </c:pt>
                <c:pt idx="68">
                  <c:v>204</c:v>
                </c:pt>
                <c:pt idx="69">
                  <c:v>207</c:v>
                </c:pt>
                <c:pt idx="70">
                  <c:v>210</c:v>
                </c:pt>
                <c:pt idx="71">
                  <c:v>213</c:v>
                </c:pt>
                <c:pt idx="72">
                  <c:v>216</c:v>
                </c:pt>
                <c:pt idx="73">
                  <c:v>219</c:v>
                </c:pt>
                <c:pt idx="74">
                  <c:v>222</c:v>
                </c:pt>
                <c:pt idx="75">
                  <c:v>225</c:v>
                </c:pt>
                <c:pt idx="76">
                  <c:v>228</c:v>
                </c:pt>
                <c:pt idx="77">
                  <c:v>231</c:v>
                </c:pt>
                <c:pt idx="78">
                  <c:v>234</c:v>
                </c:pt>
                <c:pt idx="79">
                  <c:v>243</c:v>
                </c:pt>
              </c:numCache>
            </c:numRef>
          </c:xVal>
          <c:yVal>
            <c:numRef>
              <c:f>'Chart Data'!$F$2:$F$81</c:f>
              <c:numCache>
                <c:formatCode>0.00</c:formatCode>
                <c:ptCount val="80"/>
                <c:pt idx="0">
                  <c:v>0.93540514</c:v>
                </c:pt>
                <c:pt idx="1">
                  <c:v>0.925825</c:v>
                </c:pt>
                <c:pt idx="2">
                  <c:v>0.92278117</c:v>
                </c:pt>
                <c:pt idx="3">
                  <c:v>0.92118245</c:v>
                </c:pt>
                <c:pt idx="4">
                  <c:v>0.91689813</c:v>
                </c:pt>
                <c:pt idx="5">
                  <c:v>0.90871543</c:v>
                </c:pt>
                <c:pt idx="6">
                  <c:v>0.9170683</c:v>
                </c:pt>
                <c:pt idx="7">
                  <c:v>0.90810096</c:v>
                </c:pt>
                <c:pt idx="8">
                  <c:v>0.90060669</c:v>
                </c:pt>
                <c:pt idx="9">
                  <c:v>0.89876163</c:v>
                </c:pt>
                <c:pt idx="10">
                  <c:v>0.90086496</c:v>
                </c:pt>
                <c:pt idx="11">
                  <c:v>0.89570749</c:v>
                </c:pt>
                <c:pt idx="12">
                  <c:v>0.89823371</c:v>
                </c:pt>
                <c:pt idx="13">
                  <c:v>0.89828449</c:v>
                </c:pt>
                <c:pt idx="14">
                  <c:v>0.8976379</c:v>
                </c:pt>
                <c:pt idx="15">
                  <c:v>0.89465964</c:v>
                </c:pt>
                <c:pt idx="16">
                  <c:v>0.89410377</c:v>
                </c:pt>
                <c:pt idx="17">
                  <c:v>0.88326186</c:v>
                </c:pt>
                <c:pt idx="18">
                  <c:v>0.89436501</c:v>
                </c:pt>
                <c:pt idx="19">
                  <c:v>0.88445836</c:v>
                </c:pt>
                <c:pt idx="20">
                  <c:v>0.88808841</c:v>
                </c:pt>
                <c:pt idx="21">
                  <c:v>0.88531232</c:v>
                </c:pt>
                <c:pt idx="22">
                  <c:v>0.88215631</c:v>
                </c:pt>
                <c:pt idx="23">
                  <c:v>0.88337469</c:v>
                </c:pt>
                <c:pt idx="24">
                  <c:v>0.87956303</c:v>
                </c:pt>
                <c:pt idx="25">
                  <c:v>0.87211078</c:v>
                </c:pt>
                <c:pt idx="26">
                  <c:v>0.87103176</c:v>
                </c:pt>
                <c:pt idx="27">
                  <c:v>0.87864798</c:v>
                </c:pt>
                <c:pt idx="28">
                  <c:v>0.87127608</c:v>
                </c:pt>
                <c:pt idx="29">
                  <c:v>0.87614417</c:v>
                </c:pt>
                <c:pt idx="30">
                  <c:v>0.87299526</c:v>
                </c:pt>
                <c:pt idx="31">
                  <c:v>0.87399042</c:v>
                </c:pt>
                <c:pt idx="32">
                  <c:v>0.86773264</c:v>
                </c:pt>
                <c:pt idx="33">
                  <c:v>0.86547631</c:v>
                </c:pt>
                <c:pt idx="34">
                  <c:v>0.86327857</c:v>
                </c:pt>
                <c:pt idx="35">
                  <c:v>0.85951447</c:v>
                </c:pt>
                <c:pt idx="36">
                  <c:v>0.86602378</c:v>
                </c:pt>
                <c:pt idx="37">
                  <c:v>0.85455638</c:v>
                </c:pt>
                <c:pt idx="38">
                  <c:v>0.84879571</c:v>
                </c:pt>
                <c:pt idx="39">
                  <c:v>0.85358953</c:v>
                </c:pt>
                <c:pt idx="40">
                  <c:v>0.85479963</c:v>
                </c:pt>
                <c:pt idx="41">
                  <c:v>0.84841204</c:v>
                </c:pt>
                <c:pt idx="42">
                  <c:v>0.8470782</c:v>
                </c:pt>
                <c:pt idx="43">
                  <c:v>0.84530038</c:v>
                </c:pt>
                <c:pt idx="44">
                  <c:v>0.84346336</c:v>
                </c:pt>
                <c:pt idx="45">
                  <c:v>0.84775454</c:v>
                </c:pt>
                <c:pt idx="46">
                  <c:v>0.84066761</c:v>
                </c:pt>
                <c:pt idx="47">
                  <c:v>0.84432012</c:v>
                </c:pt>
                <c:pt idx="48">
                  <c:v>0.84600216</c:v>
                </c:pt>
                <c:pt idx="49">
                  <c:v>0.83484626</c:v>
                </c:pt>
                <c:pt idx="50">
                  <c:v>0.83878362</c:v>
                </c:pt>
                <c:pt idx="51">
                  <c:v>0.83583528</c:v>
                </c:pt>
                <c:pt idx="52">
                  <c:v>0.82893622</c:v>
                </c:pt>
                <c:pt idx="53">
                  <c:v>0.83265406</c:v>
                </c:pt>
                <c:pt idx="54">
                  <c:v>0.83465397</c:v>
                </c:pt>
                <c:pt idx="55">
                  <c:v>0.8313756</c:v>
                </c:pt>
                <c:pt idx="56">
                  <c:v>0.82627684</c:v>
                </c:pt>
                <c:pt idx="57">
                  <c:v>0.82538325</c:v>
                </c:pt>
                <c:pt idx="58">
                  <c:v>0.82408023</c:v>
                </c:pt>
                <c:pt idx="59">
                  <c:v>0.82558328</c:v>
                </c:pt>
                <c:pt idx="60">
                  <c:v>0.82401001</c:v>
                </c:pt>
                <c:pt idx="61">
                  <c:v>0.81432885</c:v>
                </c:pt>
                <c:pt idx="62">
                  <c:v>0.81382275</c:v>
                </c:pt>
                <c:pt idx="63">
                  <c:v>0.8119241</c:v>
                </c:pt>
                <c:pt idx="64">
                  <c:v>0.80883026</c:v>
                </c:pt>
                <c:pt idx="65">
                  <c:v>0.8056618</c:v>
                </c:pt>
                <c:pt idx="66">
                  <c:v>0.80013442</c:v>
                </c:pt>
                <c:pt idx="67">
                  <c:v>0.79798853</c:v>
                </c:pt>
                <c:pt idx="68">
                  <c:v>0.7901203</c:v>
                </c:pt>
                <c:pt idx="69">
                  <c:v>0.78907973</c:v>
                </c:pt>
                <c:pt idx="70">
                  <c:v>0.78201687</c:v>
                </c:pt>
                <c:pt idx="71">
                  <c:v>0.78264815</c:v>
                </c:pt>
                <c:pt idx="72">
                  <c:v>0.77092552</c:v>
                </c:pt>
                <c:pt idx="73">
                  <c:v>0.76689339</c:v>
                </c:pt>
                <c:pt idx="74">
                  <c:v>0.76638573</c:v>
                </c:pt>
                <c:pt idx="75">
                  <c:v>0.76123375</c:v>
                </c:pt>
                <c:pt idx="76">
                  <c:v>0.75807792</c:v>
                </c:pt>
                <c:pt idx="77">
                  <c:v>0.74484825</c:v>
                </c:pt>
                <c:pt idx="78">
                  <c:v>0.74815476</c:v>
                </c:pt>
                <c:pt idx="79">
                  <c:v>0.74837524</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15"/>
          <c:min val="0.65"/>
        </c:scaling>
        <c:delete val="0"/>
        <c:axPos val="l"/>
        <c:majorGridlines>
          <c:spPr>
            <a:ln xmlns:a="http://schemas.openxmlformats.org/drawingml/2006/main" w="5715">
              <a:solidFill>
                <a:srgbClr val="DFE6EA"/>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SOH</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Arial"/>
                <a:ea typeface="Arial"/>
                <a:cs typeface="Arial"/>
              </a:defRPr>
            </a:pPr>
          </a:p>
        </c:txPr>
        <c:crossAx val="48650112"/>
        <c:majorUnit val="0.1"/>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Chu kỳ N</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72768"/>
      </c:valAx>
    </c:plotArea>
    <c:legend>
      <c:legendPos val="b"/>
      <c:overlay val="0"/>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
        <c:ser>
          <c:idx val="0"/>
          <c:order val="0"/>
          <c:tx>
            <c:v>Thực tế</c:v>
          </c:tx>
          <c:spPr>
            <a:solidFill xmlns:a="http://schemas.openxmlformats.org/drawingml/2006/main">
              <a:srgbClr val="222222"/>
            </a:solidFill>
            <a:ln xmlns:a="http://schemas.openxmlformats.org/drawingml/2006/main" w="19050">
              <a:solidFill>
                <a:srgbClr val="222222"/>
              </a:solidFill>
            </a:ln>
          </c:spPr>
          <c:xVal>
            <c:numRef>
              <c:f>'Chart Data'!$A$2:$A$75</c:f>
              <c:numCache>
                <c:formatCode>General</c:formatCode>
                <c:ptCount val="74"/>
                <c:pt idx="0">
                  <c:v>1</c:v>
                </c:pt>
                <c:pt idx="1">
                  <c:v>25</c:v>
                </c:pt>
                <c:pt idx="2">
                  <c:v>49</c:v>
                </c:pt>
                <c:pt idx="3">
                  <c:v>73</c:v>
                </c:pt>
                <c:pt idx="4">
                  <c:v>97</c:v>
                </c:pt>
                <c:pt idx="5">
                  <c:v>121</c:v>
                </c:pt>
                <c:pt idx="6">
                  <c:v>145</c:v>
                </c:pt>
                <c:pt idx="7">
                  <c:v>169</c:v>
                </c:pt>
                <c:pt idx="8">
                  <c:v>193</c:v>
                </c:pt>
                <c:pt idx="9">
                  <c:v>217</c:v>
                </c:pt>
                <c:pt idx="10">
                  <c:v>241</c:v>
                </c:pt>
                <c:pt idx="11">
                  <c:v>265</c:v>
                </c:pt>
                <c:pt idx="12">
                  <c:v>289</c:v>
                </c:pt>
                <c:pt idx="13">
                  <c:v>313</c:v>
                </c:pt>
                <c:pt idx="14">
                  <c:v>337</c:v>
                </c:pt>
                <c:pt idx="15">
                  <c:v>361</c:v>
                </c:pt>
                <c:pt idx="16">
                  <c:v>385</c:v>
                </c:pt>
                <c:pt idx="17">
                  <c:v>409</c:v>
                </c:pt>
                <c:pt idx="18">
                  <c:v>433</c:v>
                </c:pt>
                <c:pt idx="19">
                  <c:v>457</c:v>
                </c:pt>
                <c:pt idx="20">
                  <c:v>481</c:v>
                </c:pt>
                <c:pt idx="21">
                  <c:v>505</c:v>
                </c:pt>
                <c:pt idx="22">
                  <c:v>529</c:v>
                </c:pt>
                <c:pt idx="23">
                  <c:v>553</c:v>
                </c:pt>
                <c:pt idx="24">
                  <c:v>577</c:v>
                </c:pt>
                <c:pt idx="25">
                  <c:v>601</c:v>
                </c:pt>
                <c:pt idx="26">
                  <c:v>625</c:v>
                </c:pt>
                <c:pt idx="27">
                  <c:v>649</c:v>
                </c:pt>
                <c:pt idx="28">
                  <c:v>673</c:v>
                </c:pt>
                <c:pt idx="29">
                  <c:v>697</c:v>
                </c:pt>
                <c:pt idx="30">
                  <c:v>721</c:v>
                </c:pt>
                <c:pt idx="31">
                  <c:v>745</c:v>
                </c:pt>
                <c:pt idx="32">
                  <c:v>769</c:v>
                </c:pt>
                <c:pt idx="33">
                  <c:v>793</c:v>
                </c:pt>
                <c:pt idx="34">
                  <c:v>817</c:v>
                </c:pt>
                <c:pt idx="35">
                  <c:v>841</c:v>
                </c:pt>
                <c:pt idx="36">
                  <c:v>865</c:v>
                </c:pt>
                <c:pt idx="37">
                  <c:v>889</c:v>
                </c:pt>
                <c:pt idx="38">
                  <c:v>913</c:v>
                </c:pt>
                <c:pt idx="39">
                  <c:v>937</c:v>
                </c:pt>
                <c:pt idx="40">
                  <c:v>961</c:v>
                </c:pt>
                <c:pt idx="41">
                  <c:v>985</c:v>
                </c:pt>
                <c:pt idx="42">
                  <c:v>1009</c:v>
                </c:pt>
                <c:pt idx="43">
                  <c:v>1033</c:v>
                </c:pt>
                <c:pt idx="44">
                  <c:v>1057</c:v>
                </c:pt>
                <c:pt idx="45">
                  <c:v>1081</c:v>
                </c:pt>
                <c:pt idx="46">
                  <c:v>1105</c:v>
                </c:pt>
                <c:pt idx="47">
                  <c:v>1129</c:v>
                </c:pt>
                <c:pt idx="48">
                  <c:v>1153</c:v>
                </c:pt>
                <c:pt idx="49">
                  <c:v>1177</c:v>
                </c:pt>
                <c:pt idx="50">
                  <c:v>1201</c:v>
                </c:pt>
                <c:pt idx="51">
                  <c:v>1225</c:v>
                </c:pt>
                <c:pt idx="52">
                  <c:v>1249</c:v>
                </c:pt>
                <c:pt idx="53">
                  <c:v>1273</c:v>
                </c:pt>
                <c:pt idx="54">
                  <c:v>1297</c:v>
                </c:pt>
                <c:pt idx="55">
                  <c:v>1321</c:v>
                </c:pt>
                <c:pt idx="56">
                  <c:v>1345</c:v>
                </c:pt>
                <c:pt idx="57">
                  <c:v>1369</c:v>
                </c:pt>
                <c:pt idx="58">
                  <c:v>1393</c:v>
                </c:pt>
                <c:pt idx="59">
                  <c:v>1417</c:v>
                </c:pt>
                <c:pt idx="60">
                  <c:v>1441</c:v>
                </c:pt>
                <c:pt idx="61">
                  <c:v>1465</c:v>
                </c:pt>
                <c:pt idx="62">
                  <c:v>1489</c:v>
                </c:pt>
                <c:pt idx="63">
                  <c:v>1513</c:v>
                </c:pt>
                <c:pt idx="64">
                  <c:v>1537</c:v>
                </c:pt>
                <c:pt idx="65">
                  <c:v>1561</c:v>
                </c:pt>
                <c:pt idx="66">
                  <c:v>1585</c:v>
                </c:pt>
                <c:pt idx="67">
                  <c:v>1609</c:v>
                </c:pt>
                <c:pt idx="68">
                  <c:v>1633</c:v>
                </c:pt>
                <c:pt idx="69">
                  <c:v>1657</c:v>
                </c:pt>
                <c:pt idx="70">
                  <c:v>1681</c:v>
                </c:pt>
                <c:pt idx="71">
                  <c:v>1705</c:v>
                </c:pt>
                <c:pt idx="72">
                  <c:v>1736</c:v>
                </c:pt>
                <c:pt idx="73">
                  <c:v>1747</c:v>
                </c:pt>
              </c:numCache>
            </c:numRef>
          </c:xVal>
          <c:yVal>
            <c:numRef>
              <c:f>'Chart Data'!$B$2:$B$75</c:f>
              <c:numCache>
                <c:formatCode>0.00</c:formatCode>
                <c:ptCount val="74"/>
                <c:pt idx="0">
                  <c:v>1.08171308</c:v>
                </c:pt>
                <c:pt idx="1">
                  <c:v>1.08837211</c:v>
                </c:pt>
                <c:pt idx="2">
                  <c:v>1.08780265</c:v>
                </c:pt>
                <c:pt idx="3">
                  <c:v>1.08500433</c:v>
                </c:pt>
                <c:pt idx="4">
                  <c:v>1.08220637</c:v>
                </c:pt>
                <c:pt idx="5">
                  <c:v>1.08005714</c:v>
                </c:pt>
                <c:pt idx="6">
                  <c:v>1.07723141</c:v>
                </c:pt>
                <c:pt idx="7">
                  <c:v>1.07502508</c:v>
                </c:pt>
                <c:pt idx="8">
                  <c:v>1.07342577</c:v>
                </c:pt>
                <c:pt idx="9">
                  <c:v>1.07115757</c:v>
                </c:pt>
                <c:pt idx="10">
                  <c:v>1.07000899</c:v>
                </c:pt>
                <c:pt idx="11">
                  <c:v>1.06835997</c:v>
                </c:pt>
                <c:pt idx="12">
                  <c:v>1.06614292</c:v>
                </c:pt>
                <c:pt idx="13">
                  <c:v>1.06446004</c:v>
                </c:pt>
                <c:pt idx="14">
                  <c:v>1.06232655</c:v>
                </c:pt>
                <c:pt idx="15">
                  <c:v>1.06071317</c:v>
                </c:pt>
                <c:pt idx="16">
                  <c:v>1.05893695</c:v>
                </c:pt>
                <c:pt idx="17">
                  <c:v>1.05671215</c:v>
                </c:pt>
                <c:pt idx="18">
                  <c:v>1.05505931</c:v>
                </c:pt>
                <c:pt idx="19">
                  <c:v>1.05338764</c:v>
                </c:pt>
                <c:pt idx="20">
                  <c:v>1.05226934</c:v>
                </c:pt>
                <c:pt idx="21">
                  <c:v>1.05060947</c:v>
                </c:pt>
                <c:pt idx="22">
                  <c:v>1.04844213</c:v>
                </c:pt>
                <c:pt idx="23">
                  <c:v>1.04672122</c:v>
                </c:pt>
                <c:pt idx="24">
                  <c:v>1.0445323</c:v>
                </c:pt>
                <c:pt idx="25">
                  <c:v>1.04230821</c:v>
                </c:pt>
                <c:pt idx="26">
                  <c:v>1.04066801</c:v>
                </c:pt>
                <c:pt idx="27">
                  <c:v>1.03818345</c:v>
                </c:pt>
                <c:pt idx="28">
                  <c:v>1.03614998</c:v>
                </c:pt>
                <c:pt idx="29">
                  <c:v>1.03386736</c:v>
                </c:pt>
                <c:pt idx="30">
                  <c:v>1.03181767</c:v>
                </c:pt>
                <c:pt idx="31">
                  <c:v>1.02900362</c:v>
                </c:pt>
                <c:pt idx="32">
                  <c:v>1.02674723</c:v>
                </c:pt>
                <c:pt idx="33">
                  <c:v>1.02460241</c:v>
                </c:pt>
                <c:pt idx="34">
                  <c:v>1.02177095</c:v>
                </c:pt>
                <c:pt idx="35">
                  <c:v>1.01898193</c:v>
                </c:pt>
                <c:pt idx="36">
                  <c:v>1.01613784</c:v>
                </c:pt>
                <c:pt idx="37">
                  <c:v>1.01344466</c:v>
                </c:pt>
                <c:pt idx="38">
                  <c:v>1.0100944</c:v>
                </c:pt>
                <c:pt idx="39">
                  <c:v>1.00732267</c:v>
                </c:pt>
                <c:pt idx="40">
                  <c:v>1.0045445</c:v>
                </c:pt>
                <c:pt idx="41">
                  <c:v>1.00115693</c:v>
                </c:pt>
                <c:pt idx="42">
                  <c:v>0.9978618</c:v>
                </c:pt>
                <c:pt idx="43">
                  <c:v>0.9939813</c:v>
                </c:pt>
                <c:pt idx="44">
                  <c:v>0.990655</c:v>
                </c:pt>
                <c:pt idx="45">
                  <c:v>0.98708552</c:v>
                </c:pt>
                <c:pt idx="46">
                  <c:v>0.98287249</c:v>
                </c:pt>
                <c:pt idx="47">
                  <c:v>0.97899377</c:v>
                </c:pt>
                <c:pt idx="48">
                  <c:v>0.97515607</c:v>
                </c:pt>
                <c:pt idx="49">
                  <c:v>0.97070807</c:v>
                </c:pt>
                <c:pt idx="50">
                  <c:v>0.96616429</c:v>
                </c:pt>
                <c:pt idx="51">
                  <c:v>0.96125013</c:v>
                </c:pt>
                <c:pt idx="52">
                  <c:v>0.95566809</c:v>
                </c:pt>
                <c:pt idx="53">
                  <c:v>0.95009559</c:v>
                </c:pt>
                <c:pt idx="54">
                  <c:v>0.94457281</c:v>
                </c:pt>
                <c:pt idx="55">
                  <c:v>0.93819469</c:v>
                </c:pt>
                <c:pt idx="56">
                  <c:v>0.93152887</c:v>
                </c:pt>
                <c:pt idx="57">
                  <c:v>0.92552096</c:v>
                </c:pt>
                <c:pt idx="58">
                  <c:v>0.91799623</c:v>
                </c:pt>
                <c:pt idx="59">
                  <c:v>0.91071975</c:v>
                </c:pt>
                <c:pt idx="60">
                  <c:v>0.90350431</c:v>
                </c:pt>
                <c:pt idx="61">
                  <c:v>0.89623255</c:v>
                </c:pt>
                <c:pt idx="62">
                  <c:v>0.8885234</c:v>
                </c:pt>
                <c:pt idx="63">
                  <c:v>0.88070911</c:v>
                </c:pt>
                <c:pt idx="64">
                  <c:v>0.87403756</c:v>
                </c:pt>
                <c:pt idx="65">
                  <c:v>0.86635977</c:v>
                </c:pt>
                <c:pt idx="66">
                  <c:v>0.85912359</c:v>
                </c:pt>
                <c:pt idx="67">
                  <c:v>0.85220873</c:v>
                </c:pt>
                <c:pt idx="68">
                  <c:v>0.84502137</c:v>
                </c:pt>
                <c:pt idx="69">
                  <c:v>0.83798766</c:v>
                </c:pt>
                <c:pt idx="70">
                  <c:v>0.83136994</c:v>
                </c:pt>
                <c:pt idx="71">
                  <c:v>0.82474184</c:v>
                </c:pt>
                <c:pt idx="72">
                  <c:v>0.81587154</c:v>
                </c:pt>
                <c:pt idx="73">
                  <c:v>0.8124947</c:v>
                </c:pt>
              </c:numCache>
            </c:numRef>
          </c:yVal>
        </c:ser>
        <c:ser>
          <c:idx val="1"/>
          <c:order val="1"/>
          <c:tx>
            <c:v>MLP</c:v>
          </c:tx>
          <c:spPr>
            <a:solidFill xmlns:a="http://schemas.openxmlformats.org/drawingml/2006/main">
              <a:srgbClr val="95B4C8"/>
            </a:solidFill>
            <a:ln xmlns:a="http://schemas.openxmlformats.org/drawingml/2006/main" w="14288">
              <a:solidFill>
                <a:srgbClr val="95B4C8"/>
              </a:solidFill>
            </a:ln>
          </c:spPr>
          <c:xVal>
            <c:numRef>
              <c:f>'Chart Data'!$C$2:$C$75</c:f>
              <c:numCache>
                <c:formatCode>General</c:formatCode>
                <c:ptCount val="74"/>
                <c:pt idx="0">
                  <c:v>1</c:v>
                </c:pt>
                <c:pt idx="1">
                  <c:v>25</c:v>
                </c:pt>
                <c:pt idx="2">
                  <c:v>49</c:v>
                </c:pt>
                <c:pt idx="3">
                  <c:v>73</c:v>
                </c:pt>
                <c:pt idx="4">
                  <c:v>97</c:v>
                </c:pt>
                <c:pt idx="5">
                  <c:v>121</c:v>
                </c:pt>
                <c:pt idx="6">
                  <c:v>145</c:v>
                </c:pt>
                <c:pt idx="7">
                  <c:v>169</c:v>
                </c:pt>
                <c:pt idx="8">
                  <c:v>193</c:v>
                </c:pt>
                <c:pt idx="9">
                  <c:v>217</c:v>
                </c:pt>
                <c:pt idx="10">
                  <c:v>241</c:v>
                </c:pt>
                <c:pt idx="11">
                  <c:v>265</c:v>
                </c:pt>
                <c:pt idx="12">
                  <c:v>289</c:v>
                </c:pt>
                <c:pt idx="13">
                  <c:v>313</c:v>
                </c:pt>
                <c:pt idx="14">
                  <c:v>337</c:v>
                </c:pt>
                <c:pt idx="15">
                  <c:v>361</c:v>
                </c:pt>
                <c:pt idx="16">
                  <c:v>385</c:v>
                </c:pt>
                <c:pt idx="17">
                  <c:v>409</c:v>
                </c:pt>
                <c:pt idx="18">
                  <c:v>433</c:v>
                </c:pt>
                <c:pt idx="19">
                  <c:v>457</c:v>
                </c:pt>
                <c:pt idx="20">
                  <c:v>481</c:v>
                </c:pt>
                <c:pt idx="21">
                  <c:v>505</c:v>
                </c:pt>
                <c:pt idx="22">
                  <c:v>529</c:v>
                </c:pt>
                <c:pt idx="23">
                  <c:v>553</c:v>
                </c:pt>
                <c:pt idx="24">
                  <c:v>577</c:v>
                </c:pt>
                <c:pt idx="25">
                  <c:v>601</c:v>
                </c:pt>
                <c:pt idx="26">
                  <c:v>625</c:v>
                </c:pt>
                <c:pt idx="27">
                  <c:v>649</c:v>
                </c:pt>
                <c:pt idx="28">
                  <c:v>673</c:v>
                </c:pt>
                <c:pt idx="29">
                  <c:v>697</c:v>
                </c:pt>
                <c:pt idx="30">
                  <c:v>721</c:v>
                </c:pt>
                <c:pt idx="31">
                  <c:v>745</c:v>
                </c:pt>
                <c:pt idx="32">
                  <c:v>769</c:v>
                </c:pt>
                <c:pt idx="33">
                  <c:v>793</c:v>
                </c:pt>
                <c:pt idx="34">
                  <c:v>817</c:v>
                </c:pt>
                <c:pt idx="35">
                  <c:v>841</c:v>
                </c:pt>
                <c:pt idx="36">
                  <c:v>865</c:v>
                </c:pt>
                <c:pt idx="37">
                  <c:v>889</c:v>
                </c:pt>
                <c:pt idx="38">
                  <c:v>913</c:v>
                </c:pt>
                <c:pt idx="39">
                  <c:v>937</c:v>
                </c:pt>
                <c:pt idx="40">
                  <c:v>961</c:v>
                </c:pt>
                <c:pt idx="41">
                  <c:v>985</c:v>
                </c:pt>
                <c:pt idx="42">
                  <c:v>1009</c:v>
                </c:pt>
                <c:pt idx="43">
                  <c:v>1033</c:v>
                </c:pt>
                <c:pt idx="44">
                  <c:v>1057</c:v>
                </c:pt>
                <c:pt idx="45">
                  <c:v>1081</c:v>
                </c:pt>
                <c:pt idx="46">
                  <c:v>1105</c:v>
                </c:pt>
                <c:pt idx="47">
                  <c:v>1129</c:v>
                </c:pt>
                <c:pt idx="48">
                  <c:v>1153</c:v>
                </c:pt>
                <c:pt idx="49">
                  <c:v>1177</c:v>
                </c:pt>
                <c:pt idx="50">
                  <c:v>1201</c:v>
                </c:pt>
                <c:pt idx="51">
                  <c:v>1225</c:v>
                </c:pt>
                <c:pt idx="52">
                  <c:v>1249</c:v>
                </c:pt>
                <c:pt idx="53">
                  <c:v>1273</c:v>
                </c:pt>
                <c:pt idx="54">
                  <c:v>1297</c:v>
                </c:pt>
                <c:pt idx="55">
                  <c:v>1321</c:v>
                </c:pt>
                <c:pt idx="56">
                  <c:v>1345</c:v>
                </c:pt>
                <c:pt idx="57">
                  <c:v>1369</c:v>
                </c:pt>
                <c:pt idx="58">
                  <c:v>1393</c:v>
                </c:pt>
                <c:pt idx="59">
                  <c:v>1417</c:v>
                </c:pt>
                <c:pt idx="60">
                  <c:v>1441</c:v>
                </c:pt>
                <c:pt idx="61">
                  <c:v>1465</c:v>
                </c:pt>
                <c:pt idx="62">
                  <c:v>1489</c:v>
                </c:pt>
                <c:pt idx="63">
                  <c:v>1513</c:v>
                </c:pt>
                <c:pt idx="64">
                  <c:v>1537</c:v>
                </c:pt>
                <c:pt idx="65">
                  <c:v>1561</c:v>
                </c:pt>
                <c:pt idx="66">
                  <c:v>1585</c:v>
                </c:pt>
                <c:pt idx="67">
                  <c:v>1609</c:v>
                </c:pt>
                <c:pt idx="68">
                  <c:v>1633</c:v>
                </c:pt>
                <c:pt idx="69">
                  <c:v>1657</c:v>
                </c:pt>
                <c:pt idx="70">
                  <c:v>1681</c:v>
                </c:pt>
                <c:pt idx="71">
                  <c:v>1705</c:v>
                </c:pt>
                <c:pt idx="72">
                  <c:v>1736</c:v>
                </c:pt>
                <c:pt idx="73">
                  <c:v>1747</c:v>
                </c:pt>
              </c:numCache>
            </c:numRef>
          </c:xVal>
          <c:yVal>
            <c:numRef>
              <c:f>'Chart Data'!$D$2:$D$75</c:f>
              <c:numCache>
                <c:formatCode>0.00</c:formatCode>
                <c:ptCount val="74"/>
                <c:pt idx="0">
                  <c:v>1.09229267</c:v>
                </c:pt>
                <c:pt idx="1">
                  <c:v>1.09553623</c:v>
                </c:pt>
                <c:pt idx="2">
                  <c:v>1.09622872</c:v>
                </c:pt>
                <c:pt idx="3">
                  <c:v>1.09102714</c:v>
                </c:pt>
                <c:pt idx="4">
                  <c:v>1.08659422</c:v>
                </c:pt>
                <c:pt idx="5">
                  <c:v>1.08896184</c:v>
                </c:pt>
                <c:pt idx="6">
                  <c:v>1.08153582</c:v>
                </c:pt>
                <c:pt idx="7">
                  <c:v>1.07676995</c:v>
                </c:pt>
                <c:pt idx="8">
                  <c:v>1.0758183</c:v>
                </c:pt>
                <c:pt idx="9">
                  <c:v>1.07357371</c:v>
                </c:pt>
                <c:pt idx="10">
                  <c:v>1.07889724</c:v>
                </c:pt>
                <c:pt idx="11">
                  <c:v>1.07384944</c:v>
                </c:pt>
                <c:pt idx="12">
                  <c:v>1.06666398</c:v>
                </c:pt>
                <c:pt idx="13">
                  <c:v>1.07083642</c:v>
                </c:pt>
                <c:pt idx="14">
                  <c:v>1.06927252</c:v>
                </c:pt>
                <c:pt idx="15">
                  <c:v>1.06024194</c:v>
                </c:pt>
                <c:pt idx="16">
                  <c:v>1.0580467</c:v>
                </c:pt>
                <c:pt idx="17">
                  <c:v>1.05855274</c:v>
                </c:pt>
                <c:pt idx="18">
                  <c:v>1.05673528</c:v>
                </c:pt>
                <c:pt idx="19">
                  <c:v>1.05542266</c:v>
                </c:pt>
                <c:pt idx="20">
                  <c:v>1.05413437</c:v>
                </c:pt>
                <c:pt idx="21">
                  <c:v>1.05095053</c:v>
                </c:pt>
                <c:pt idx="22">
                  <c:v>1.05340326</c:v>
                </c:pt>
                <c:pt idx="23">
                  <c:v>1.04876363</c:v>
                </c:pt>
                <c:pt idx="24">
                  <c:v>1.04979134</c:v>
                </c:pt>
                <c:pt idx="25">
                  <c:v>1.04220366</c:v>
                </c:pt>
                <c:pt idx="26">
                  <c:v>1.04245675</c:v>
                </c:pt>
                <c:pt idx="27">
                  <c:v>1.04675961</c:v>
                </c:pt>
                <c:pt idx="28">
                  <c:v>1.04308951</c:v>
                </c:pt>
                <c:pt idx="29">
                  <c:v>1.03712213</c:v>
                </c:pt>
                <c:pt idx="30">
                  <c:v>1.03997588</c:v>
                </c:pt>
                <c:pt idx="31">
                  <c:v>1.03547573</c:v>
                </c:pt>
                <c:pt idx="32">
                  <c:v>1.02835298</c:v>
                </c:pt>
                <c:pt idx="33">
                  <c:v>1.03247356</c:v>
                </c:pt>
                <c:pt idx="34">
                  <c:v>1.02862191</c:v>
                </c:pt>
                <c:pt idx="35">
                  <c:v>1.01821089</c:v>
                </c:pt>
                <c:pt idx="36">
                  <c:v>1.0122261</c:v>
                </c:pt>
                <c:pt idx="37">
                  <c:v>1.01350486</c:v>
                </c:pt>
                <c:pt idx="38">
                  <c:v>1.01514769</c:v>
                </c:pt>
                <c:pt idx="39">
                  <c:v>1.00804985</c:v>
                </c:pt>
                <c:pt idx="40">
                  <c:v>0.99894726</c:v>
                </c:pt>
                <c:pt idx="41">
                  <c:v>1.00651002</c:v>
                </c:pt>
                <c:pt idx="42">
                  <c:v>0.98938274</c:v>
                </c:pt>
                <c:pt idx="43">
                  <c:v>0.99016654</c:v>
                </c:pt>
                <c:pt idx="44">
                  <c:v>0.98218334</c:v>
                </c:pt>
                <c:pt idx="45">
                  <c:v>0.9849112</c:v>
                </c:pt>
                <c:pt idx="46">
                  <c:v>0.96351635</c:v>
                </c:pt>
                <c:pt idx="47">
                  <c:v>0.95163357</c:v>
                </c:pt>
                <c:pt idx="48">
                  <c:v>0.95255017</c:v>
                </c:pt>
                <c:pt idx="49">
                  <c:v>0.94747651</c:v>
                </c:pt>
                <c:pt idx="50">
                  <c:v>0.94396174</c:v>
                </c:pt>
                <c:pt idx="51">
                  <c:v>0.91472411</c:v>
                </c:pt>
                <c:pt idx="52">
                  <c:v>0.92120361</c:v>
                </c:pt>
                <c:pt idx="53">
                  <c:v>0.91325104</c:v>
                </c:pt>
                <c:pt idx="54">
                  <c:v>0.91525948</c:v>
                </c:pt>
                <c:pt idx="55">
                  <c:v>0.89270854</c:v>
                </c:pt>
                <c:pt idx="56">
                  <c:v>0.88462138</c:v>
                </c:pt>
                <c:pt idx="57">
                  <c:v>0.895648</c:v>
                </c:pt>
                <c:pt idx="58">
                  <c:v>0.8864224</c:v>
                </c:pt>
                <c:pt idx="59">
                  <c:v>0.89092851</c:v>
                </c:pt>
                <c:pt idx="60">
                  <c:v>0.88223672</c:v>
                </c:pt>
                <c:pt idx="61">
                  <c:v>0.86789453</c:v>
                </c:pt>
                <c:pt idx="62">
                  <c:v>0.86035573</c:v>
                </c:pt>
                <c:pt idx="63">
                  <c:v>0.84518325</c:v>
                </c:pt>
                <c:pt idx="64">
                  <c:v>0.85431802</c:v>
                </c:pt>
                <c:pt idx="65">
                  <c:v>0.83292639</c:v>
                </c:pt>
                <c:pt idx="66">
                  <c:v>0.83892989</c:v>
                </c:pt>
                <c:pt idx="67">
                  <c:v>0.83540058</c:v>
                </c:pt>
                <c:pt idx="68">
                  <c:v>0.83043551</c:v>
                </c:pt>
                <c:pt idx="69">
                  <c:v>0.82730913</c:v>
                </c:pt>
                <c:pt idx="70">
                  <c:v>0.82614291</c:v>
                </c:pt>
                <c:pt idx="71">
                  <c:v>0.82805884</c:v>
                </c:pt>
                <c:pt idx="72">
                  <c:v>0.83043349</c:v>
                </c:pt>
                <c:pt idx="73">
                  <c:v>0.82999384</c:v>
                </c:pt>
              </c:numCache>
            </c:numRef>
          </c:yVal>
        </c:ser>
        <c:ser>
          <c:idx val="2"/>
          <c:order val="2"/>
          <c:tx>
            <c:v>PINN</c:v>
          </c:tx>
          <c:spPr>
            <a:solidFill xmlns:a="http://schemas.openxmlformats.org/drawingml/2006/main">
              <a:srgbClr val="20567B"/>
            </a:solidFill>
            <a:ln xmlns:a="http://schemas.openxmlformats.org/drawingml/2006/main" w="19050">
              <a:solidFill>
                <a:srgbClr val="20567B"/>
              </a:solidFill>
            </a:ln>
          </c:spPr>
          <c:xVal>
            <c:numRef>
              <c:f>'Chart Data'!$E$2:$E$75</c:f>
              <c:numCache>
                <c:formatCode>General</c:formatCode>
                <c:ptCount val="74"/>
                <c:pt idx="0">
                  <c:v>1</c:v>
                </c:pt>
                <c:pt idx="1">
                  <c:v>25</c:v>
                </c:pt>
                <c:pt idx="2">
                  <c:v>49</c:v>
                </c:pt>
                <c:pt idx="3">
                  <c:v>73</c:v>
                </c:pt>
                <c:pt idx="4">
                  <c:v>97</c:v>
                </c:pt>
                <c:pt idx="5">
                  <c:v>121</c:v>
                </c:pt>
                <c:pt idx="6">
                  <c:v>145</c:v>
                </c:pt>
                <c:pt idx="7">
                  <c:v>169</c:v>
                </c:pt>
                <c:pt idx="8">
                  <c:v>193</c:v>
                </c:pt>
                <c:pt idx="9">
                  <c:v>217</c:v>
                </c:pt>
                <c:pt idx="10">
                  <c:v>241</c:v>
                </c:pt>
                <c:pt idx="11">
                  <c:v>265</c:v>
                </c:pt>
                <c:pt idx="12">
                  <c:v>289</c:v>
                </c:pt>
                <c:pt idx="13">
                  <c:v>313</c:v>
                </c:pt>
                <c:pt idx="14">
                  <c:v>337</c:v>
                </c:pt>
                <c:pt idx="15">
                  <c:v>361</c:v>
                </c:pt>
                <c:pt idx="16">
                  <c:v>385</c:v>
                </c:pt>
                <c:pt idx="17">
                  <c:v>409</c:v>
                </c:pt>
                <c:pt idx="18">
                  <c:v>433</c:v>
                </c:pt>
                <c:pt idx="19">
                  <c:v>457</c:v>
                </c:pt>
                <c:pt idx="20">
                  <c:v>481</c:v>
                </c:pt>
                <c:pt idx="21">
                  <c:v>505</c:v>
                </c:pt>
                <c:pt idx="22">
                  <c:v>529</c:v>
                </c:pt>
                <c:pt idx="23">
                  <c:v>553</c:v>
                </c:pt>
                <c:pt idx="24">
                  <c:v>577</c:v>
                </c:pt>
                <c:pt idx="25">
                  <c:v>601</c:v>
                </c:pt>
                <c:pt idx="26">
                  <c:v>625</c:v>
                </c:pt>
                <c:pt idx="27">
                  <c:v>649</c:v>
                </c:pt>
                <c:pt idx="28">
                  <c:v>673</c:v>
                </c:pt>
                <c:pt idx="29">
                  <c:v>697</c:v>
                </c:pt>
                <c:pt idx="30">
                  <c:v>721</c:v>
                </c:pt>
                <c:pt idx="31">
                  <c:v>745</c:v>
                </c:pt>
                <c:pt idx="32">
                  <c:v>769</c:v>
                </c:pt>
                <c:pt idx="33">
                  <c:v>793</c:v>
                </c:pt>
                <c:pt idx="34">
                  <c:v>817</c:v>
                </c:pt>
                <c:pt idx="35">
                  <c:v>841</c:v>
                </c:pt>
                <c:pt idx="36">
                  <c:v>865</c:v>
                </c:pt>
                <c:pt idx="37">
                  <c:v>889</c:v>
                </c:pt>
                <c:pt idx="38">
                  <c:v>913</c:v>
                </c:pt>
                <c:pt idx="39">
                  <c:v>937</c:v>
                </c:pt>
                <c:pt idx="40">
                  <c:v>961</c:v>
                </c:pt>
                <c:pt idx="41">
                  <c:v>985</c:v>
                </c:pt>
                <c:pt idx="42">
                  <c:v>1009</c:v>
                </c:pt>
                <c:pt idx="43">
                  <c:v>1033</c:v>
                </c:pt>
                <c:pt idx="44">
                  <c:v>1057</c:v>
                </c:pt>
                <c:pt idx="45">
                  <c:v>1081</c:v>
                </c:pt>
                <c:pt idx="46">
                  <c:v>1105</c:v>
                </c:pt>
                <c:pt idx="47">
                  <c:v>1129</c:v>
                </c:pt>
                <c:pt idx="48">
                  <c:v>1153</c:v>
                </c:pt>
                <c:pt idx="49">
                  <c:v>1177</c:v>
                </c:pt>
                <c:pt idx="50">
                  <c:v>1201</c:v>
                </c:pt>
                <c:pt idx="51">
                  <c:v>1225</c:v>
                </c:pt>
                <c:pt idx="52">
                  <c:v>1249</c:v>
                </c:pt>
                <c:pt idx="53">
                  <c:v>1273</c:v>
                </c:pt>
                <c:pt idx="54">
                  <c:v>1297</c:v>
                </c:pt>
                <c:pt idx="55">
                  <c:v>1321</c:v>
                </c:pt>
                <c:pt idx="56">
                  <c:v>1345</c:v>
                </c:pt>
                <c:pt idx="57">
                  <c:v>1369</c:v>
                </c:pt>
                <c:pt idx="58">
                  <c:v>1393</c:v>
                </c:pt>
                <c:pt idx="59">
                  <c:v>1417</c:v>
                </c:pt>
                <c:pt idx="60">
                  <c:v>1441</c:v>
                </c:pt>
                <c:pt idx="61">
                  <c:v>1465</c:v>
                </c:pt>
                <c:pt idx="62">
                  <c:v>1489</c:v>
                </c:pt>
                <c:pt idx="63">
                  <c:v>1513</c:v>
                </c:pt>
                <c:pt idx="64">
                  <c:v>1537</c:v>
                </c:pt>
                <c:pt idx="65">
                  <c:v>1561</c:v>
                </c:pt>
                <c:pt idx="66">
                  <c:v>1585</c:v>
                </c:pt>
                <c:pt idx="67">
                  <c:v>1609</c:v>
                </c:pt>
                <c:pt idx="68">
                  <c:v>1633</c:v>
                </c:pt>
                <c:pt idx="69">
                  <c:v>1657</c:v>
                </c:pt>
                <c:pt idx="70">
                  <c:v>1681</c:v>
                </c:pt>
                <c:pt idx="71">
                  <c:v>1705</c:v>
                </c:pt>
                <c:pt idx="72">
                  <c:v>1736</c:v>
                </c:pt>
                <c:pt idx="73">
                  <c:v>1747</c:v>
                </c:pt>
              </c:numCache>
            </c:numRef>
          </c:xVal>
          <c:yVal>
            <c:numRef>
              <c:f>'Chart Data'!$F$2:$F$75</c:f>
              <c:numCache>
                <c:formatCode>0.00</c:formatCode>
                <c:ptCount val="74"/>
                <c:pt idx="0">
                  <c:v>1.09320903</c:v>
                </c:pt>
                <c:pt idx="1">
                  <c:v>1.08675885</c:v>
                </c:pt>
                <c:pt idx="2">
                  <c:v>1.08505797</c:v>
                </c:pt>
                <c:pt idx="3">
                  <c:v>1.08086586</c:v>
                </c:pt>
                <c:pt idx="4">
                  <c:v>1.07924616</c:v>
                </c:pt>
                <c:pt idx="5">
                  <c:v>1.07663691</c:v>
                </c:pt>
                <c:pt idx="6">
                  <c:v>1.07553959</c:v>
                </c:pt>
                <c:pt idx="7">
                  <c:v>1.07431221</c:v>
                </c:pt>
                <c:pt idx="8">
                  <c:v>1.07188916</c:v>
                </c:pt>
                <c:pt idx="9">
                  <c:v>1.07128561</c:v>
                </c:pt>
                <c:pt idx="10">
                  <c:v>1.07019782</c:v>
                </c:pt>
                <c:pt idx="11">
                  <c:v>1.06989038</c:v>
                </c:pt>
                <c:pt idx="12">
                  <c:v>1.06624174</c:v>
                </c:pt>
                <c:pt idx="13">
                  <c:v>1.0661726</c:v>
                </c:pt>
                <c:pt idx="14">
                  <c:v>1.06401241</c:v>
                </c:pt>
                <c:pt idx="15">
                  <c:v>1.0621326</c:v>
                </c:pt>
                <c:pt idx="16">
                  <c:v>1.05841947</c:v>
                </c:pt>
                <c:pt idx="17">
                  <c:v>1.05734503</c:v>
                </c:pt>
                <c:pt idx="18">
                  <c:v>1.05584037</c:v>
                </c:pt>
                <c:pt idx="19">
                  <c:v>1.05481672</c:v>
                </c:pt>
                <c:pt idx="20">
                  <c:v>1.05302775</c:v>
                </c:pt>
                <c:pt idx="21">
                  <c:v>1.04922545</c:v>
                </c:pt>
                <c:pt idx="22">
                  <c:v>1.04931033</c:v>
                </c:pt>
                <c:pt idx="23">
                  <c:v>1.04681218</c:v>
                </c:pt>
                <c:pt idx="24">
                  <c:v>1.04534614</c:v>
                </c:pt>
                <c:pt idx="25">
                  <c:v>1.04295707</c:v>
                </c:pt>
                <c:pt idx="26">
                  <c:v>1.04358959</c:v>
                </c:pt>
                <c:pt idx="27">
                  <c:v>1.04200566</c:v>
                </c:pt>
                <c:pt idx="28">
                  <c:v>1.040923</c:v>
                </c:pt>
                <c:pt idx="29">
                  <c:v>1.03839612</c:v>
                </c:pt>
                <c:pt idx="30">
                  <c:v>1.0356791</c:v>
                </c:pt>
                <c:pt idx="31">
                  <c:v>1.03566885</c:v>
                </c:pt>
                <c:pt idx="32">
                  <c:v>1.03064549</c:v>
                </c:pt>
                <c:pt idx="33">
                  <c:v>1.03053141</c:v>
                </c:pt>
                <c:pt idx="34">
                  <c:v>1.02734101</c:v>
                </c:pt>
                <c:pt idx="35">
                  <c:v>1.02737856</c:v>
                </c:pt>
                <c:pt idx="36">
                  <c:v>1.01995504</c:v>
                </c:pt>
                <c:pt idx="37">
                  <c:v>1.01964295</c:v>
                </c:pt>
                <c:pt idx="38">
                  <c:v>1.01992428</c:v>
                </c:pt>
                <c:pt idx="39">
                  <c:v>1.01449084</c:v>
                </c:pt>
                <c:pt idx="40">
                  <c:v>1.00578749</c:v>
                </c:pt>
                <c:pt idx="41">
                  <c:v>1.00758278</c:v>
                </c:pt>
                <c:pt idx="42">
                  <c:v>0.99806565</c:v>
                </c:pt>
                <c:pt idx="43">
                  <c:v>0.99640191</c:v>
                </c:pt>
                <c:pt idx="44">
                  <c:v>0.98830181</c:v>
                </c:pt>
                <c:pt idx="45">
                  <c:v>0.98606503</c:v>
                </c:pt>
                <c:pt idx="46">
                  <c:v>0.97948021</c:v>
                </c:pt>
                <c:pt idx="47">
                  <c:v>0.96610528</c:v>
                </c:pt>
                <c:pt idx="48">
                  <c:v>0.96406782</c:v>
                </c:pt>
                <c:pt idx="49">
                  <c:v>0.95509523</c:v>
                </c:pt>
                <c:pt idx="50">
                  <c:v>0.9523778</c:v>
                </c:pt>
                <c:pt idx="51">
                  <c:v>0.93668514</c:v>
                </c:pt>
                <c:pt idx="52">
                  <c:v>0.9306252</c:v>
                </c:pt>
                <c:pt idx="53">
                  <c:v>0.9238885</c:v>
                </c:pt>
                <c:pt idx="54">
                  <c:v>0.92276591</c:v>
                </c:pt>
                <c:pt idx="55">
                  <c:v>0.91575837</c:v>
                </c:pt>
                <c:pt idx="56">
                  <c:v>0.90198779</c:v>
                </c:pt>
                <c:pt idx="57">
                  <c:v>0.90657365</c:v>
                </c:pt>
                <c:pt idx="58">
                  <c:v>0.89663053</c:v>
                </c:pt>
                <c:pt idx="59">
                  <c:v>0.89945197</c:v>
                </c:pt>
                <c:pt idx="60">
                  <c:v>0.89048713</c:v>
                </c:pt>
                <c:pt idx="61">
                  <c:v>0.88170969</c:v>
                </c:pt>
                <c:pt idx="62">
                  <c:v>0.87418628</c:v>
                </c:pt>
                <c:pt idx="63">
                  <c:v>0.86487722</c:v>
                </c:pt>
                <c:pt idx="64">
                  <c:v>0.85988653</c:v>
                </c:pt>
                <c:pt idx="65">
                  <c:v>0.84886777</c:v>
                </c:pt>
                <c:pt idx="66">
                  <c:v>0.85181487</c:v>
                </c:pt>
                <c:pt idx="67">
                  <c:v>0.84688985</c:v>
                </c:pt>
                <c:pt idx="68">
                  <c:v>0.84399652</c:v>
                </c:pt>
                <c:pt idx="69">
                  <c:v>0.84234363</c:v>
                </c:pt>
                <c:pt idx="70">
                  <c:v>0.83824128</c:v>
                </c:pt>
                <c:pt idx="71">
                  <c:v>0.83605546</c:v>
                </c:pt>
                <c:pt idx="72">
                  <c:v>0.83610016</c:v>
                </c:pt>
                <c:pt idx="73">
                  <c:v>0.83723527</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15"/>
          <c:min val="0.65"/>
        </c:scaling>
        <c:delete val="0"/>
        <c:axPos val="l"/>
        <c:majorGridlines>
          <c:spPr>
            <a:ln xmlns:a="http://schemas.openxmlformats.org/drawingml/2006/main" w="5715">
              <a:solidFill>
                <a:srgbClr val="DFE6EA"/>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SOH</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Arial"/>
                <a:ea typeface="Arial"/>
                <a:cs typeface="Arial"/>
              </a:defRPr>
            </a:pPr>
          </a:p>
        </c:txPr>
        <c:crossAx val="48650112"/>
        <c:majorUnit val="0.1"/>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Chu kỳ N</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72768"/>
      </c:valAx>
    </c:plotArea>
    <c:legend>
      <c:legendPos val="b"/>
      <c:overlay val="0"/>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25cf6b758bc74db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17197143e8f48ed"/>
          <a:stretch xmlns:a="http://schemas.openxmlformats.org/drawingml/2006/main"/>
        </p:blipFill>
        <p:spPr>
          <a:xfrm xmlns:a="http://schemas.openxmlformats.org/drawingml/2006/main">
            <a:off x="4676775" y="620100"/>
            <a:ext cx="1162050" cy="569551"/>
          </a:xfrm>
          <a:prstGeom xmlns:a="http://schemas.openxmlformats.org/drawingml/2006/main" prst="rect">
            <a:avLst/>
          </a:prstGeom>
        </p:spPr>
      </p:pic>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caf59b52a634569"/>
          <a:stretch xmlns:a="http://schemas.openxmlformats.org/drawingml/2006/main"/>
        </p:blipFill>
        <p:spPr>
          <a:xfrm xmlns:a="http://schemas.openxmlformats.org/drawingml/2006/main">
            <a:off x="6572250" y="571822"/>
            <a:ext cx="647700" cy="58990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E89EA32-4378-438E-B351-C353813ECB53}"/>
              </a:ext>
            </a:extLst>
          </p:cNvPr>
          <p:cNvSpPr>
            <a:spLocks xmlns:a="http://schemas.openxmlformats.org/drawingml/2006/main" noGrp="1"/>
          </p:cNvSpPr>
          <p:nvPr/>
        </p:nvSpPr>
        <p:spPr>
          <a:xfrm xmlns:a="http://schemas.openxmlformats.org/drawingml/2006/main">
            <a:off x="2000250" y="1752600"/>
            <a:ext cx="819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950" b="1">
                <a:solidFill>
                  <a:srgbClr val="20567B"/>
                </a:solidFill>
                <a:latin typeface="Arial"/>
                <a:ea typeface="Arial"/>
                <a:cs typeface="Arial"/>
              </a:defRPr>
            </a:pPr>
            <a:r>
              <a:rPr sz="1950" b="1">
                <a:solidFill>
                  <a:srgbClr val="20567B"/>
                </a:solidFill>
                <a:latin typeface="Arial"/>
                <a:ea typeface="Arial"/>
                <a:cs typeface="Arial"/>
              </a:rPr>
              <a:t>ĐỒ ÁN CHUYÊN NGÀNH HK261</a:t>
            </a:r>
          </a:p>
        </p:txBody>
      </p:sp>
      <p:sp>
        <p:nvSpPr>
          <p:cNvPr id="5" name="">
            <a:extLst xmlns:a="http://schemas.openxmlformats.org/drawingml/2006/main">
              <a:ext uri="{FF2B5EF4-FFF2-40B4-BE49-F238E27FC236}">
                <a16:creationId xmlns:a16="http://schemas.microsoft.com/office/drawing/2014/main" id="{76F142D9-73E8-44E7-846D-6C3B7F93CE35}"/>
              </a:ext>
            </a:extLst>
          </p:cNvPr>
          <p:cNvSpPr>
            <a:spLocks xmlns:a="http://schemas.openxmlformats.org/drawingml/2006/main" noGrp="1"/>
          </p:cNvSpPr>
          <p:nvPr/>
        </p:nvSpPr>
        <p:spPr>
          <a:xfrm xmlns:a="http://schemas.openxmlformats.org/drawingml/2006/main">
            <a:off x="1905000" y="2524125"/>
            <a:ext cx="8382000"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3300" b="1">
                <a:solidFill>
                  <a:srgbClr val="20567B"/>
                </a:solidFill>
                <a:latin typeface="Arial"/>
                <a:ea typeface="Arial"/>
                <a:cs typeface="Arial"/>
              </a:defRPr>
            </a:pPr>
            <a:r>
              <a:rPr sz="3300" b="1">
                <a:solidFill>
                  <a:srgbClr val="20567B"/>
                </a:solidFill>
                <a:latin typeface="Arial"/>
                <a:ea typeface="Arial"/>
                <a:cs typeface="Arial"/>
              </a:rPr>
              <a:t>Dự đoán thông số sức khoẻ của pin</a:t>
            </a:r>
          </a:p>
          <a:p xmlns:a="http://schemas.openxmlformats.org/drawingml/2006/main">
            <a:pPr algn="ctr">
              <a:defRPr sz="3300" b="1">
                <a:solidFill>
                  <a:srgbClr val="20567B"/>
                </a:solidFill>
                <a:latin typeface="Arial"/>
                <a:ea typeface="Arial"/>
                <a:cs typeface="Arial"/>
              </a:defRPr>
            </a:pPr>
            <a:r>
              <a:rPr sz="3300" b="1">
                <a:solidFill>
                  <a:srgbClr val="20567B"/>
                </a:solidFill>
                <a:latin typeface="Arial"/>
                <a:ea typeface="Arial"/>
                <a:cs typeface="Arial"/>
              </a:rPr>
              <a:t>bằng mô hình học sâu được hỗ trợ từ</a:t>
            </a:r>
          </a:p>
          <a:p xmlns:a="http://schemas.openxmlformats.org/drawingml/2006/main">
            <a:pPr algn="ctr">
              <a:defRPr sz="3300" b="1">
                <a:solidFill>
                  <a:srgbClr val="20567B"/>
                </a:solidFill>
                <a:latin typeface="Arial"/>
                <a:ea typeface="Arial"/>
                <a:cs typeface="Arial"/>
              </a:defRPr>
            </a:pPr>
            <a:r>
              <a:rPr sz="3300" b="1">
                <a:solidFill>
                  <a:srgbClr val="20567B"/>
                </a:solidFill>
                <a:latin typeface="Arial"/>
                <a:ea typeface="Arial"/>
                <a:cs typeface="Arial"/>
              </a:rPr>
              <a:t>thông tin hoá lý của hệ pin</a:t>
            </a:r>
          </a:p>
        </p:txBody>
      </p:sp>
      <p:sp>
        <p:nvSpPr>
          <p:cNvPr id="6" name="">
            <a:extLst xmlns:a="http://schemas.openxmlformats.org/drawingml/2006/main">
              <a:ext uri="{FF2B5EF4-FFF2-40B4-BE49-F238E27FC236}">
                <a16:creationId xmlns:a16="http://schemas.microsoft.com/office/drawing/2014/main" id="{6126EDAD-7C66-4704-AA1D-B0BDA5742275}"/>
              </a:ext>
            </a:extLst>
          </p:cNvPr>
          <p:cNvSpPr>
            <a:spLocks xmlns:a="http://schemas.openxmlformats.org/drawingml/2006/main" noGrp="1"/>
          </p:cNvSpPr>
          <p:nvPr/>
        </p:nvSpPr>
        <p:spPr>
          <a:xfrm xmlns:a="http://schemas.openxmlformats.org/drawingml/2006/main">
            <a:off x="2381250" y="4524375"/>
            <a:ext cx="7429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2100" b="0">
                <a:solidFill>
                  <a:srgbClr val="163047"/>
                </a:solidFill>
                <a:latin typeface="Arial"/>
                <a:ea typeface="Arial"/>
                <a:cs typeface="Arial"/>
              </a:defRPr>
            </a:pPr>
            <a:r>
              <a:rPr sz="2100" b="0">
                <a:solidFill>
                  <a:srgbClr val="163047"/>
                </a:solidFill>
                <a:latin typeface="Arial"/>
                <a:ea typeface="Arial"/>
                <a:cs typeface="Arial"/>
              </a:rPr>
              <a:t>Huỳnh Quốc Thắng · Nhóm 15</a:t>
            </a:r>
          </a:p>
        </p:txBody>
      </p:sp>
      <p:sp>
        <p:nvSpPr>
          <p:cNvPr id="7" name="">
            <a:extLst xmlns:a="http://schemas.openxmlformats.org/drawingml/2006/main">
              <a:ext uri="{FF2B5EF4-FFF2-40B4-BE49-F238E27FC236}">
                <a16:creationId xmlns:a16="http://schemas.microsoft.com/office/drawing/2014/main" id="{36C968CE-E03B-4209-97C7-2B8F501FA206}"/>
              </a:ext>
            </a:extLst>
          </p:cNvPr>
          <p:cNvSpPr>
            <a:spLocks xmlns:a="http://schemas.openxmlformats.org/drawingml/2006/main" noGrp="1"/>
          </p:cNvSpPr>
          <p:nvPr/>
        </p:nvSpPr>
        <p:spPr>
          <a:xfrm xmlns:a="http://schemas.openxmlformats.org/drawingml/2006/main">
            <a:off x="2952750" y="5276850"/>
            <a:ext cx="6286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0:p xmlns:ns0="http://schemas.openxmlformats.org/drawingml/2006/main">
            <ns0:pPr algn="ctr">
              <ns0:defRPr sz="1725" b="0">
                <ns0:solidFill>
                  <ns0:srgbClr val="526778"/>
                </ns0:solidFill>
                <ns0:latin typeface="Arial"/>
                <ns0:ea typeface="Arial"/>
                <ns0:cs typeface="Arial"/>
              </ns0:defRPr>
            </ns0:pPr>
            <ns0:r>
              <ns0:rPr sz="1725" b="0">
                <ns0:solidFill>
                  <ns0:srgbClr val="526778"/>
                </ns0:solidFill>
                <ns0:latin typeface="Arial"/>
                <ns0:ea typeface="Arial"/>
                <ns0:cs typeface="Arial"/>
              </ns0:rPr>
              <ns0:t>Kết quả thí nghiệm xác nhận E13 · pipeline v2</ns0:t>
            </ns0:r>
          </ns0:p>
          <ns1:p xmlns:ns1="http://schemas.openxmlformats.org/drawingml/2006/main">
            <ns1:pPr algn="ctr">
              <ns1:defRPr sz="1725" b="0">
                <ns1:solidFill>
                  <ns1:srgbClr val="526778"/>
                </ns1:solidFill>
                <ns1:latin typeface="Arial"/>
                <ns1:ea typeface="Arial"/>
                <ns1:cs typeface="Arial"/>
              </ns1:defRPr>
            </ns1:pPr>
            <ns1:r>
              <ns1:rPr sz="1725" b="0">
                <ns1:solidFill>
                  <ns1:srgbClr val="526778"/>
                </ns1:solidFill>
                <ns1:latin typeface="Arial"/>
                <ns1:ea typeface="Arial"/>
                <ns1:cs typeface="Arial"/>
              </ns1:rPr>
              <ns1:t>29/09/2026</ns1:t>
            </ns1:r>
          </ns1:p>
        </p:txBody>
      </p:sp>
    </p:spTree>
    <p:extLst>
      <p:ext uri="{BB962C8B-B14F-4D97-AF65-F5344CB8AC3E}">
        <p14:creationId xmlns:p14="http://schemas.microsoft.com/office/powerpoint/2010/main" val="4841366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818E8E6-BAE7-4D9B-8957-2FF4EEA1615A}"/>
              </a:ext>
            </a:extLst>
          </p:cNvPr>
          <p:cNvSpPr>
            <a:spLocks xmlns:a="http://schemas.openxmlformats.org/drawingml/2006/main" noGrp="1"/>
          </p:cNvSpPr>
          <p:nvPr/>
        </p:nvSpPr>
        <p:spPr>
          <a:xfrm xmlns:a="http://schemas.openxmlformats.org/drawingml/2006/main">
            <a:off x="0" y="0"/>
            <a:ext cx="12192000" cy="952500"/>
          </a:xfrm>
          <a:prstGeom xmlns:a="http://schemas.openxmlformats.org/drawingml/2006/main" prst="rect">
            <a:avLst/>
          </a:prstGeom>
          <a:solidFill xmlns:a="http://schemas.openxmlformats.org/drawingml/2006/main">
            <a:srgbClr val="94CF4F"/>
          </a:solidFill>
          <a:ln xmlns:a="http://schemas.openxmlformats.org/drawingml/2006/main" w="9525">
            <a:solidFill>
              <a:srgbClr val="94CF4F"/>
            </a:solidFill>
          </a:ln>
        </p:spPr>
      </p:sp>
      <p:sp>
        <p:nvSpPr>
          <p:cNvPr id="2" name="">
            <a:extLst xmlns:a="http://schemas.openxmlformats.org/drawingml/2006/main">
              <a:ext uri="{FF2B5EF4-FFF2-40B4-BE49-F238E27FC236}">
                <a16:creationId xmlns:a16="http://schemas.microsoft.com/office/drawing/2014/main" id="{C99C34C6-1A44-42EF-A97D-0863F9C60600}"/>
              </a:ext>
            </a:extLst>
          </p:cNvPr>
          <p:cNvSpPr>
            <a:spLocks xmlns:a="http://schemas.openxmlformats.org/drawingml/2006/main" noGrp="1"/>
          </p:cNvSpPr>
          <p:nvPr/>
        </p:nvSpPr>
        <p:spPr>
          <a:xfrm xmlns:a="http://schemas.openxmlformats.org/drawingml/2006/main">
            <a:off x="542925" y="66675"/>
            <a:ext cx="11239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Mục tiêu và tiến độ</a:t>
            </a:r>
          </a:p>
        </p:txBody>
      </p:sp>
      <p:sp>
        <p:nvSpPr>
          <p:cNvPr id="3" name="">
            <a:extLst xmlns:a="http://schemas.openxmlformats.org/drawingml/2006/main">
              <a:ext uri="{FF2B5EF4-FFF2-40B4-BE49-F238E27FC236}">
                <a16:creationId xmlns:a16="http://schemas.microsoft.com/office/drawing/2014/main" id="{D0B39129-16CE-4879-9D51-A1FC50379441}"/>
              </a:ext>
            </a:extLst>
          </p:cNvPr>
          <p:cNvSpPr>
            <a:spLocks xmlns:a="http://schemas.openxmlformats.org/drawingml/2006/main" noGrp="1"/>
          </p:cNvSpPr>
          <p:nvPr/>
        </p:nvSpPr>
        <p:spPr>
          <a:xfrm xmlns:a="http://schemas.openxmlformats.org/drawingml/2006/main">
            <a:off x="11144250" y="6400800"/>
            <a:ext cx="333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1:p xmlns:ns1="http://schemas.openxmlformats.org/drawingml/2006/main">
            <ns1:pPr algn="l">
              <ns1:defRPr sz="1200" b="1">
                <ns1:solidFill>
                  <ns1:srgbClr val="20567B"/>
                </ns1:solidFill>
                <ns1:latin typeface="Arial"/>
                <ns1:ea typeface="Arial"/>
                <ns1:cs typeface="Arial"/>
              </ns1:defRPr>
            </ns1:pPr>
            <ns1:r>
              <ns1:rPr sz="1200" b="1">
                <ns1:solidFill>
                  <ns1:srgbClr val="20567B"/>
                </ns1:solidFill>
                <ns1:latin typeface="Arial"/>
                <ns1:ea typeface="Arial"/>
                <ns1:cs typeface="Arial"/>
              </ns1:rPr>
              <ns1:t>02</ns1:t>
            </ns1:r>
          </ns1: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f9a0fd670da4fdb"/>
          <a:stretch xmlns:a="http://schemas.openxmlformats.org/drawingml/2006/main"/>
        </p:blipFill>
        <p:spPr>
          <a:xfrm xmlns:a="http://schemas.openxmlformats.org/drawingml/2006/main">
            <a:off x="11696700" y="6384974"/>
            <a:ext cx="285750" cy="260252"/>
          </a:xfrm>
          <a:prstGeom xmlns:a="http://schemas.openxmlformats.org/drawingml/2006/main" prst="rect">
            <a:avLst/>
          </a:prstGeom>
        </p:spPr>
      </p:pic>
      <p:graphicFrame>
        <p:nvGraphicFramePr>
          <p:cNvPr id="11" name=""/>
          <p:cNvGraphicFramePr/>
          <p:nvPr/>
        </p:nvGraphicFramePr>
        <p:xfrm>
          <a:off xmlns:a="http://schemas.openxmlformats.org/drawingml/2006/main" x="533400" y="1476375"/>
          <a:ext xmlns:a="http://schemas.openxmlformats.org/drawingml/2006/main" cx="11125200" cy="3714750"/>
        </p:xfrm>
        <a:graphic xmlns:a="http://schemas.openxmlformats.org/drawingml/2006/main">
          <a:graphicData uri="http://schemas.openxmlformats.org/drawingml/2006/table">
            <a:tbl>
              <a:tblPr/>
              <a:tblGrid>
                <a:gridCol w="2476500"/>
                <a:gridCol w="6096000"/>
                <a:gridCol w="2552700"/>
              </a:tblGrid>
              <a:tr h="619125">
                <a:tc>
                  <a:txBody>
                    <a:bodyPr/>
                    <a:lstStyle/>
                    <a:p>
                      <a:pPr algn="l"/>
                      <a:r>
                        <a:rPr sz="1725" b="1">
                          <a:solidFill>
                            <a:srgbClr val="FFFFFF"/>
                          </a:solidFill>
                          <a:latin typeface="Arial"/>
                          <a:ea typeface="Arial"/>
                          <a:cs typeface="Arial"/>
                        </a:rPr>
                        <a:t>Hạng mục</a:t>
                      </a:r>
                    </a:p>
                  </a:txBody>
                  <a:tcPr marL="91440" marR="91440" marT="45720" marB="45720" anchor="ctr">
                    <a:solidFill>
                      <a:srgbClr val="20567B"/>
                    </a:solidFill>
                  </a:tcPr>
                </a:tc>
                <a:tc>
                  <a:txBody>
                    <a:bodyPr/>
                    <a:lstStyle/>
                    <a:p>
                      <a:pPr algn="l"/>
                      <a:r>
                        <a:rPr sz="1725" b="1">
                          <a:solidFill>
                            <a:srgbClr val="FFFFFF"/>
                          </a:solidFill>
                          <a:latin typeface="Arial"/>
                          <a:ea typeface="Arial"/>
                          <a:cs typeface="Arial"/>
                        </a:rPr>
                        <a:t>Nội dung đã có / đã kiểm tra</a:t>
                      </a:r>
                    </a:p>
                  </a:txBody>
                  <a:tcPr marL="91440" marR="91440" marT="45720" marB="45720" anchor="ctr">
                    <a:solidFill>
                      <a:srgbClr val="20567B"/>
                    </a:solidFill>
                  </a:tcPr>
                </a:tc>
                <a:tc>
                  <a:txBody>
                    <a:bodyPr/>
                    <a:lstStyle/>
                    <a:p>
                      <a:pPr algn="l"/>
                      <a:r>
                        <a:rPr sz="1725" b="1">
                          <a:solidFill>
                            <a:srgbClr val="FFFFFF"/>
                          </a:solidFill>
                          <a:latin typeface="Arial"/>
                          <a:ea typeface="Arial"/>
                          <a:cs typeface="Arial"/>
                        </a:rPr>
                        <a:t>Trạng thái</a:t>
                      </a:r>
                    </a:p>
                  </a:txBody>
                  <a:tcPr marL="91440" marR="91440" marT="45720" marB="45720" anchor="ctr">
                    <a:solidFill>
                      <a:srgbClr val="20567B"/>
                    </a:solidFill>
                  </a:tcPr>
                </a:tc>
              </a:tr>
              <a:tr h="619125">
                <a:tc>
                  <a:txBody>
                    <a:bodyPr/>
                    <a:lstStyle/>
                    <a:p>
                      <a:pPr algn="l"/>
                      <a:r>
                        <a:rPr sz="1725" b="0">
                          <a:solidFill>
                            <a:srgbClr val="163047"/>
                          </a:solidFill>
                          <a:latin typeface="Arial"/>
                          <a:ea typeface="Arial"/>
                          <a:cs typeface="Arial"/>
                        </a:rPr>
                        <a:t>Bài toán</a:t>
                      </a:r>
                    </a:p>
                  </a:txBody>
                  <a:tcPr marL="91440" marR="91440" marT="45720" marB="45720" anchor="ctr">
                    <a:solidFill>
                      <a:srgbClr val="EAF3F7"/>
                    </a:solidFill>
                  </a:tcPr>
                </a:tc>
                <a:tc>
                  <a:txBody>
                    <a:bodyPr/>
                    <a:lstStyle/>
                    <a:p>
                      <a:pPr algn="l"/>
                      <a:r>
                        <a:rPr sz="1725" b="0">
                          <a:solidFill>
                            <a:srgbClr val="163047"/>
                          </a:solidFill>
                          <a:latin typeface="Arial"/>
                          <a:ea typeface="Arial"/>
                          <a:cs typeface="Arial"/>
                        </a:rPr>
                        <a:t>Ước lượng SOH khi ít cell có nhãn</a:t>
                      </a:r>
                    </a:p>
                  </a:txBody>
                  <a:tcPr marL="91440" marR="91440" marT="45720" marB="45720" anchor="ctr">
                    <a:solidFill>
                      <a:srgbClr val="EAF3F7"/>
                    </a:solidFill>
                  </a:tcPr>
                </a:tc>
                <a:tc>
                  <a:txBody>
                    <a:bodyPr/>
                    <a:lstStyle/>
                    <a:p>
                      <a:pPr algn="l"/>
                      <a:r>
                        <a:rPr sz="1725" b="0">
                          <a:solidFill>
                            <a:srgbClr val="163047"/>
                          </a:solidFill>
                          <a:latin typeface="Arial"/>
                          <a:ea typeface="Arial"/>
                          <a:cs typeface="Arial"/>
                        </a:rPr>
                        <a:t>Đã xác định</a:t>
                      </a:r>
                    </a:p>
                  </a:txBody>
                  <a:tcPr marL="91440" marR="91440" marT="45720" marB="45720" anchor="ctr">
                    <a:solidFill>
                      <a:srgbClr val="EAF3F7"/>
                    </a:solidFill>
                  </a:tcPr>
                </a:tc>
              </a:tr>
              <a:tr h="619125">
                <a:tc>
                  <a:txBody>
                    <a:bodyPr/>
                    <a:lstStyle/>
                    <a:p>
                      <a:pPr algn="l"/>
                      <a:r>
                        <a:rPr sz="1725" b="0">
                          <a:solidFill>
                            <a:srgbClr val="163047"/>
                          </a:solidFill>
                          <a:latin typeface="Arial"/>
                          <a:ea typeface="Arial"/>
                          <a:cs typeface="Arial"/>
                        </a:rPr>
                        <a:t>Dữ liệu</a:t>
                      </a:r>
                    </a:p>
                  </a:txBody>
                  <a:tcPr marL="91440" marR="91440" marT="45720" marB="45720" anchor="ctr">
                    <a:solidFill>
                      <a:srgbClr val="FFFFFF"/>
                    </a:solidFill>
                  </a:tcPr>
                </a:tc>
                <a:tc>
                  <a:txBody>
                    <a:bodyPr/>
                    <a:lstStyle/>
                    <a:p>
                      <a:pPr algn="l"/>
                      <a:r>
                        <a:rPr sz="1725" b="0">
                          <a:solidFill>
                            <a:srgbClr val="163047"/>
                          </a:solidFill>
                          <a:latin typeface="Arial"/>
                          <a:ea typeface="Arial"/>
                          <a:cs typeface="Arial"/>
                        </a:rPr>
                        <a:t>387 cell · v2: 305.802 hàng sau lọc nhân quả</a:t>
                      </a:r>
                    </a:p>
                  </a:txBody>
                  <a:tcPr marL="91440" marR="91440" marT="45720" marB="45720" anchor="ctr">
                    <a:solidFill>
                      <a:srgbClr val="FFFFFF"/>
                    </a:solidFill>
                  </a:tcPr>
                </a:tc>
                <a:tc>
                  <a:txBody>
                    <a:bodyPr/>
                    <a:lstStyle/>
                    <a:p>
                      <a:pPr algn="l"/>
                      <a:r>
                        <a:rPr sz="1725" b="0">
                          <a:solidFill>
                            <a:srgbClr val="163047"/>
                          </a:solidFill>
                          <a:latin typeface="Arial"/>
                          <a:ea typeface="Arial"/>
                          <a:cs typeface="Arial"/>
                        </a:rPr>
                        <a:t>Đã đếm lại</a:t>
                      </a:r>
                    </a:p>
                  </a:txBody>
                  <a:tcPr marL="91440" marR="91440" marT="45720" marB="45720" anchor="ctr">
                    <a:solidFill>
                      <a:srgbClr val="FFFFFF"/>
                    </a:solidFill>
                  </a:tcPr>
                </a:tc>
              </a:tr>
              <a:tr h="619125">
                <a:tc>
                  <a:txBody>
                    <a:bodyPr/>
                    <a:lstStyle/>
                    <a:p>
                      <a:pPr algn="l"/>
                      <a:r>
                        <a:rPr sz="1725" b="0">
                          <a:solidFill>
                            <a:srgbClr val="163047"/>
                          </a:solidFill>
                          <a:latin typeface="Arial"/>
                          <a:ea typeface="Arial"/>
                          <a:cs typeface="Arial"/>
                        </a:rPr>
                        <a:t>Pipeline</a:t>
                      </a:r>
                    </a:p>
                  </a:txBody>
                  <a:tcPr marL="91440" marR="91440" marT="45720" marB="45720" anchor="ctr">
                    <a:solidFill>
                      <a:srgbClr val="EAF3F7"/>
                    </a:solidFill>
                  </a:tcPr>
                </a:tc>
                <a:tc>
                  <a:txBody>
                    <a:bodyPr/>
                    <a:lstStyle/>
                    <a:p>
                      <a:pPr algn="l"/>
                      <a:r>
                        <a:rPr sz="1725" b="0">
                          <a:solidFill>
                            <a:srgbClr val="163047"/>
                          </a:solidFill>
                          <a:latin typeface="Arial"/>
                          <a:ea typeface="Arial"/>
                          <a:cs typeface="Arial"/>
                        </a:rPr>
                        <a:t>Sửa 5 điểm rà soát · 21/21 phép kiểm đạt</a:t>
                      </a:r>
                    </a:p>
                  </a:txBody>
                  <a:tcPr marL="91440" marR="91440" marT="45720" marB="45720" anchor="ctr">
                    <a:solidFill>
                      <a:srgbClr val="EAF3F7"/>
                    </a:solidFill>
                  </a:tcPr>
                </a:tc>
                <a:tc>
                  <a:txBody>
                    <a:bodyPr/>
                    <a:lstStyle/>
                    <a:p>
                      <a:pPr algn="l"/>
                      <a:r>
                        <a:rPr sz="1725" b="0">
                          <a:solidFill>
                            <a:srgbClr val="163047"/>
                          </a:solidFill>
                          <a:latin typeface="Arial"/>
                          <a:ea typeface="Arial"/>
                          <a:cs typeface="Arial"/>
                        </a:rPr>
                        <a:t>Xong</a:t>
                      </a:r>
                    </a:p>
                  </a:txBody>
                  <a:tcPr marL="91440" marR="91440" marT="45720" marB="45720" anchor="ctr">
                    <a:solidFill>
                      <a:srgbClr val="EAF3F7"/>
                    </a:solidFill>
                  </a:tcPr>
                </a:tc>
              </a:tr>
              <a:tr h="619125">
                <a:tc>
                  <a:txBody>
                    <a:bodyPr/>
                    <a:lstStyle/>
                    <a:p>
                      <a:pPr algn="l"/>
                      <a:r>
                        <a:rPr sz="1725" b="0">
                          <a:solidFill>
                            <a:srgbClr val="163047"/>
                          </a:solidFill>
                          <a:latin typeface="Arial"/>
                          <a:ea typeface="Arial"/>
                          <a:cs typeface="Arial"/>
                        </a:rPr>
                        <a:t>Thực nghiệm mới</a:t>
                      </a:r>
                    </a:p>
                  </a:txBody>
                  <a:tcPr marL="91440" marR="91440" marT="45720" marB="45720" anchor="ctr">
                    <a:solidFill>
                      <a:srgbClr val="FFFFFF"/>
                    </a:solidFill>
                  </a:tcPr>
                </a:tc>
                <a:tc>
                  <a:txBody>
                    <a:bodyPr/>
                    <a:lstStyle/>
                    <a:p>
                      <a:pPr algn="l"/>
                      <a:r>
                        <a:rPr sz="1725" b="0">
                          <a:solidFill>
                            <a:srgbClr val="163047"/>
                          </a:solidFill>
                          <a:latin typeface="Arial"/>
                          <a:ea typeface="Arial"/>
                          <a:cs typeface="Arial"/>
                        </a:rPr>
                        <a:t>E13: 1.100 lượt (CV 5×5) · E14: 80 lượt</a:t>
                      </a:r>
                    </a:p>
                  </a:txBody>
                  <a:tcPr marL="91440" marR="91440" marT="45720" marB="45720" anchor="ctr">
                    <a:solidFill>
                      <a:srgbClr val="FFFFFF"/>
                    </a:solidFill>
                  </a:tcPr>
                </a:tc>
                <a:tc>
                  <a:txBody>
                    <a:bodyPr/>
                    <a:lstStyle/>
                    <a:p>
                      <a:pPr algn="l"/>
                      <a:r>
                        <a:rPr sz="1725" b="0">
                          <a:solidFill>
                            <a:srgbClr val="163047"/>
                          </a:solidFill>
                          <a:latin typeface="Arial"/>
                          <a:ea typeface="Arial"/>
                          <a:cs typeface="Arial"/>
                        </a:rPr>
                        <a:t>Đã chạy</a:t>
                      </a:r>
                    </a:p>
                  </a:txBody>
                  <a:tcPr marL="91440" marR="91440" marT="45720" marB="45720" anchor="ctr">
                    <a:solidFill>
                      <a:srgbClr val="FFFFFF"/>
                    </a:solidFill>
                  </a:tcPr>
                </a:tc>
              </a:tr>
              <a:tr h="619125">
                <a:tc>
                  <a:txBody>
                    <a:bodyPr/>
                    <a:lstStyle/>
                    <a:p>
                      <a:pPr algn="l"/>
                      <a:r>
                        <a:rPr sz="1725" b="0">
                          <a:solidFill>
                            <a:srgbClr val="163047"/>
                          </a:solidFill>
                          <a:latin typeface="Arial"/>
                          <a:ea typeface="Arial"/>
                          <a:cs typeface="Arial"/>
                        </a:rPr>
                        <a:t>Kết luận</a:t>
                      </a:r>
                    </a:p>
                  </a:txBody>
                  <a:tcPr marL="91440" marR="91440" marT="45720" marB="45720" anchor="ctr">
                    <a:solidFill>
                      <a:srgbClr val="EAF3F7"/>
                    </a:solidFill>
                  </a:tcPr>
                </a:tc>
                <a:tc>
                  <a:txBody>
                    <a:bodyPr/>
                    <a:lstStyle/>
                    <a:p>
                      <a:pPr algn="l"/>
                      <a:r>
                        <a:rPr sz="1725" b="0">
                          <a:solidFill>
                            <a:srgbClr val="163047"/>
                          </a:solidFill>
                          <a:latin typeface="Arial"/>
                          <a:ea typeface="Arial"/>
                          <a:cs typeface="Arial"/>
                        </a:rPr>
                        <a:t>H1 đạt 4/4 bộ · H2 đạt 2/4 bộ</a:t>
                      </a:r>
                    </a:p>
                  </a:txBody>
                  <a:tcPr marL="91440" marR="91440" marT="45720" marB="45720" anchor="ctr">
                    <a:solidFill>
                      <a:srgbClr val="EAF3F7"/>
                    </a:solidFill>
                  </a:tcPr>
                </a:tc>
                <a:tc>
                  <a:txBody>
                    <a:bodyPr/>
                    <a:lstStyle/>
                    <a:p>
                      <a:pPr algn="l"/>
                      <a:r>
                        <a:rPr sz="1725" b="0">
                          <a:solidFill>
                            <a:srgbClr val="163047"/>
                          </a:solidFill>
                          <a:latin typeface="Arial"/>
                          <a:ea typeface="Arial"/>
                          <a:cs typeface="Arial"/>
                        </a:rPr>
                        <a:t>Theo đề cương</a:t>
                      </a:r>
                    </a:p>
                  </a:txBody>
                  <a:tcPr marL="91440" marR="91440" marT="45720" marB="45720" anchor="ctr">
                    <a:solidFill>
                      <a:srgbClr val="EAF3F7"/>
                    </a:solidFill>
                  </a:tcPr>
                </a:tc>
              </a:tr>
            </a:tbl>
          </a:graphicData>
        </a:graphic>
      </p:graphicFrame>
      <p:sp>
        <p:nvSpPr>
          <p:cNvPr id="6" name="">
            <a:extLst xmlns:a="http://schemas.openxmlformats.org/drawingml/2006/main">
              <a:ext uri="{FF2B5EF4-FFF2-40B4-BE49-F238E27FC236}">
                <a16:creationId xmlns:a16="http://schemas.microsoft.com/office/drawing/2014/main" id="{04043C0E-187F-416A-9DB7-4BFB67819401}"/>
              </a:ext>
            </a:extLst>
          </p:cNvPr>
          <p:cNvSpPr>
            <a:spLocks xmlns:a="http://schemas.openxmlformats.org/drawingml/2006/main" noGrp="1"/>
          </p:cNvSpPr>
          <p:nvPr/>
        </p:nvSpPr>
        <p:spPr>
          <a:xfrm xmlns:a="http://schemas.openxmlformats.org/drawingml/2006/main">
            <a:off x="619125" y="6105525"/>
            <a:ext cx="1071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0:p xmlns:ns0="http://schemas.openxmlformats.org/drawingml/2006/main">
            <ns0:pPr algn="l">
              <ns0:defRPr sz="1275" b="0">
                <ns0:solidFill>
                  <ns0:srgbClr val="526778"/>
                </ns0:solidFill>
                <ns0:latin typeface="Arial"/>
                <ns0:ea typeface="Arial"/>
                <ns0:cs typeface="Arial"/>
              </ns0:defRPr>
            </ns0:pPr>
            <ns0:r>
              <ns0:rPr sz="1275" b="0">
                <ns0:solidFill>
                  <ns0:srgbClr val="526778"/>
                </ns0:solidFill>
                <ns0:latin typeface="Arial"/>
                <ns0:ea typeface="Arial"/>
                <ns0:cs typeface="Arial"/>
              </ns0:rPr>
              <ns0:t>Mọi số trong các slide E13 đọc từ results/E13_*.csv, sinh từ 1100 log huấn luyện mới. Đề cương chốt trước khi chạy (commit 543dbd0).</ns0:t>
            </ns0:r>
          </ns0:p>
        </p:txBody>
      </p:sp>
    </p:spTree>
    <p:extLst>
      <p:ext uri="{BB962C8B-B14F-4D97-AF65-F5344CB8AC3E}">
        <p14:creationId xmlns:p14="http://schemas.microsoft.com/office/powerpoint/2010/main" val="33530716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7D1E096-D5FA-4F41-AEBA-B2142831C0DF}"/>
              </a:ext>
            </a:extLst>
          </p:cNvPr>
          <p:cNvSpPr>
            <a:spLocks xmlns:a="http://schemas.openxmlformats.org/drawingml/2006/main" noGrp="1"/>
          </p:cNvSpPr>
          <p:nvPr/>
        </p:nvSpPr>
        <p:spPr>
          <a:xfrm xmlns:a="http://schemas.openxmlformats.org/drawingml/2006/main">
            <a:off x="0" y="0"/>
            <a:ext cx="12192000" cy="952500"/>
          </a:xfrm>
          <a:prstGeom xmlns:a="http://schemas.openxmlformats.org/drawingml/2006/main" prst="rect">
            <a:avLst/>
          </a:prstGeom>
          <a:solidFill xmlns:a="http://schemas.openxmlformats.org/drawingml/2006/main">
            <a:srgbClr val="20567B"/>
          </a:solidFill>
          <a:ln xmlns:a="http://schemas.openxmlformats.org/drawingml/2006/main" w="9525">
            <a:solidFill>
              <a:srgbClr val="20567B"/>
            </a:solidFill>
          </a:ln>
        </p:spPr>
      </p:sp>
      <p:sp>
        <p:nvSpPr>
          <p:cNvPr id="2" name="">
            <a:extLst xmlns:a="http://schemas.openxmlformats.org/drawingml/2006/main">
              <a:ext uri="{FF2B5EF4-FFF2-40B4-BE49-F238E27FC236}">
                <a16:creationId xmlns:a16="http://schemas.microsoft.com/office/drawing/2014/main" id="{AB777859-78CD-4F6A-A9B4-9F54A352F3B1}"/>
              </a:ext>
            </a:extLst>
          </p:cNvPr>
          <p:cNvSpPr>
            <a:spLocks xmlns:a="http://schemas.openxmlformats.org/drawingml/2006/main" noGrp="1"/>
          </p:cNvSpPr>
          <p:nvPr/>
        </p:nvSpPr>
        <p:spPr>
          <a:xfrm xmlns:a="http://schemas.openxmlformats.org/drawingml/2006/main">
            <a:off x="542925" y="66675"/>
            <a:ext cx="11239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Bài toán và câu hỏi nghiên cứu</a:t>
            </a:r>
          </a:p>
        </p:txBody>
      </p:sp>
      <p:sp>
        <p:nvSpPr>
          <p:cNvPr id="3" name="">
            <a:extLst xmlns:a="http://schemas.openxmlformats.org/drawingml/2006/main">
              <a:ext uri="{FF2B5EF4-FFF2-40B4-BE49-F238E27FC236}">
                <a16:creationId xmlns:a16="http://schemas.microsoft.com/office/drawing/2014/main" id="{423E2091-FE09-4D1F-980D-5BDE30F015D5}"/>
              </a:ext>
            </a:extLst>
          </p:cNvPr>
          <p:cNvSpPr>
            <a:spLocks xmlns:a="http://schemas.openxmlformats.org/drawingml/2006/main" noGrp="1"/>
          </p:cNvSpPr>
          <p:nvPr/>
        </p:nvSpPr>
        <p:spPr>
          <a:xfrm xmlns:a="http://schemas.openxmlformats.org/drawingml/2006/main">
            <a:off x="11144250" y="6400800"/>
            <a:ext cx="333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0:p xmlns:ns0="http://schemas.openxmlformats.org/drawingml/2006/main">
            <ns0:pPr algn="l">
              <ns0:defRPr sz="1200" b="1">
                <ns0:solidFill>
                  <ns0:srgbClr val="20567B"/>
                </ns0:solidFill>
                <ns0:latin typeface="Arial"/>
                <ns0:ea typeface="Arial"/>
                <ns0:cs typeface="Arial"/>
              </ns0:defRPr>
            </ns0:pPr>
            <ns0:r>
              <ns0:rPr sz="1200" b="1">
                <ns0:solidFill>
                  <ns0:srgbClr val="20567B"/>
                </ns0:solidFill>
                <ns0:latin typeface="Arial"/>
                <ns0:ea typeface="Arial"/>
                <ns0:cs typeface="Arial"/>
              </ns0:rPr>
              <ns0:t>03</ns0:t>
            </ns0:r>
          </ns0: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56788ff69f74a0f"/>
          <a:stretch xmlns:a="http://schemas.openxmlformats.org/drawingml/2006/main"/>
        </p:blipFill>
        <p:spPr>
          <a:xfrm xmlns:a="http://schemas.openxmlformats.org/drawingml/2006/main">
            <a:off x="11696700" y="6384974"/>
            <a:ext cx="285750" cy="26025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1E2F7BC-C449-49C6-B60D-A5759C565738}"/>
              </a:ext>
            </a:extLst>
          </p:cNvPr>
          <p:cNvSpPr>
            <a:spLocks xmlns:a="http://schemas.openxmlformats.org/drawingml/2006/main" noGrp="1"/>
          </p:cNvSpPr>
          <p:nvPr/>
        </p:nvSpPr>
        <p:spPr>
          <a:xfrm xmlns:a="http://schemas.openxmlformats.org/drawingml/2006/main">
            <a:off x="619125" y="16192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1">
                <a:solidFill>
                  <a:srgbClr val="20567B"/>
                </a:solidFill>
                <a:latin typeface="Arial"/>
                <a:ea typeface="Arial"/>
                <a:cs typeface="Arial"/>
              </a:defRPr>
            </a:pPr>
            <a:r>
              <a:rPr sz="2025" b="1">
                <a:solidFill>
                  <a:srgbClr val="20567B"/>
                </a:solidFill>
                <a:latin typeface="Arial"/>
                <a:ea typeface="Arial"/>
                <a:cs typeface="Arial"/>
              </a:rPr>
              <a:t>Đầu vào và đầu ra</a:t>
            </a:r>
          </a:p>
        </p:txBody>
      </p:sp>
      <p:sp>
        <p:nvSpPr>
          <p:cNvPr id="6" name="">
            <a:extLst xmlns:a="http://schemas.openxmlformats.org/drawingml/2006/main">
              <a:ext uri="{FF2B5EF4-FFF2-40B4-BE49-F238E27FC236}">
                <a16:creationId xmlns:a16="http://schemas.microsoft.com/office/drawing/2014/main" id="{EE2ABE15-3EEB-4EA0-9CA6-5CA037A62878}"/>
              </a:ext>
            </a:extLst>
          </p:cNvPr>
          <p:cNvSpPr>
            <a:spLocks xmlns:a="http://schemas.openxmlformats.org/drawingml/2006/main" noGrp="1"/>
          </p:cNvSpPr>
          <p:nvPr/>
        </p:nvSpPr>
        <p:spPr>
          <a:xfrm xmlns:a="http://schemas.openxmlformats.org/drawingml/2006/main">
            <a:off x="619125" y="20002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63047"/>
                </a:solidFill>
                <a:latin typeface="Arial"/>
                <a:ea typeface="Arial"/>
                <a:cs typeface="Arial"/>
              </a:defRPr>
            </a:pPr>
            <a:r>
              <a:rPr sz="1800" b="0">
                <a:solidFill>
                  <a:srgbClr val="163047"/>
                </a:solidFill>
                <a:latin typeface="Arial"/>
                <a:ea typeface="Arial"/>
                <a:cs typeface="Arial"/>
              </a:rPr>
              <a:t>16 đặc trưng CC–CV và t = N/1000. SOH = Q(N) / Q danh định.</a:t>
            </a:r>
          </a:p>
        </p:txBody>
      </p:sp>
      <p:sp>
        <p:nvSpPr>
          <p:cNvPr id="7" name="">
            <a:extLst xmlns:a="http://schemas.openxmlformats.org/drawingml/2006/main">
              <a:ext uri="{FF2B5EF4-FFF2-40B4-BE49-F238E27FC236}">
                <a16:creationId xmlns:a16="http://schemas.microsoft.com/office/drawing/2014/main" id="{A5412172-27F2-4592-88E2-7DA63AEBA5B3}"/>
              </a:ext>
            </a:extLst>
          </p:cNvPr>
          <p:cNvSpPr>
            <a:spLocks xmlns:a="http://schemas.openxmlformats.org/drawingml/2006/main" noGrp="1"/>
          </p:cNvSpPr>
          <p:nvPr/>
        </p:nvSpPr>
        <p:spPr>
          <a:xfrm xmlns:a="http://schemas.openxmlformats.org/drawingml/2006/main">
            <a:off x="619125" y="29527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1">
                <a:solidFill>
                  <a:srgbClr val="20567B"/>
                </a:solidFill>
                <a:latin typeface="Arial"/>
                <a:ea typeface="Arial"/>
                <a:cs typeface="Arial"/>
              </a:defRPr>
            </a:pPr>
            <a:r>
              <a:rPr sz="2025" b="1">
                <a:solidFill>
                  <a:srgbClr val="20567B"/>
                </a:solidFill>
                <a:latin typeface="Arial"/>
                <a:ea typeface="Arial"/>
                <a:cs typeface="Arial"/>
              </a:rPr>
              <a:t>So sánh cùng lượng nhãn</a:t>
            </a:r>
          </a:p>
        </p:txBody>
      </p:sp>
      <p:sp>
        <p:nvSpPr>
          <p:cNvPr id="8" name="">
            <a:extLst xmlns:a="http://schemas.openxmlformats.org/drawingml/2006/main">
              <a:ext uri="{FF2B5EF4-FFF2-40B4-BE49-F238E27FC236}">
                <a16:creationId xmlns:a16="http://schemas.microsoft.com/office/drawing/2014/main" id="{5234DA21-6D95-4E15-A2DF-0372D3384C04}"/>
              </a:ext>
            </a:extLst>
          </p:cNvPr>
          <p:cNvSpPr>
            <a:spLocks xmlns:a="http://schemas.openxmlformats.org/drawingml/2006/main" noGrp="1"/>
          </p:cNvSpPr>
          <p:nvPr/>
        </p:nvSpPr>
        <p:spPr>
          <a:xfrm xmlns:a="http://schemas.openxmlformats.org/drawingml/2006/main">
            <a:off x="619125" y="33337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63047"/>
                </a:solidFill>
                <a:latin typeface="Arial"/>
                <a:ea typeface="Arial"/>
                <a:cs typeface="Arial"/>
              </a:defRPr>
            </a:pPr>
            <a:r>
              <a:rPr sz="1800" b="0">
                <a:solidFill>
                  <a:srgbClr val="163047"/>
                </a:solidFill>
                <a:latin typeface="Arial"/>
                <a:ea typeface="Arial"/>
                <a:cs typeface="Arial"/>
              </a:rPr>
              <a:t>PINN và MLP cùng dùng 30% cell có nhãn. Lợi ích có giữ trên cả bốn bộ dữ liệu?</a:t>
            </a:r>
          </a:p>
        </p:txBody>
      </p:sp>
      <p:sp>
        <p:nvSpPr>
          <p:cNvPr id="9" name="">
            <a:extLst xmlns:a="http://schemas.openxmlformats.org/drawingml/2006/main">
              <a:ext uri="{FF2B5EF4-FFF2-40B4-BE49-F238E27FC236}">
                <a16:creationId xmlns:a16="http://schemas.microsoft.com/office/drawing/2014/main" id="{19D6399C-1500-4692-9B0A-633323FFDD58}"/>
              </a:ext>
            </a:extLst>
          </p:cNvPr>
          <p:cNvSpPr>
            <a:spLocks xmlns:a="http://schemas.openxmlformats.org/drawingml/2006/main" noGrp="1"/>
          </p:cNvSpPr>
          <p:nvPr/>
        </p:nvSpPr>
        <p:spPr>
          <a:xfrm xmlns:a="http://schemas.openxmlformats.org/drawingml/2006/main">
            <a:off x="619125" y="42862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1">
                <a:solidFill>
                  <a:srgbClr val="20567B"/>
                </a:solidFill>
                <a:latin typeface="Arial"/>
                <a:ea typeface="Arial"/>
                <a:cs typeface="Arial"/>
              </a:defRPr>
            </a:pPr>
            <a:r>
              <a:rPr sz="2025" b="1">
                <a:solidFill>
                  <a:srgbClr val="20567B"/>
                </a:solidFill>
                <a:latin typeface="Arial"/>
                <a:ea typeface="Arial"/>
                <a:cs typeface="Arial"/>
              </a:rPr>
              <a:t>Khả năng tiết kiệm nhãn</a:t>
            </a:r>
          </a:p>
        </p:txBody>
      </p:sp>
      <p:sp>
        <p:nvSpPr>
          <p:cNvPr id="10" name="">
            <a:extLst xmlns:a="http://schemas.openxmlformats.org/drawingml/2006/main">
              <a:ext uri="{FF2B5EF4-FFF2-40B4-BE49-F238E27FC236}">
                <a16:creationId xmlns:a16="http://schemas.microsoft.com/office/drawing/2014/main" id="{97B00E87-C1FF-4005-A876-107902FF354A}"/>
              </a:ext>
            </a:extLst>
          </p:cNvPr>
          <p:cNvSpPr>
            <a:spLocks xmlns:a="http://schemas.openxmlformats.org/drawingml/2006/main" noGrp="1"/>
          </p:cNvSpPr>
          <p:nvPr/>
        </p:nvSpPr>
        <p:spPr>
          <a:xfrm xmlns:a="http://schemas.openxmlformats.org/drawingml/2006/main">
            <a:off x="619125" y="46672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63047"/>
                </a:solidFill>
                <a:latin typeface="Arial"/>
                <a:ea typeface="Arial"/>
                <a:cs typeface="Arial"/>
              </a:defRPr>
            </a:pPr>
            <a:r>
              <a:rPr sz="1800" b="0">
                <a:solidFill>
                  <a:srgbClr val="163047"/>
                </a:solidFill>
                <a:latin typeface="Arial"/>
                <a:ea typeface="Arial"/>
                <a:cs typeface="Arial"/>
              </a:rPr>
              <a:t>PINN 30% so với MLP 70% cần phép kiểm riêng với biên chấp nhận định trước.</a:t>
            </a:r>
          </a:p>
        </p:txBody>
      </p:sp>
      <p:sp>
        <p:nvSpPr>
          <p:cNvPr id="11" name="">
            <a:extLst xmlns:a="http://schemas.openxmlformats.org/drawingml/2006/main">
              <a:ext uri="{FF2B5EF4-FFF2-40B4-BE49-F238E27FC236}">
                <a16:creationId xmlns:a16="http://schemas.microsoft.com/office/drawing/2014/main" id="{37ECB5CF-FA73-4884-BC01-94D9F34E4215}"/>
              </a:ext>
            </a:extLst>
          </p:cNvPr>
          <p:cNvSpPr>
            <a:spLocks xmlns:a="http://schemas.openxmlformats.org/drawingml/2006/main" noGrp="1"/>
          </p:cNvSpPr>
          <p:nvPr/>
        </p:nvSpPr>
        <p:spPr>
          <a:xfrm xmlns:a="http://schemas.openxmlformats.org/drawingml/2006/main">
            <a:off x="619125" y="6105525"/>
            <a:ext cx="1071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526778"/>
                </a:solidFill>
                <a:latin typeface="Arial"/>
                <a:ea typeface="Arial"/>
                <a:cs typeface="Arial"/>
              </a:defRPr>
            </a:pPr>
            <a:r>
              <a:rPr sz="1275" b="0">
                <a:solidFill>
                  <a:srgbClr val="526778"/>
                </a:solidFill>
                <a:latin typeface="Arial"/>
                <a:ea typeface="Arial"/>
                <a:cs typeface="Arial"/>
              </a:rPr>
              <a:t>Đầu vào chứa đặc trưng chu kỳ hiện tại. Dự báo tương lai / RUL cần thiết kế đánh giá riêng.</a:t>
            </a:r>
          </a:p>
        </p:txBody>
      </p:sp>
    </p:spTree>
    <p:extLst>
      <p:ext uri="{BB962C8B-B14F-4D97-AF65-F5344CB8AC3E}">
        <p14:creationId xmlns:p14="http://schemas.microsoft.com/office/powerpoint/2010/main" val="18976308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FCC198C-3C3A-428D-81AB-BC4A1CA15A78}"/>
              </a:ext>
            </a:extLst>
          </p:cNvPr>
          <p:cNvSpPr>
            <a:spLocks xmlns:a="http://schemas.openxmlformats.org/drawingml/2006/main" noGrp="1"/>
          </p:cNvSpPr>
          <p:nvPr/>
        </p:nvSpPr>
        <p:spPr>
          <a:xfrm xmlns:a="http://schemas.openxmlformats.org/drawingml/2006/main">
            <a:off x="0" y="0"/>
            <a:ext cx="12192000" cy="952500"/>
          </a:xfrm>
          <a:prstGeom xmlns:a="http://schemas.openxmlformats.org/drawingml/2006/main" prst="rect">
            <a:avLst/>
          </a:prstGeom>
          <a:solidFill xmlns:a="http://schemas.openxmlformats.org/drawingml/2006/main">
            <a:srgbClr val="20567B"/>
          </a:solidFill>
          <a:ln xmlns:a="http://schemas.openxmlformats.org/drawingml/2006/main" w="9525">
            <a:solidFill>
              <a:srgbClr val="20567B"/>
            </a:solidFill>
          </a:ln>
        </p:spPr>
      </p:sp>
      <p:sp>
        <p:nvSpPr>
          <p:cNvPr id="2" name="">
            <a:extLst xmlns:a="http://schemas.openxmlformats.org/drawingml/2006/main">
              <a:ext uri="{FF2B5EF4-FFF2-40B4-BE49-F238E27FC236}">
                <a16:creationId xmlns:a16="http://schemas.microsoft.com/office/drawing/2014/main" id="{850C958C-F374-45D8-98A5-1A485C23A1BC}"/>
              </a:ext>
            </a:extLst>
          </p:cNvPr>
          <p:cNvSpPr>
            <a:spLocks xmlns:a="http://schemas.openxmlformats.org/drawingml/2006/main" noGrp="1"/>
          </p:cNvSpPr>
          <p:nvPr/>
        </p:nvSpPr>
        <p:spPr>
          <a:xfrm xmlns:a="http://schemas.openxmlformats.org/drawingml/2006/main">
            <a:off x="542925" y="66675"/>
            <a:ext cx="11239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Khảo sát và hướng thiết kế được chọn</a:t>
            </a:r>
          </a:p>
        </p:txBody>
      </p:sp>
      <p:sp>
        <p:nvSpPr>
          <p:cNvPr id="3" name="">
            <a:extLst xmlns:a="http://schemas.openxmlformats.org/drawingml/2006/main">
              <a:ext uri="{FF2B5EF4-FFF2-40B4-BE49-F238E27FC236}">
                <a16:creationId xmlns:a16="http://schemas.microsoft.com/office/drawing/2014/main" id="{1B90E5F7-AFCA-408F-BD77-FEAA8ECF2545}"/>
              </a:ext>
            </a:extLst>
          </p:cNvPr>
          <p:cNvSpPr>
            <a:spLocks xmlns:a="http://schemas.openxmlformats.org/drawingml/2006/main" noGrp="1"/>
          </p:cNvSpPr>
          <p:nvPr/>
        </p:nvSpPr>
        <p:spPr>
          <a:xfrm xmlns:a="http://schemas.openxmlformats.org/drawingml/2006/main">
            <a:off x="11144250" y="6400800"/>
            <a:ext cx="333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0:p xmlns:ns0="http://schemas.openxmlformats.org/drawingml/2006/main">
            <ns0:pPr algn="l">
              <ns0:defRPr sz="1200" b="1">
                <ns0:solidFill>
                  <ns0:srgbClr val="20567B"/>
                </ns0:solidFill>
                <ns0:latin typeface="Arial"/>
                <ns0:ea typeface="Arial"/>
                <ns0:cs typeface="Arial"/>
              </ns0:defRPr>
            </ns0:pPr>
            <ns0:r>
              <ns0:rPr sz="1200" b="1">
                <ns0:solidFill>
                  <ns0:srgbClr val="20567B"/>
                </ns0:solidFill>
                <ns0:latin typeface="Arial"/>
                <ns0:ea typeface="Arial"/>
                <ns0:cs typeface="Arial"/>
              </ns0:rPr>
              <ns0:t>04</ns0:t>
            </ns0:r>
          </ns0: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0bb56be8ed94a25"/>
          <a:stretch xmlns:a="http://schemas.openxmlformats.org/drawingml/2006/main"/>
        </p:blipFill>
        <p:spPr>
          <a:xfrm xmlns:a="http://schemas.openxmlformats.org/drawingml/2006/main">
            <a:off x="11696700" y="6384974"/>
            <a:ext cx="285750" cy="260252"/>
          </a:xfrm>
          <a:prstGeom xmlns:a="http://schemas.openxmlformats.org/drawingml/2006/main" prst="rect">
            <a:avLst/>
          </a:prstGeom>
        </p:spPr>
      </p:pic>
      <p:graphicFrame>
        <p:nvGraphicFramePr>
          <p:cNvPr id="11" name=""/>
          <p:cNvGraphicFramePr/>
          <p:nvPr/>
        </p:nvGraphicFramePr>
        <p:xfrm>
          <a:off xmlns:a="http://schemas.openxmlformats.org/drawingml/2006/main" x="533400" y="1543050"/>
          <a:ext xmlns:a="http://schemas.openxmlformats.org/drawingml/2006/main" cx="11125200" cy="3524250"/>
        </p:xfrm>
        <a:graphic xmlns:a="http://schemas.openxmlformats.org/drawingml/2006/main">
          <a:graphicData uri="http://schemas.openxmlformats.org/drawingml/2006/table">
            <a:tbl>
              <a:tblPr/>
              <a:tblGrid>
                <a:gridCol w="2762250"/>
                <a:gridCol w="3981450"/>
                <a:gridCol w="4381500"/>
              </a:tblGrid>
              <a:tr h="704850">
                <a:tc>
                  <a:txBody>
                    <a:bodyPr/>
                    <a:lstStyle/>
                    <a:p>
                      <a:pPr algn="l"/>
                      <a:r>
                        <a:rPr sz="1725" b="1">
                          <a:solidFill>
                            <a:srgbClr val="FFFFFF"/>
                          </a:solidFill>
                          <a:latin typeface="Arial"/>
                          <a:ea typeface="Arial"/>
                          <a:cs typeface="Arial"/>
                        </a:rPr>
                        <a:t>Nguồn / hướng</a:t>
                      </a:r>
                    </a:p>
                  </a:txBody>
                  <a:tcPr marL="91440" marR="91440" marT="45720" marB="45720" anchor="ctr">
                    <a:solidFill>
                      <a:srgbClr val="20567B"/>
                    </a:solidFill>
                  </a:tcPr>
                </a:tc>
                <a:tc>
                  <a:txBody>
                    <a:bodyPr/>
                    <a:lstStyle/>
                    <a:p>
                      <a:pPr algn="l"/>
                      <a:r>
                        <a:rPr sz="1725" b="1">
                          <a:solidFill>
                            <a:srgbClr val="FFFFFF"/>
                          </a:solidFill>
                          <a:latin typeface="Arial"/>
                          <a:ea typeface="Arial"/>
                          <a:cs typeface="Arial"/>
                        </a:rPr>
                        <a:t>Điểm kế thừa</a:t>
                      </a:r>
                    </a:p>
                  </a:txBody>
                  <a:tcPr marL="91440" marR="91440" marT="45720" marB="45720" anchor="ctr">
                    <a:solidFill>
                      <a:srgbClr val="20567B"/>
                    </a:solidFill>
                  </a:tcPr>
                </a:tc>
                <a:tc>
                  <a:txBody>
                    <a:bodyPr/>
                    <a:lstStyle/>
                    <a:p>
                      <a:pPr algn="l"/>
                      <a:r>
                        <a:rPr sz="1725" b="1">
                          <a:solidFill>
                            <a:srgbClr val="FFFFFF"/>
                          </a:solidFill>
                          <a:latin typeface="Arial"/>
                          <a:ea typeface="Arial"/>
                          <a:cs typeface="Arial"/>
                        </a:rPr>
                        <a:t>Việc cần kiểm chứng</a:t>
                      </a:r>
                    </a:p>
                  </a:txBody>
                  <a:tcPr marL="91440" marR="91440" marT="45720" marB="45720" anchor="ctr">
                    <a:solidFill>
                      <a:srgbClr val="20567B"/>
                    </a:solidFill>
                  </a:tcPr>
                </a:tc>
              </a:tr>
              <a:tr h="704850">
                <a:tc>
                  <a:txBody>
                    <a:bodyPr/>
                    <a:lstStyle/>
                    <a:p>
                      <a:pPr algn="l"/>
                      <a:r>
                        <a:rPr sz="1725" b="0">
                          <a:solidFill>
                            <a:srgbClr val="163047"/>
                          </a:solidFill>
                          <a:latin typeface="Arial"/>
                          <a:ea typeface="Arial"/>
                          <a:cs typeface="Arial"/>
                        </a:rPr>
                        <a:t>Raissi 2019</a:t>
                      </a:r>
                    </a:p>
                  </a:txBody>
                  <a:tcPr marL="91440" marR="91440" marT="45720" marB="45720" anchor="ctr">
                    <a:solidFill>
                      <a:srgbClr val="EAF3F7"/>
                    </a:solidFill>
                  </a:tcPr>
                </a:tc>
                <a:tc>
                  <a:txBody>
                    <a:bodyPr/>
                    <a:lstStyle/>
                    <a:p>
                      <a:pPr algn="l"/>
                      <a:r>
                        <a:rPr sz="1725" b="0">
                          <a:solidFill>
                            <a:srgbClr val="163047"/>
                          </a:solidFill>
                          <a:latin typeface="Arial"/>
                          <a:ea typeface="Arial"/>
                          <a:cs typeface="Arial"/>
                        </a:rPr>
                        <a:t>Học cùng phần dư phương trình</a:t>
                      </a:r>
                    </a:p>
                  </a:txBody>
                  <a:tcPr marL="91440" marR="91440" marT="45720" marB="45720" anchor="ctr">
                    <a:solidFill>
                      <a:srgbClr val="EAF3F7"/>
                    </a:solidFill>
                  </a:tcPr>
                </a:tc>
                <a:tc>
                  <a:txBody>
                    <a:bodyPr/>
                    <a:lstStyle/>
                    <a:p>
                      <a:pPr algn="l"/>
                      <a:r>
                        <a:rPr sz="1725" b="0">
                          <a:solidFill>
                            <a:srgbClr val="163047"/>
                          </a:solidFill>
                          <a:latin typeface="Arial"/>
                          <a:ea typeface="Arial"/>
                          <a:cs typeface="Arial"/>
                        </a:rPr>
                        <a:t>Phương trình phù hợp dữ liệu</a:t>
                      </a:r>
                    </a:p>
                  </a:txBody>
                  <a:tcPr marL="91440" marR="91440" marT="45720" marB="45720" anchor="ctr">
                    <a:solidFill>
                      <a:srgbClr val="EAF3F7"/>
                    </a:solidFill>
                  </a:tcPr>
                </a:tc>
              </a:tr>
              <a:tr h="704850">
                <a:tc>
                  <a:txBody>
                    <a:bodyPr/>
                    <a:lstStyle/>
                    <a:p>
                      <a:pPr algn="l"/>
                      <a:r>
                        <a:rPr sz="1725" b="0">
                          <a:solidFill>
                            <a:srgbClr val="163047"/>
                          </a:solidFill>
                          <a:latin typeface="Arial"/>
                          <a:ea typeface="Arial"/>
                          <a:cs typeface="Arial"/>
                        </a:rPr>
                        <a:t>Wen 2023</a:t>
                      </a:r>
                    </a:p>
                  </a:txBody>
                  <a:tcPr marL="91440" marR="91440" marT="45720" marB="45720" anchor="ctr">
                    <a:solidFill>
                      <a:srgbClr val="FFFFFF"/>
                    </a:solidFill>
                  </a:tcPr>
                </a:tc>
                <a:tc>
                  <a:txBody>
                    <a:bodyPr/>
                    <a:lstStyle/>
                    <a:p>
                      <a:pPr algn="l"/>
                      <a:r>
                        <a:rPr sz="1725" b="0">
                          <a:solidFill>
                            <a:srgbClr val="163047"/>
                          </a:solidFill>
                          <a:latin typeface="Arial"/>
                          <a:ea typeface="Arial"/>
                          <a:cs typeface="Arial"/>
                        </a:rPr>
                        <a:t>Mô hình bán thực nghiệm</a:t>
                      </a:r>
                    </a:p>
                  </a:txBody>
                  <a:tcPr marL="91440" marR="91440" marT="45720" marB="45720" anchor="ctr">
                    <a:solidFill>
                      <a:srgbClr val="FFFFFF"/>
                    </a:solidFill>
                  </a:tcPr>
                </a:tc>
                <a:tc>
                  <a:txBody>
                    <a:bodyPr/>
                    <a:lstStyle/>
                    <a:p>
                      <a:pPr algn="l"/>
                      <a:r>
                        <a:rPr sz="1725" b="0">
                          <a:solidFill>
                            <a:srgbClr val="163047"/>
                          </a:solidFill>
                          <a:latin typeface="Arial"/>
                          <a:ea typeface="Arial"/>
                          <a:cs typeface="Arial"/>
                        </a:rPr>
                        <a:t>Cân trọng số các loss</a:t>
                      </a:r>
                    </a:p>
                  </a:txBody>
                  <a:tcPr marL="91440" marR="91440" marT="45720" marB="45720" anchor="ctr">
                    <a:solidFill>
                      <a:srgbClr val="FFFFFF"/>
                    </a:solidFill>
                  </a:tcPr>
                </a:tc>
              </a:tr>
              <a:tr h="704850">
                <a:tc>
                  <a:txBody>
                    <a:bodyPr/>
                    <a:lstStyle/>
                    <a:p>
                      <a:pPr algn="l"/>
                      <a:r>
                        <a:rPr sz="1725" b="0">
                          <a:solidFill>
                            <a:srgbClr val="163047"/>
                          </a:solidFill>
                          <a:latin typeface="Arial"/>
                          <a:ea typeface="Arial"/>
                          <a:cs typeface="Arial"/>
                        </a:rPr>
                        <a:t>Wang 2024, PINN4SOH</a:t>
                      </a:r>
                    </a:p>
                  </a:txBody>
                  <a:tcPr marL="91440" marR="91440" marT="45720" marB="45720" anchor="ctr">
                    <a:solidFill>
                      <a:srgbClr val="EAF3F7"/>
                    </a:solidFill>
                  </a:tcPr>
                </a:tc>
                <a:tc>
                  <a:txBody>
                    <a:bodyPr/>
                    <a:lstStyle/>
                    <a:p>
                      <a:pPr algn="l"/>
                      <a:r>
                        <a:rPr sz="1725" b="0">
                          <a:solidFill>
                            <a:srgbClr val="163047"/>
                          </a:solidFill>
                          <a:latin typeface="Arial"/>
                          <a:ea typeface="Arial"/>
                          <a:cs typeface="Arial"/>
                        </a:rPr>
                        <a:t>Đặc trưng sạc và bốn bộ dữ liệu</a:t>
                      </a:r>
                    </a:p>
                  </a:txBody>
                  <a:tcPr marL="91440" marR="91440" marT="45720" marB="45720" anchor="ctr">
                    <a:solidFill>
                      <a:srgbClr val="EAF3F7"/>
                    </a:solidFill>
                  </a:tcPr>
                </a:tc>
                <a:tc>
                  <a:txBody>
                    <a:bodyPr/>
                    <a:lstStyle/>
                    <a:p>
                      <a:pPr algn="l"/>
                      <a:r>
                        <a:rPr sz="1725" b="0">
                          <a:solidFill>
                            <a:srgbClr val="163047"/>
                          </a:solidFill>
                          <a:latin typeface="Arial"/>
                          <a:ea typeface="Arial"/>
                          <a:cs typeface="Arial"/>
                        </a:rPr>
                        <a:t>Giao thức chia tập, ít nhãn</a:t>
                      </a:r>
                    </a:p>
                  </a:txBody>
                  <a:tcPr marL="91440" marR="91440" marT="45720" marB="45720" anchor="ctr">
                    <a:solidFill>
                      <a:srgbClr val="EAF3F7"/>
                    </a:solidFill>
                  </a:tcPr>
                </a:tc>
              </a:tr>
              <a:tr h="704850">
                <a:tc>
                  <a:txBody>
                    <a:bodyPr/>
                    <a:lstStyle/>
                    <a:p>
                      <a:pPr algn="l"/>
                      <a:r>
                        <a:rPr sz="1725" b="0">
                          <a:solidFill>
                            <a:srgbClr val="163047"/>
                          </a:solidFill>
                          <a:latin typeface="Arial"/>
                          <a:ea typeface="Arial"/>
                          <a:cs typeface="Arial"/>
                        </a:rPr>
                        <a:t>Đồ án hiện tại</a:t>
                      </a:r>
                    </a:p>
                  </a:txBody>
                  <a:tcPr marL="91440" marR="91440" marT="45720" marB="45720" anchor="ctr">
                    <a:solidFill>
                      <a:srgbClr val="FFFFFF"/>
                    </a:solidFill>
                  </a:tcPr>
                </a:tc>
                <a:tc>
                  <a:txBody>
                    <a:bodyPr/>
                    <a:lstStyle/>
                    <a:p>
                      <a:pPr algn="l"/>
                      <a:r>
                        <a:rPr sz="1725" b="0">
                          <a:solidFill>
                            <a:srgbClr val="163047"/>
                          </a:solidFill>
                          <a:latin typeface="Arial"/>
                          <a:ea typeface="Arial"/>
                          <a:cs typeface="Arial"/>
                        </a:rPr>
                        <a:t>Động học xám và học bán giám sát</a:t>
                      </a:r>
                    </a:p>
                  </a:txBody>
                  <a:tcPr marL="91440" marR="91440" marT="45720" marB="45720" anchor="ctr">
                    <a:solidFill>
                      <a:srgbClr val="FFFFFF"/>
                    </a:solidFill>
                  </a:tcPr>
                </a:tc>
                <a:tc>
                  <a:txBody>
                    <a:bodyPr/>
                    <a:lstStyle/>
                    <a:p>
                      <a:pPr algn="l"/>
                      <a:r>
                        <a:rPr sz="1725" b="0">
                          <a:solidFill>
                            <a:srgbClr val="163047"/>
                          </a:solidFill>
                          <a:latin typeface="Arial"/>
                          <a:ea typeface="Arial"/>
                          <a:cs typeface="Arial"/>
                        </a:rPr>
                        <a:t>Lợi ích khi chuẩn hoá giống nhau</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6A12BA1-6553-444D-AC91-92921A46E636}"/>
              </a:ext>
            </a:extLst>
          </p:cNvPr>
          <p:cNvSpPr>
            <a:spLocks xmlns:a="http://schemas.openxmlformats.org/drawingml/2006/main" noGrp="1"/>
          </p:cNvSpPr>
          <p:nvPr/>
        </p:nvSpPr>
        <p:spPr>
          <a:xfrm xmlns:a="http://schemas.openxmlformats.org/drawingml/2006/main">
            <a:off x="619125" y="6105525"/>
            <a:ext cx="1071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526778"/>
                </a:solidFill>
                <a:latin typeface="Arial"/>
                <a:ea typeface="Arial"/>
                <a:cs typeface="Arial"/>
              </a:defRPr>
            </a:pPr>
            <a:r>
              <a:rPr sz="1275" b="0">
                <a:solidFill>
                  <a:srgbClr val="526778"/>
                </a:solidFill>
                <a:latin typeface="Arial"/>
                <a:ea typeface="Arial"/>
                <a:cs typeface="Arial"/>
              </a:rPr>
              <a:t>Các bài báo hỗ trợ hướng phương pháp. Không so trực tiếp MAE đồ án với MAPE bài báo.</a:t>
            </a:r>
          </a:p>
        </p:txBody>
      </p:sp>
    </p:spTree>
    <p:extLst>
      <p:ext uri="{BB962C8B-B14F-4D97-AF65-F5344CB8AC3E}">
        <p14:creationId xmlns:p14="http://schemas.microsoft.com/office/powerpoint/2010/main" val="137586190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B2E425-74E7-4168-A6D5-E83D1F330B31}"/>
              </a:ext>
            </a:extLst>
          </p:cNvPr>
          <p:cNvSpPr>
            <a:spLocks xmlns:a="http://schemas.openxmlformats.org/drawingml/2006/main" noGrp="1"/>
          </p:cNvSpPr>
          <p:nvPr/>
        </p:nvSpPr>
        <p:spPr>
          <a:xfrm xmlns:a="http://schemas.openxmlformats.org/drawingml/2006/main">
            <a:off x="0" y="0"/>
            <a:ext cx="12192000" cy="952500"/>
          </a:xfrm>
          <a:prstGeom xmlns:a="http://schemas.openxmlformats.org/drawingml/2006/main" prst="rect">
            <a:avLst/>
          </a:prstGeom>
          <a:solidFill xmlns:a="http://schemas.openxmlformats.org/drawingml/2006/main">
            <a:srgbClr val="20567B"/>
          </a:solidFill>
          <a:ln xmlns:a="http://schemas.openxmlformats.org/drawingml/2006/main" w="9525">
            <a:solidFill>
              <a:srgbClr val="20567B"/>
            </a:solidFill>
          </a:ln>
        </p:spPr>
      </p:sp>
      <p:sp>
        <p:nvSpPr>
          <p:cNvPr id="2" name="">
            <a:extLst xmlns:a="http://schemas.openxmlformats.org/drawingml/2006/main">
              <a:ext uri="{FF2B5EF4-FFF2-40B4-BE49-F238E27FC236}">
                <a16:creationId xmlns:a16="http://schemas.microsoft.com/office/drawing/2014/main" id="{FA1664B2-7318-4599-ABAE-47EF99303300}"/>
              </a:ext>
            </a:extLst>
          </p:cNvPr>
          <p:cNvSpPr>
            <a:spLocks xmlns:a="http://schemas.openxmlformats.org/drawingml/2006/main" noGrp="1"/>
          </p:cNvSpPr>
          <p:nvPr/>
        </p:nvSpPr>
        <p:spPr>
          <a:xfrm xmlns:a="http://schemas.openxmlformats.org/drawingml/2006/main">
            <a:off x="542925" y="66675"/>
            <a:ext cx="11239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Dữ liệu và đặc trưng</a:t>
            </a:r>
          </a:p>
        </p:txBody>
      </p:sp>
      <p:sp>
        <p:nvSpPr>
          <p:cNvPr id="3" name="">
            <a:extLst xmlns:a="http://schemas.openxmlformats.org/drawingml/2006/main">
              <a:ext uri="{FF2B5EF4-FFF2-40B4-BE49-F238E27FC236}">
                <a16:creationId xmlns:a16="http://schemas.microsoft.com/office/drawing/2014/main" id="{84581084-80EC-4FAB-B5DF-267D7D888EB6}"/>
              </a:ext>
            </a:extLst>
          </p:cNvPr>
          <p:cNvSpPr>
            <a:spLocks xmlns:a="http://schemas.openxmlformats.org/drawingml/2006/main" noGrp="1"/>
          </p:cNvSpPr>
          <p:nvPr/>
        </p:nvSpPr>
        <p:spPr>
          <a:xfrm xmlns:a="http://schemas.openxmlformats.org/drawingml/2006/main">
            <a:off x="11144250" y="6400800"/>
            <a:ext cx="333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0:p xmlns:ns0="http://schemas.openxmlformats.org/drawingml/2006/main">
            <ns0:pPr algn="l">
              <ns0:defRPr sz="1200" b="1">
                <ns0:solidFill>
                  <ns0:srgbClr val="20567B"/>
                </ns0:solidFill>
                <ns0:latin typeface="Arial"/>
                <ns0:ea typeface="Arial"/>
                <ns0:cs typeface="Arial"/>
              </ns0:defRPr>
            </ns0:pPr>
            <ns0:r>
              <ns0:rPr sz="1200" b="1">
                <ns0:solidFill>
                  <ns0:srgbClr val="20567B"/>
                </ns0:solidFill>
                <ns0:latin typeface="Arial"/>
                <ns0:ea typeface="Arial"/>
                <ns0:cs typeface="Arial"/>
              </ns0:rPr>
              <ns0:t>05</ns0:t>
            </ns0:r>
          </ns0: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2d2d839b61c04873"/>
          <a:stretch xmlns:a="http://schemas.openxmlformats.org/drawingml/2006/main"/>
        </p:blipFill>
        <p:spPr>
          <a:xfrm xmlns:a="http://schemas.openxmlformats.org/drawingml/2006/main">
            <a:off x="11696700" y="6384974"/>
            <a:ext cx="285750" cy="260252"/>
          </a:xfrm>
          <a:prstGeom xmlns:a="http://schemas.openxmlformats.org/drawingml/2006/main" prst="rect">
            <a:avLst/>
          </a:prstGeom>
        </p:spPr>
      </p:pic>
      <p:graphicFrame>
        <p:nvGraphicFramePr>
          <p:cNvPr id="12" name=""/>
          <p:cNvGraphicFramePr/>
          <p:nvPr/>
        </p:nvGraphicFramePr>
        <p:xfrm>
          <a:off xmlns:a="http://schemas.openxmlformats.org/drawingml/2006/main" x="533400" y="1562100"/>
          <a:ext xmlns:a="http://schemas.openxmlformats.org/drawingml/2006/main" cx="11125200" cy="2847975"/>
        </p:xfrm>
        <a:graphic xmlns:a="http://schemas.openxmlformats.org/drawingml/2006/main">
          <a:graphicData uri="http://schemas.openxmlformats.org/drawingml/2006/table">
            <a:tbl>
              <a:tblPr/>
              <a:tblGrid>
                <a:gridCol w="2000250"/>
                <a:gridCol w="1047750"/>
                <a:gridCol w="2286000"/>
                <a:gridCol w="2619375"/>
                <a:gridCol w="3171825"/>
              </a:tblGrid>
              <a:tr h="569595">
                <a:tc>
                  <a:txBody>
                    <a:bodyPr/>
                    <a:lstStyle/>
                    <a:p>
                      <a:pPr algn="l"/>
                      <a:r>
                        <a:rPr sz="1800" b="1">
                          <a:solidFill>
                            <a:srgbClr val="FFFFFF"/>
                          </a:solidFill>
                          <a:latin typeface="Arial"/>
                          <a:ea typeface="Arial"/>
                          <a:cs typeface="Arial"/>
                        </a:rPr>
                        <a:t>Bộ dữ liệu</a:t>
                      </a:r>
                    </a:p>
                  </a:txBody>
                  <a:tcPr marL="91440" marR="91440" marT="45720" marB="45720" anchor="ctr">
                    <a:solidFill>
                      <a:srgbClr val="20567B"/>
                    </a:solidFill>
                  </a:tcPr>
                </a:tc>
                <a:tc>
                  <a:txBody>
                    <a:bodyPr/>
                    <a:lstStyle/>
                    <a:p>
                      <a:pPr algn="l"/>
                      <a:r>
                        <a:rPr sz="1800" b="1">
                          <a:solidFill>
                            <a:srgbClr val="FFFFFF"/>
                          </a:solidFill>
                          <a:latin typeface="Arial"/>
                          <a:ea typeface="Arial"/>
                          <a:cs typeface="Arial"/>
                        </a:rPr>
                        <a:t>Cell</a:t>
                      </a:r>
                    </a:p>
                  </a:txBody>
                  <a:tcPr marL="91440" marR="91440" marT="45720" marB="45720" anchor="ctr">
                    <a:solidFill>
                      <a:srgbClr val="20567B"/>
                    </a:solidFill>
                  </a:tcPr>
                </a:tc>
                <a:tc>
                  <a:txBody>
                    <a:bodyPr/>
                    <a:lstStyle/>
                    <a:p>
                      <a:pPr algn="l"/>
                      <a:r>
                        <a:rPr sz="1800" b="1">
                          <a:solidFill>
                            <a:srgbClr val="FFFFFF"/>
                          </a:solidFill>
                          <a:latin typeface="Arial"/>
                          <a:ea typeface="Arial"/>
                          <a:cs typeface="Arial"/>
                        </a:rPr>
                        <a:t>Hàng sau lọc</a:t>
                      </a:r>
                    </a:p>
                  </a:txBody>
                  <a:tcPr marL="91440" marR="91440" marT="45720" marB="45720" anchor="ctr">
                    <a:solidFill>
                      <a:srgbClr val="20567B"/>
                    </a:solidFill>
                  </a:tcPr>
                </a:tc>
                <a:tc>
                  <a:txBody>
                    <a:bodyPr/>
                    <a:lstStyle/>
                    <a:p>
                      <a:pPr algn="l"/>
                      <a:r>
                        <a:rPr sz="1800" b="1">
                          <a:solidFill>
                            <a:srgbClr val="FFFFFF"/>
                          </a:solidFill>
                          <a:latin typeface="Arial"/>
                          <a:ea typeface="Arial"/>
                          <a:cs typeface="Arial"/>
                        </a:rPr>
                        <a:t>Hoá học</a:t>
                      </a:r>
                    </a:p>
                  </a:txBody>
                  <a:tcPr marL="91440" marR="91440" marT="45720" marB="45720" anchor="ctr">
                    <a:solidFill>
                      <a:srgbClr val="20567B"/>
                    </a:solidFill>
                  </a:tcPr>
                </a:tc>
                <a:tc>
                  <a:txBody>
                    <a:bodyPr/>
                    <a:lstStyle/>
                    <a:p>
                      <a:pPr algn="l"/>
                      <a:r>
                        <a:rPr sz="1800" b="1">
                          <a:solidFill>
                            <a:srgbClr val="FFFFFF"/>
                          </a:solidFill>
                          <a:latin typeface="Arial"/>
                          <a:ea typeface="Arial"/>
                          <a:cs typeface="Arial"/>
                        </a:rPr>
                        <a:t>Nhiệt độ</a:t>
                      </a:r>
                    </a:p>
                  </a:txBody>
                  <a:tcPr marL="91440" marR="91440" marT="45720" marB="45720" anchor="ctr">
                    <a:solidFill>
                      <a:srgbClr val="20567B"/>
                    </a:solidFill>
                  </a:tcPr>
                </a:tc>
              </a:tr>
              <a:tr h="569595">
                <a:tc>
                  <a:txBody>
                    <a:bodyPr/>
                    <a:lstStyle/>
                    <a:p>
                      <a:pPr algn="l"/>
                      <a:r>
                        <a:rPr sz="1800" b="0">
                          <a:solidFill>
                            <a:srgbClr val="163047"/>
                          </a:solidFill>
                          <a:latin typeface="Arial"/>
                          <a:ea typeface="Arial"/>
                          <a:cs typeface="Arial"/>
                        </a:rPr>
                        <a:t>XJTU</a:t>
                      </a:r>
                    </a:p>
                  </a:txBody>
                  <a:tcPr marL="91440" marR="91440" marT="45720" marB="45720" anchor="ctr">
                    <a:solidFill>
                      <a:srgbClr val="EAF3F7"/>
                    </a:solidFill>
                  </a:tcPr>
                </a:tc>
                <a:tc>
                  <a:txBody>
                    <a:bodyPr/>
                    <a:lstStyle/>
                    <a:p>
                      <a:pPr algn="l"/>
                      <a:r>
                        <a:rPr sz="1800" b="0">
                          <a:solidFill>
                            <a:srgbClr val="163047"/>
                          </a:solidFill>
                          <a:latin typeface="Arial"/>
                          <a:ea typeface="Arial"/>
                          <a:cs typeface="Arial"/>
                        </a:rPr>
                        <a:t>55</a:t>
                      </a:r>
                    </a:p>
                  </a:txBody>
                  <a:tcPr marL="91440" marR="91440" marT="45720" marB="45720" anchor="ctr">
                    <a:solidFill>
                      <a:srgbClr val="EAF3F7"/>
                    </a:solidFill>
                  </a:tcPr>
                </a:tc>
                <a:tc>
                  <a:txBody>
                    <a:bodyPr/>
                    <a:lstStyle/>
                    <a:p>
                      <a:pPr algn="l"/>
                      <a:r>
                        <a:rPr sz="1800" b="0">
                          <a:solidFill>
                            <a:srgbClr val="163047"/>
                          </a:solidFill>
                          <a:latin typeface="Arial"/>
                          <a:ea typeface="Arial"/>
                          <a:cs typeface="Arial"/>
                        </a:rPr>
                        <a:t>22.212</a:t>
                      </a:r>
                    </a:p>
                  </a:txBody>
                  <a:tcPr marL="91440" marR="91440" marT="45720" marB="45720" anchor="ctr">
                    <a:solidFill>
                      <a:srgbClr val="EAF3F7"/>
                    </a:solidFill>
                  </a:tcPr>
                </a:tc>
                <a:tc>
                  <a:txBody>
                    <a:bodyPr/>
                    <a:lstStyle/>
                    <a:p>
                      <a:pPr algn="l"/>
                      <a:r>
                        <a:rPr sz="1800" b="0">
                          <a:solidFill>
                            <a:srgbClr val="163047"/>
                          </a:solidFill>
                          <a:latin typeface="Arial"/>
                          <a:ea typeface="Arial"/>
                          <a:cs typeface="Arial"/>
                        </a:rPr>
                        <a:t>NCM</a:t>
                      </a:r>
                    </a:p>
                  </a:txBody>
                  <a:tcPr marL="91440" marR="91440" marT="45720" marB="45720" anchor="ctr">
                    <a:solidFill>
                      <a:srgbClr val="EAF3F7"/>
                    </a:solidFill>
                  </a:tcPr>
                </a:tc>
                <a:tc>
                  <a:txBody>
                    <a:bodyPr/>
                    <a:lstStyle/>
                    <a:p>
                      <a:pPr algn="l"/>
                      <a:r>
                        <a:rPr sz="1800" b="0">
                          <a:solidFill>
                            <a:srgbClr val="163047"/>
                          </a:solidFill>
                          <a:latin typeface="Arial"/>
                          <a:ea typeface="Arial"/>
                          <a:cs typeface="Arial"/>
                        </a:rPr>
                        <a:t>25 °C*</a:t>
                      </a:r>
                    </a:p>
                  </a:txBody>
                  <a:tcPr marL="91440" marR="91440" marT="45720" marB="45720" anchor="ctr">
                    <a:solidFill>
                      <a:srgbClr val="EAF3F7"/>
                    </a:solidFill>
                  </a:tcPr>
                </a:tc>
              </a:tr>
              <a:tr h="569595">
                <a:tc>
                  <a:txBody>
                    <a:bodyPr/>
                    <a:lstStyle/>
                    <a:p>
                      <a:pPr algn="l"/>
                      <a:r>
                        <a:rPr sz="1800" b="0">
                          <a:solidFill>
                            <a:srgbClr val="163047"/>
                          </a:solidFill>
                          <a:latin typeface="Arial"/>
                          <a:ea typeface="Arial"/>
                          <a:cs typeface="Arial"/>
                        </a:rPr>
                        <a:t>TJU</a:t>
                      </a:r>
                    </a:p>
                  </a:txBody>
                  <a:tcPr marL="91440" marR="91440" marT="45720" marB="45720" anchor="ctr">
                    <a:solidFill>
                      <a:srgbClr val="FFFFFF"/>
                    </a:solidFill>
                  </a:tcPr>
                </a:tc>
                <a:tc>
                  <a:txBody>
                    <a:bodyPr/>
                    <a:lstStyle/>
                    <a:p>
                      <a:pPr algn="l"/>
                      <a:r>
                        <a:rPr sz="1800" b="0">
                          <a:solidFill>
                            <a:srgbClr val="163047"/>
                          </a:solidFill>
                          <a:latin typeface="Arial"/>
                          <a:ea typeface="Arial"/>
                          <a:cs typeface="Arial"/>
                        </a:rPr>
                        <a:t>130</a:t>
                      </a:r>
                    </a:p>
                  </a:txBody>
                  <a:tcPr marL="91440" marR="91440" marT="45720" marB="45720" anchor="ctr">
                    <a:solidFill>
                      <a:srgbClr val="FFFFFF"/>
                    </a:solidFill>
                  </a:tcPr>
                </a:tc>
                <a:tc>
                  <a:txBody>
                    <a:bodyPr/>
                    <a:lstStyle/>
                    <a:p>
                      <a:pPr algn="l"/>
                      <a:r>
                        <a:rPr sz="1800" b="0">
                          <a:solidFill>
                            <a:srgbClr val="163047"/>
                          </a:solidFill>
                          <a:latin typeface="Arial"/>
                          <a:ea typeface="Arial"/>
                          <a:cs typeface="Arial"/>
                        </a:rPr>
                        <a:t>56.779</a:t>
                      </a:r>
                    </a:p>
                  </a:txBody>
                  <a:tcPr marL="91440" marR="91440" marT="45720" marB="45720" anchor="ctr">
                    <a:solidFill>
                      <a:srgbClr val="FFFFFF"/>
                    </a:solidFill>
                  </a:tcPr>
                </a:tc>
                <a:tc>
                  <a:txBody>
                    <a:bodyPr/>
                    <a:lstStyle/>
                    <a:p>
                      <a:pPr algn="l"/>
                      <a:r>
                        <a:rPr sz="1800" b="0">
                          <a:solidFill>
                            <a:srgbClr val="163047"/>
                          </a:solidFill>
                          <a:latin typeface="Arial"/>
                          <a:ea typeface="Arial"/>
                          <a:cs typeface="Arial"/>
                        </a:rPr>
                        <a:t>NCA / NCM</a:t>
                      </a:r>
                    </a:p>
                  </a:txBody>
                  <a:tcPr marL="91440" marR="91440" marT="45720" marB="45720" anchor="ctr">
                    <a:solidFill>
                      <a:srgbClr val="FFFFFF"/>
                    </a:solidFill>
                  </a:tcPr>
                </a:tc>
                <a:tc>
                  <a:txBody>
                    <a:bodyPr/>
                    <a:lstStyle/>
                    <a:p>
                      <a:pPr algn="l"/>
                      <a:r>
                        <a:rPr sz="1800" b="0">
                          <a:solidFill>
                            <a:srgbClr val="163047"/>
                          </a:solidFill>
                          <a:latin typeface="Arial"/>
                          <a:ea typeface="Arial"/>
                          <a:cs typeface="Arial"/>
                        </a:rPr>
                        <a:t>25 / 35 / 45 °C</a:t>
                      </a:r>
                    </a:p>
                  </a:txBody>
                  <a:tcPr marL="91440" marR="91440" marT="45720" marB="45720" anchor="ctr">
                    <a:solidFill>
                      <a:srgbClr val="FFFFFF"/>
                    </a:solidFill>
                  </a:tcPr>
                </a:tc>
              </a:tr>
              <a:tr h="569595">
                <a:tc>
                  <a:txBody>
                    <a:bodyPr/>
                    <a:lstStyle/>
                    <a:p>
                      <a:pPr algn="l"/>
                      <a:r>
                        <a:rPr sz="1800" b="0">
                          <a:solidFill>
                            <a:srgbClr val="163047"/>
                          </a:solidFill>
                          <a:latin typeface="Arial"/>
                          <a:ea typeface="Arial"/>
                          <a:cs typeface="Arial"/>
                        </a:rPr>
                        <a:t>MIT</a:t>
                      </a:r>
                    </a:p>
                  </a:txBody>
                  <a:tcPr marL="91440" marR="91440" marT="45720" marB="45720" anchor="ctr">
                    <a:solidFill>
                      <a:srgbClr val="EAF3F7"/>
                    </a:solidFill>
                  </a:tcPr>
                </a:tc>
                <a:tc>
                  <a:txBody>
                    <a:bodyPr/>
                    <a:lstStyle/>
                    <a:p>
                      <a:pPr algn="l"/>
                      <a:r>
                        <a:rPr sz="1800" b="0">
                          <a:solidFill>
                            <a:srgbClr val="163047"/>
                          </a:solidFill>
                          <a:latin typeface="Arial"/>
                          <a:ea typeface="Arial"/>
                          <a:cs typeface="Arial"/>
                        </a:rPr>
                        <a:t>125</a:t>
                      </a:r>
                    </a:p>
                  </a:txBody>
                  <a:tcPr marL="91440" marR="91440" marT="45720" marB="45720" anchor="ctr">
                    <a:solidFill>
                      <a:srgbClr val="EAF3F7"/>
                    </a:solidFill>
                  </a:tcPr>
                </a:tc>
                <a:tc>
                  <a:txBody>
                    <a:bodyPr/>
                    <a:lstStyle/>
                    <a:p>
                      <a:pPr algn="l"/>
                      <a:r>
                        <a:rPr sz="1800" b="0">
                          <a:solidFill>
                            <a:srgbClr val="163047"/>
                          </a:solidFill>
                          <a:latin typeface="Arial"/>
                          <a:ea typeface="Arial"/>
                          <a:cs typeface="Arial"/>
                        </a:rPr>
                        <a:t>81.865</a:t>
                      </a:r>
                    </a:p>
                  </a:txBody>
                  <a:tcPr marL="91440" marR="91440" marT="45720" marB="45720" anchor="ctr">
                    <a:solidFill>
                      <a:srgbClr val="EAF3F7"/>
                    </a:solidFill>
                  </a:tcPr>
                </a:tc>
                <a:tc>
                  <a:txBody>
                    <a:bodyPr/>
                    <a:lstStyle/>
                    <a:p>
                      <a:pPr algn="l"/>
                      <a:r>
                        <a:rPr sz="1800" b="0">
                          <a:solidFill>
                            <a:srgbClr val="163047"/>
                          </a:solidFill>
                          <a:latin typeface="Arial"/>
                          <a:ea typeface="Arial"/>
                          <a:cs typeface="Arial"/>
                        </a:rPr>
                        <a:t>LFP</a:t>
                      </a:r>
                    </a:p>
                  </a:txBody>
                  <a:tcPr marL="91440" marR="91440" marT="45720" marB="45720" anchor="ctr">
                    <a:solidFill>
                      <a:srgbClr val="EAF3F7"/>
                    </a:solidFill>
                  </a:tcPr>
                </a:tc>
                <a:tc>
                  <a:txBody>
                    <a:bodyPr/>
                    <a:lstStyle/>
                    <a:p>
                      <a:pPr algn="l"/>
                      <a:r>
                        <a:rPr sz="1800" b="0">
                          <a:solidFill>
                            <a:srgbClr val="163047"/>
                          </a:solidFill>
                          <a:latin typeface="Arial"/>
                          <a:ea typeface="Arial"/>
                          <a:cs typeface="Arial"/>
                        </a:rPr>
                        <a:t>30 °C</a:t>
                      </a:r>
                    </a:p>
                  </a:txBody>
                  <a:tcPr marL="91440" marR="91440" marT="45720" marB="45720" anchor="ctr">
                    <a:solidFill>
                      <a:srgbClr val="EAF3F7"/>
                    </a:solidFill>
                  </a:tcPr>
                </a:tc>
              </a:tr>
              <a:tr h="569595">
                <a:tc>
                  <a:txBody>
                    <a:bodyPr/>
                    <a:lstStyle/>
                    <a:p>
                      <a:pPr algn="l"/>
                      <a:r>
                        <a:rPr sz="1800" b="0">
                          <a:solidFill>
                            <a:srgbClr val="163047"/>
                          </a:solidFill>
                          <a:latin typeface="Arial"/>
                          <a:ea typeface="Arial"/>
                          <a:cs typeface="Arial"/>
                        </a:rPr>
                        <a:t>HUST</a:t>
                      </a:r>
                    </a:p>
                  </a:txBody>
                  <a:tcPr marL="91440" marR="91440" marT="45720" marB="45720" anchor="ctr">
                    <a:solidFill>
                      <a:srgbClr val="FFFFFF"/>
                    </a:solidFill>
                  </a:tcPr>
                </a:tc>
                <a:tc>
                  <a:txBody>
                    <a:bodyPr/>
                    <a:lstStyle/>
                    <a:p>
                      <a:pPr algn="l"/>
                      <a:r>
                        <a:rPr sz="1800" b="0">
                          <a:solidFill>
                            <a:srgbClr val="163047"/>
                          </a:solidFill>
                          <a:latin typeface="Arial"/>
                          <a:ea typeface="Arial"/>
                          <a:cs typeface="Arial"/>
                        </a:rPr>
                        <a:t>77</a:t>
                      </a:r>
                    </a:p>
                  </a:txBody>
                  <a:tcPr marL="91440" marR="91440" marT="45720" marB="45720" anchor="ctr">
                    <a:solidFill>
                      <a:srgbClr val="FFFFFF"/>
                    </a:solidFill>
                  </a:tcPr>
                </a:tc>
                <a:tc>
                  <a:txBody>
                    <a:bodyPr/>
                    <a:lstStyle/>
                    <a:p>
                      <a:pPr algn="l"/>
                      <a:r>
                        <a:rPr sz="1800" b="0">
                          <a:solidFill>
                            <a:srgbClr val="163047"/>
                          </a:solidFill>
                          <a:latin typeface="Arial"/>
                          <a:ea typeface="Arial"/>
                          <a:cs typeface="Arial"/>
                        </a:rPr>
                        <a:t>143.172</a:t>
                      </a:r>
                    </a:p>
                  </a:txBody>
                  <a:tcPr marL="91440" marR="91440" marT="45720" marB="45720" anchor="ctr">
                    <a:solidFill>
                      <a:srgbClr val="FFFFFF"/>
                    </a:solidFill>
                  </a:tcPr>
                </a:tc>
                <a:tc>
                  <a:txBody>
                    <a:bodyPr/>
                    <a:lstStyle/>
                    <a:p>
                      <a:pPr algn="l"/>
                      <a:r>
                        <a:rPr sz="1800" b="0">
                          <a:solidFill>
                            <a:srgbClr val="163047"/>
                          </a:solidFill>
                          <a:latin typeface="Arial"/>
                          <a:ea typeface="Arial"/>
                          <a:cs typeface="Arial"/>
                        </a:rPr>
                        <a:t>LFP</a:t>
                      </a:r>
                    </a:p>
                  </a:txBody>
                  <a:tcPr marL="91440" marR="91440" marT="45720" marB="45720" anchor="ctr">
                    <a:solidFill>
                      <a:srgbClr val="FFFFFF"/>
                    </a:solidFill>
                  </a:tcPr>
                </a:tc>
                <a:tc>
                  <a:txBody>
                    <a:bodyPr/>
                    <a:lstStyle/>
                    <a:p>
                      <a:pPr algn="l"/>
                      <a:r>
                        <a:rPr sz="1800" b="0">
                          <a:solidFill>
                            <a:srgbClr val="163047"/>
                          </a:solidFill>
                          <a:latin typeface="Arial"/>
                          <a:ea typeface="Arial"/>
                          <a:cs typeface="Arial"/>
                        </a:rPr>
                        <a:t>30 °C</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194A05B5-4EC0-47E8-A5FC-48DC0416BC42}"/>
              </a:ext>
            </a:extLst>
          </p:cNvPr>
          <p:cNvSpPr>
            <a:spLocks xmlns:a="http://schemas.openxmlformats.org/drawingml/2006/main" noGrp="1"/>
          </p:cNvSpPr>
          <p:nvPr/>
        </p:nvSpPr>
        <p:spPr>
          <a:xfrm xmlns:a="http://schemas.openxmlformats.org/drawingml/2006/main">
            <a:off x="619125" y="48006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250" b="1">
                <a:solidFill>
                  <a:srgbClr val="20567B"/>
                </a:solidFill>
                <a:latin typeface="Arial"/>
                <a:ea typeface="Arial"/>
                <a:cs typeface="Arial"/>
              </a:defRPr>
            </a:pPr>
            <a:r>
              <a:rPr sz="2250" b="1">
                <a:solidFill>
                  <a:srgbClr val="20567B"/>
                </a:solidFill>
                <a:latin typeface="Arial"/>
                <a:ea typeface="Arial"/>
                <a:cs typeface="Arial"/>
              </a:rPr>
              <a:t>387 cell / 304.028 hàng / 16 đặc trưng mỗi chu kỳ</a:t>
            </a:r>
          </a:p>
        </p:txBody>
      </p:sp>
      <p:sp>
        <p:nvSpPr>
          <p:cNvPr id="7" name="">
            <a:extLst xmlns:a="http://schemas.openxmlformats.org/drawingml/2006/main">
              <a:ext uri="{FF2B5EF4-FFF2-40B4-BE49-F238E27FC236}">
                <a16:creationId xmlns:a16="http://schemas.microsoft.com/office/drawing/2014/main" id="{7D480A70-E7FA-48A7-8BC7-0F285AB931BC}"/>
              </a:ext>
            </a:extLst>
          </p:cNvPr>
          <p:cNvSpPr>
            <a:spLocks xmlns:a="http://schemas.openxmlformats.org/drawingml/2006/main" noGrp="1"/>
          </p:cNvSpPr>
          <p:nvPr/>
        </p:nvSpPr>
        <p:spPr>
          <a:xfrm xmlns:a="http://schemas.openxmlformats.org/drawingml/2006/main">
            <a:off x="619125" y="6105525"/>
            <a:ext cx="1071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526778"/>
                </a:solidFill>
                <a:latin typeface="Arial"/>
                <a:ea typeface="Arial"/>
                <a:cs typeface="Arial"/>
              </a:defRPr>
            </a:pPr>
            <a:r>
              <a:rPr sz="1275" b="0">
                <a:solidFill>
                  <a:srgbClr val="526778"/>
                </a:solidFill>
                <a:latin typeface="Arial"/>
                <a:ea typeface="Arial"/>
                <a:cs typeface="Arial"/>
              </a:rPr>
              <a:t>* Nhiệt độ XJTU do mã gán. Các số hàng trên dùng bộ lọc hiện tại, chưa phải dữ liệu đã sửa.</a:t>
            </a:r>
          </a:p>
        </p:txBody>
      </p:sp>
    </p:spTree>
    <p:extLst>
      <p:ext uri="{BB962C8B-B14F-4D97-AF65-F5344CB8AC3E}">
        <p14:creationId xmlns:p14="http://schemas.microsoft.com/office/powerpoint/2010/main" val="2442334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BDAD5E1-A710-4A61-839A-88579888C304}"/>
              </a:ext>
            </a:extLst>
          </p:cNvPr>
          <p:cNvSpPr>
            <a:spLocks xmlns:a="http://schemas.openxmlformats.org/drawingml/2006/main" noGrp="1"/>
          </p:cNvSpPr>
          <p:nvPr/>
        </p:nvSpPr>
        <p:spPr>
          <a:xfrm xmlns:a="http://schemas.openxmlformats.org/drawingml/2006/main">
            <a:off x="0" y="0"/>
            <a:ext cx="12192000" cy="952500"/>
          </a:xfrm>
          <a:prstGeom xmlns:a="http://schemas.openxmlformats.org/drawingml/2006/main" prst="rect">
            <a:avLst/>
          </a:prstGeom>
          <a:solidFill xmlns:a="http://schemas.openxmlformats.org/drawingml/2006/main">
            <a:srgbClr val="20567B"/>
          </a:solidFill>
          <a:ln xmlns:a="http://schemas.openxmlformats.org/drawingml/2006/main" w="9525">
            <a:solidFill>
              <a:srgbClr val="20567B"/>
            </a:solidFill>
          </a:ln>
        </p:spPr>
      </p:sp>
      <p:sp>
        <p:nvSpPr>
          <p:cNvPr id="2" name="">
            <a:extLst xmlns:a="http://schemas.openxmlformats.org/drawingml/2006/main">
              <a:ext uri="{FF2B5EF4-FFF2-40B4-BE49-F238E27FC236}">
                <a16:creationId xmlns:a16="http://schemas.microsoft.com/office/drawing/2014/main" id="{24F9091C-C087-4CE3-8CF0-0ABB8B5FF830}"/>
              </a:ext>
            </a:extLst>
          </p:cNvPr>
          <p:cNvSpPr>
            <a:spLocks xmlns:a="http://schemas.openxmlformats.org/drawingml/2006/main" noGrp="1"/>
          </p:cNvSpPr>
          <p:nvPr/>
        </p:nvSpPr>
        <p:spPr>
          <a:xfrm xmlns:a="http://schemas.openxmlformats.org/drawingml/2006/main">
            <a:off x="542925" y="66675"/>
            <a:ext cx="11239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Protocol và các baseline đối chứng</a:t>
            </a:r>
          </a:p>
        </p:txBody>
      </p:sp>
      <p:sp>
        <p:nvSpPr>
          <p:cNvPr id="3" name="">
            <a:extLst xmlns:a="http://schemas.openxmlformats.org/drawingml/2006/main">
              <a:ext uri="{FF2B5EF4-FFF2-40B4-BE49-F238E27FC236}">
                <a16:creationId xmlns:a16="http://schemas.microsoft.com/office/drawing/2014/main" id="{13FF52D8-8761-4E3B-A54F-497C948AA306}"/>
              </a:ext>
            </a:extLst>
          </p:cNvPr>
          <p:cNvSpPr>
            <a:spLocks xmlns:a="http://schemas.openxmlformats.org/drawingml/2006/main" noGrp="1"/>
          </p:cNvSpPr>
          <p:nvPr/>
        </p:nvSpPr>
        <p:spPr>
          <a:xfrm xmlns:a="http://schemas.openxmlformats.org/drawingml/2006/main">
            <a:off x="11144250" y="6400800"/>
            <a:ext cx="333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0:p xmlns:ns0="http://schemas.openxmlformats.org/drawingml/2006/main">
            <ns0:pPr algn="l">
              <ns0:defRPr sz="1200" b="1">
                <ns0:solidFill>
                  <ns0:srgbClr val="20567B"/>
                </ns0:solidFill>
                <ns0:latin typeface="Arial"/>
                <ns0:ea typeface="Arial"/>
                <ns0:cs typeface="Arial"/>
              </ns0:defRPr>
            </ns0:pPr>
            <ns0:r>
              <ns0:rPr sz="1200" b="1">
                <ns0:solidFill>
                  <ns0:srgbClr val="20567B"/>
                </ns0:solidFill>
                <ns0:latin typeface="Arial"/>
                <ns0:ea typeface="Arial"/>
                <ns0:cs typeface="Arial"/>
              </ns0:rPr>
              <ns0:t>06</ns0:t>
            </ns0:r>
          </ns0: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a0bd487a4be424b"/>
          <a:stretch xmlns:a="http://schemas.openxmlformats.org/drawingml/2006/main"/>
        </p:blipFill>
        <p:spPr>
          <a:xfrm xmlns:a="http://schemas.openxmlformats.org/drawingml/2006/main">
            <a:off x="11696700" y="6384974"/>
            <a:ext cx="285750" cy="260252"/>
          </a:xfrm>
          <a:prstGeom xmlns:a="http://schemas.openxmlformats.org/drawingml/2006/main" prst="rect">
            <a:avLst/>
          </a:prstGeom>
        </p:spPr>
      </p:pic>
      <p:graphicFrame>
        <p:nvGraphicFramePr>
          <p:cNvPr id="13" name=""/>
          <p:cNvGraphicFramePr/>
          <p:nvPr/>
        </p:nvGraphicFramePr>
        <p:xfrm>
          <a:off xmlns:a="http://schemas.openxmlformats.org/drawingml/2006/main" x="533400" y="1504950"/>
          <a:ext xmlns:a="http://schemas.openxmlformats.org/drawingml/2006/main" cx="11125200" cy="2476500"/>
        </p:xfrm>
        <a:graphic xmlns:a="http://schemas.openxmlformats.org/drawingml/2006/main">
          <a:graphicData uri="http://schemas.openxmlformats.org/drawingml/2006/table">
            <a:tbl>
              <a:tblPr/>
              <a:tblGrid>
                <a:gridCol w="2286000"/>
                <a:gridCol w="3905250"/>
                <a:gridCol w="4933950"/>
              </a:tblGrid>
              <a:tr h="619125">
                <a:tc>
                  <a:txBody>
                    <a:bodyPr/>
                    <a:lstStyle/>
                    <a:p>
                      <a:pPr algn="l"/>
                      <a:r>
                        <a:rPr sz="1875" b="1">
                          <a:solidFill>
                            <a:srgbClr val="FFFFFF"/>
                          </a:solidFill>
                          <a:latin typeface="Arial"/>
                          <a:ea typeface="Arial"/>
                          <a:cs typeface="Arial"/>
                        </a:rPr>
                        <a:t>Mô hình</a:t>
                      </a:r>
                    </a:p>
                  </a:txBody>
                  <a:tcPr marL="91440" marR="91440" marT="45720" marB="45720" anchor="ctr">
                    <a:solidFill>
                      <a:srgbClr val="20567B"/>
                    </a:solidFill>
                  </a:tcPr>
                </a:tc>
                <a:tc>
                  <a:txBody>
                    <a:bodyPr/>
                    <a:lstStyle/>
                    <a:p>
                      <a:pPr algn="l"/>
                      <a:r>
                        <a:rPr sz="1875" b="1">
                          <a:solidFill>
                            <a:srgbClr val="FFFFFF"/>
                          </a:solidFill>
                          <a:latin typeface="Arial"/>
                          <a:ea typeface="Arial"/>
                          <a:cs typeface="Arial"/>
                        </a:rPr>
                        <a:t>Loss dữ liệu</a:t>
                      </a:r>
                    </a:p>
                  </a:txBody>
                  <a:tcPr marL="91440" marR="91440" marT="45720" marB="45720" anchor="ctr">
                    <a:solidFill>
                      <a:srgbClr val="20567B"/>
                    </a:solidFill>
                  </a:tcPr>
                </a:tc>
                <a:tc>
                  <a:txBody>
                    <a:bodyPr/>
                    <a:lstStyle/>
                    <a:p>
                      <a:pPr algn="l"/>
                      <a:r>
                        <a:rPr sz="1875" b="1">
                          <a:solidFill>
                            <a:srgbClr val="FFFFFF"/>
                          </a:solidFill>
                          <a:latin typeface="Arial"/>
                          <a:ea typeface="Arial"/>
                          <a:cs typeface="Arial"/>
                        </a:rPr>
                        <a:t>Pool cho loss vật lý</a:t>
                      </a:r>
                    </a:p>
                  </a:txBody>
                  <a:tcPr marL="91440" marR="91440" marT="45720" marB="45720" anchor="ctr">
                    <a:solidFill>
                      <a:srgbClr val="20567B"/>
                    </a:solidFill>
                  </a:tcPr>
                </a:tc>
              </a:tr>
              <a:tr h="619125">
                <a:tc>
                  <a:txBody>
                    <a:bodyPr/>
                    <a:lstStyle/>
                    <a:p>
                      <a:pPr algn="l"/>
                      <a:r>
                        <a:rPr sz="1875" b="0">
                          <a:solidFill>
                            <a:srgbClr val="163047"/>
                          </a:solidFill>
                          <a:latin typeface="Arial"/>
                          <a:ea typeface="Arial"/>
                          <a:cs typeface="Arial"/>
                        </a:rPr>
                        <a:t>MLP</a:t>
                      </a:r>
                    </a:p>
                  </a:txBody>
                  <a:tcPr marL="91440" marR="91440" marT="45720" marB="45720" anchor="ctr">
                    <a:solidFill>
                      <a:srgbClr val="EAF3F7"/>
                    </a:solidFill>
                  </a:tcPr>
                </a:tc>
                <a:tc>
                  <a:txBody>
                    <a:bodyPr/>
                    <a:lstStyle/>
                    <a:p>
                      <a:pPr algn="l"/>
                      <a:r>
                        <a:rPr sz="1875" b="0">
                          <a:solidFill>
                            <a:srgbClr val="163047"/>
                          </a:solidFill>
                          <a:latin typeface="Arial"/>
                          <a:ea typeface="Arial"/>
                          <a:cs typeface="Arial"/>
                        </a:rPr>
                        <a:t>Cell train có nhãn</a:t>
                      </a:r>
                    </a:p>
                  </a:txBody>
                  <a:tcPr marL="91440" marR="91440" marT="45720" marB="45720" anchor="ctr">
                    <a:solidFill>
                      <a:srgbClr val="EAF3F7"/>
                    </a:solidFill>
                  </a:tcPr>
                </a:tc>
                <a:tc>
                  <a:txBody>
                    <a:bodyPr/>
                    <a:lstStyle/>
                    <a:p>
                      <a:pPr algn="l"/>
                      <a:r>
                        <a:rPr sz="1875" b="0">
                          <a:solidFill>
                            <a:srgbClr val="163047"/>
                          </a:solidFill>
                          <a:latin typeface="Arial"/>
                          <a:ea typeface="Arial"/>
                          <a:cs typeface="Arial"/>
                        </a:rPr>
                        <a:t>Không sử dụng</a:t>
                      </a:r>
                    </a:p>
                  </a:txBody>
                  <a:tcPr marL="91440" marR="91440" marT="45720" marB="45720" anchor="ctr">
                    <a:solidFill>
                      <a:srgbClr val="EAF3F7"/>
                    </a:solidFill>
                  </a:tcPr>
                </a:tc>
              </a:tr>
              <a:tr h="619125">
                <a:tc>
                  <a:txBody>
                    <a:bodyPr/>
                    <a:lstStyle/>
                    <a:p>
                      <a:pPr algn="l"/>
                      <a:r>
                        <a:rPr sz="1875" b="0">
                          <a:solidFill>
                            <a:srgbClr val="163047"/>
                          </a:solidFill>
                          <a:latin typeface="Arial"/>
                          <a:ea typeface="Arial"/>
                          <a:cs typeface="Arial"/>
                        </a:rPr>
                        <a:t>PINN-sup</a:t>
                      </a:r>
                    </a:p>
                  </a:txBody>
                  <a:tcPr marL="91440" marR="91440" marT="45720" marB="45720" anchor="ctr">
                    <a:solidFill>
                      <a:srgbClr val="FFFFFF"/>
                    </a:solidFill>
                  </a:tcPr>
                </a:tc>
                <a:tc>
                  <a:txBody>
                    <a:bodyPr/>
                    <a:lstStyle/>
                    <a:p>
                      <a:pPr algn="l"/>
                      <a:r>
                        <a:rPr sz="1875" b="0">
                          <a:solidFill>
                            <a:srgbClr val="163047"/>
                          </a:solidFill>
                          <a:latin typeface="Arial"/>
                          <a:ea typeface="Arial"/>
                          <a:cs typeface="Arial"/>
                        </a:rPr>
                        <a:t>Cell train có nhãn</a:t>
                      </a:r>
                    </a:p>
                  </a:txBody>
                  <a:tcPr marL="91440" marR="91440" marT="45720" marB="45720" anchor="ctr">
                    <a:solidFill>
                      <a:srgbClr val="FFFFFF"/>
                    </a:solidFill>
                  </a:tcPr>
                </a:tc>
                <a:tc>
                  <a:txBody>
                    <a:bodyPr/>
                    <a:lstStyle/>
                    <a:p>
                      <a:pPr algn="l"/>
                      <a:r>
                        <a:rPr sz="1875" b="0">
                          <a:solidFill>
                            <a:srgbClr val="163047"/>
                          </a:solidFill>
                          <a:latin typeface="Arial"/>
                          <a:ea typeface="Arial"/>
                          <a:cs typeface="Arial"/>
                        </a:rPr>
                        <a:t>Cell train có nhãn</a:t>
                      </a:r>
                    </a:p>
                  </a:txBody>
                  <a:tcPr marL="91440" marR="91440" marT="45720" marB="45720" anchor="ctr">
                    <a:solidFill>
                      <a:srgbClr val="FFFFFF"/>
                    </a:solidFill>
                  </a:tcPr>
                </a:tc>
              </a:tr>
              <a:tr h="619125">
                <a:tc>
                  <a:txBody>
                    <a:bodyPr/>
                    <a:lstStyle/>
                    <a:p>
                      <a:pPr algn="l"/>
                      <a:r>
                        <a:rPr sz="1875" b="0">
                          <a:solidFill>
                            <a:srgbClr val="163047"/>
                          </a:solidFill>
                          <a:latin typeface="Arial"/>
                          <a:ea typeface="Arial"/>
                          <a:cs typeface="Arial"/>
                        </a:rPr>
                        <a:t>PINN-semi</a:t>
                      </a:r>
                    </a:p>
                  </a:txBody>
                  <a:tcPr marL="91440" marR="91440" marT="45720" marB="45720" anchor="ctr">
                    <a:solidFill>
                      <a:srgbClr val="EAF3F7"/>
                    </a:solidFill>
                  </a:tcPr>
                </a:tc>
                <a:tc>
                  <a:txBody>
                    <a:bodyPr/>
                    <a:lstStyle/>
                    <a:p>
                      <a:pPr algn="l"/>
                      <a:r>
                        <a:rPr sz="1875" b="0">
                          <a:solidFill>
                            <a:srgbClr val="163047"/>
                          </a:solidFill>
                          <a:latin typeface="Arial"/>
                          <a:ea typeface="Arial"/>
                          <a:cs typeface="Arial"/>
                        </a:rPr>
                        <a:t>Cell train có nhãn</a:t>
                      </a:r>
                    </a:p>
                  </a:txBody>
                  <a:tcPr marL="91440" marR="91440" marT="45720" marB="45720" anchor="ctr">
                    <a:solidFill>
                      <a:srgbClr val="EAF3F7"/>
                    </a:solidFill>
                  </a:tcPr>
                </a:tc>
                <a:tc>
                  <a:txBody>
                    <a:bodyPr/>
                    <a:lstStyle/>
                    <a:p>
                      <a:pPr algn="l"/>
                      <a:r>
                        <a:rPr sz="1875" b="0">
                          <a:solidFill>
                            <a:srgbClr val="163047"/>
                          </a:solidFill>
                          <a:latin typeface="Arial"/>
                          <a:ea typeface="Arial"/>
                          <a:cs typeface="Arial"/>
                        </a:rPr>
                        <a:t>Mọi cell train</a:t>
                      </a:r>
                    </a:p>
                  </a:txBody>
                  <a:tcPr marL="91440" marR="91440" marT="45720" marB="45720" anchor="ctr">
                    <a:solidFill>
                      <a:srgbClr val="EAF3F7"/>
                    </a:solidFill>
                  </a:tcPr>
                </a:tc>
              </a:tr>
            </a:tbl>
          </a:graphicData>
        </a:graphic>
      </p:graphicFrame>
      <p:sp>
        <p:nvSpPr>
          <p:cNvPr id="6" name="">
            <a:extLst xmlns:a="http://schemas.openxmlformats.org/drawingml/2006/main">
              <a:ext uri="{FF2B5EF4-FFF2-40B4-BE49-F238E27FC236}">
                <a16:creationId xmlns:a16="http://schemas.microsoft.com/office/drawing/2014/main" id="{8D61241D-8B96-48B4-941E-7D46DA2E70EA}"/>
              </a:ext>
            </a:extLst>
          </p:cNvPr>
          <p:cNvSpPr>
            <a:spLocks xmlns:a="http://schemas.openxmlformats.org/drawingml/2006/main" noGrp="1"/>
          </p:cNvSpPr>
          <p:nvPr/>
        </p:nvSpPr>
        <p:spPr>
          <a:xfrm xmlns:a="http://schemas.openxmlformats.org/drawingml/2006/main">
            <a:off x="619125" y="4295775"/>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1">
                <a:solidFill>
                  <a:srgbClr val="20567B"/>
                </a:solidFill>
                <a:latin typeface="Arial"/>
                <a:ea typeface="Arial"/>
                <a:cs typeface="Arial"/>
              </a:defRPr>
            </a:pPr>
            <a:r>
              <a:rPr sz="2100" b="1">
                <a:solidFill>
                  <a:srgbClr val="20567B"/>
                </a:solidFill>
                <a:latin typeface="Arial"/>
                <a:ea typeface="Arial"/>
                <a:cs typeface="Arial"/>
              </a:rPr>
              <a:t>Chia theo cell, phân tầng theo nhóm thí nghiệm</a:t>
            </a:r>
          </a:p>
        </p:txBody>
      </p:sp>
      <p:sp>
        <p:nvSpPr>
          <p:cNvPr id="7" name="">
            <a:extLst xmlns:a="http://schemas.openxmlformats.org/drawingml/2006/main">
              <a:ext uri="{FF2B5EF4-FFF2-40B4-BE49-F238E27FC236}">
                <a16:creationId xmlns:a16="http://schemas.microsoft.com/office/drawing/2014/main" id="{459915ED-5A5C-4152-8D5C-69B640DAEDC1}"/>
              </a:ext>
            </a:extLst>
          </p:cNvPr>
          <p:cNvSpPr>
            <a:spLocks xmlns:a="http://schemas.openxmlformats.org/drawingml/2006/main" noGrp="1"/>
          </p:cNvSpPr>
          <p:nvPr/>
        </p:nvSpPr>
        <p:spPr>
          <a:xfrm xmlns:a="http://schemas.openxmlformats.org/drawingml/2006/main">
            <a:off x="619125" y="4857750"/>
            <a:ext cx="10763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163047"/>
                </a:solidFill>
                <a:latin typeface="Arial"/>
                <a:ea typeface="Arial"/>
                <a:cs typeface="Arial"/>
              </a:defRPr>
            </a:pPr>
            <a:r>
              <a:rPr sz="1875" b="0">
                <a:solidFill>
                  <a:srgbClr val="163047"/>
                </a:solidFill>
                <a:latin typeface="Arial"/>
                <a:ea typeface="Arial"/>
                <a:cs typeface="Arial"/>
              </a:rPr>
              <a:t>Mức 10 / 30 / 50 / 70% nhãn tính trên tổng số cell.</a:t>
            </a:r>
          </a:p>
          <a:p xmlns:a="http://schemas.openxmlformats.org/drawingml/2006/main">
            <a:pPr algn="l">
              <a:defRPr sz="1875" b="0">
                <a:solidFill>
                  <a:srgbClr val="163047"/>
                </a:solidFill>
                <a:latin typeface="Arial"/>
                <a:ea typeface="Arial"/>
                <a:cs typeface="Arial"/>
              </a:defRPr>
            </a:pPr>
            <a:r>
              <a:rPr sz="1875" b="0">
                <a:solidFill>
                  <a:srgbClr val="163047"/>
                </a:solidFill>
                <a:latin typeface="Arial"/>
                <a:ea typeface="Arial"/>
                <a:cs typeface="Arial"/>
              </a:rPr>
              <a:t>Validation/test giữ cố định trong cùng seed. Chọn checkpoint bằng validation.</a:t>
            </a:r>
          </a:p>
        </p:txBody>
      </p:sp>
      <p:sp>
        <p:nvSpPr>
          <p:cNvPr id="8" name="">
            <a:extLst xmlns:a="http://schemas.openxmlformats.org/drawingml/2006/main">
              <a:ext uri="{FF2B5EF4-FFF2-40B4-BE49-F238E27FC236}">
                <a16:creationId xmlns:a16="http://schemas.microsoft.com/office/drawing/2014/main" id="{BA3D6B2D-ACEA-43D6-B66E-0A36A11B0B1F}"/>
              </a:ext>
            </a:extLst>
          </p:cNvPr>
          <p:cNvSpPr>
            <a:spLocks xmlns:a="http://schemas.openxmlformats.org/drawingml/2006/main" noGrp="1"/>
          </p:cNvSpPr>
          <p:nvPr/>
        </p:nvSpPr>
        <p:spPr>
          <a:xfrm xmlns:a="http://schemas.openxmlformats.org/drawingml/2006/main">
            <a:off x="619125" y="6105525"/>
            <a:ext cx="1071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526778"/>
                </a:solidFill>
                <a:latin typeface="Arial"/>
                <a:ea typeface="Arial"/>
                <a:cs typeface="Arial"/>
              </a:defRPr>
            </a:pPr>
            <a:r>
              <a:rPr sz="1275" b="0">
                <a:solidFill>
                  <a:srgbClr val="526778"/>
                </a:solidFill>
                <a:latin typeface="Arial"/>
                <a:ea typeface="Arial"/>
                <a:cs typeface="Arial"/>
              </a:rPr>
              <a:t>Cần dùng cùng pool chuẩn hoá cho MLP/PINN để tách riêng tác dụng của loss vật lý.</a:t>
            </a:r>
          </a:p>
        </p:txBody>
      </p:sp>
    </p:spTree>
    <p:extLst>
      <p:ext uri="{BB962C8B-B14F-4D97-AF65-F5344CB8AC3E}">
        <p14:creationId xmlns:p14="http://schemas.microsoft.com/office/powerpoint/2010/main" val="62768919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1" name=""/>
          <p:cNvCxnSpPr>
            <a:stCxn xmlns:a="http://schemas.openxmlformats.org/drawingml/2006/main" id="12" idx="2"/>
            <a:endCxn xmlns:a="http://schemas.openxmlformats.org/drawingml/2006/main" id="17" idx="3"/>
          </p:cNvCxnSpPr>
          <p:nvPr/>
        </p:nvCxnSpPr>
        <p:spPr>
          <a:xfrm xmlns:a="http://schemas.openxmlformats.org/drawingml/2006/main">
            <a:off x="10548938" y="4133850"/>
            <a:ext cx="1300163" cy="1204913"/>
          </a:xfrm>
          <a:prstGeom xmlns:a="http://schemas.openxmlformats.org/drawingml/2006/main" prst="bentConnector4">
            <a:avLst/>
          </a:prstGeom>
          <a:ln xmlns:a="http://schemas.openxmlformats.org/drawingml/2006/main" w="16193">
            <a:solidFill>
              <a:srgbClr val="20567B"/>
            </a:solidFill>
            <a:tailEnd type="arrow" w="med" len="med"/>
          </a:ln>
        </p:spPr>
      </p:cxnSp>
      <p:cxnSp>
        <p:nvCxnSpPr>
          <p:cNvPr id="22" name=""/>
          <p:cNvCxnSpPr>
            <a:stCxn xmlns:a="http://schemas.openxmlformats.org/drawingml/2006/main" id="11" idx="3"/>
            <a:endCxn xmlns:a="http://schemas.openxmlformats.org/drawingml/2006/main" id="12" idx="1"/>
          </p:cNvCxnSpPr>
          <p:nvPr/>
        </p:nvCxnSpPr>
        <p:spPr>
          <a:xfrm xmlns:a="http://schemas.openxmlformats.org/drawingml/2006/main">
            <a:off x="8620125" y="3600450"/>
            <a:ext cx="857250" cy="0"/>
          </a:xfrm>
          <a:prstGeom xmlns:a="http://schemas.openxmlformats.org/drawingml/2006/main" prst="straightConnector1">
            <a:avLst/>
          </a:prstGeom>
          <a:ln xmlns:a="http://schemas.openxmlformats.org/drawingml/2006/main" w="16193">
            <a:solidFill>
              <a:srgbClr val="20567B"/>
            </a:solidFill>
            <a:tailEnd type="arrow" w="med" len="med"/>
          </a:ln>
        </p:spPr>
      </p:cxnSp>
      <p:cxnSp>
        <p:nvCxnSpPr>
          <p:cNvPr id="23" name=""/>
          <p:cNvCxnSpPr>
            <a:stCxn xmlns:a="http://schemas.openxmlformats.org/drawingml/2006/main" id="7" idx="2"/>
            <a:endCxn xmlns:a="http://schemas.openxmlformats.org/drawingml/2006/main" id="11" idx="0"/>
          </p:cNvCxnSpPr>
          <p:nvPr/>
        </p:nvCxnSpPr>
        <p:spPr>
          <a:xfrm xmlns:a="http://schemas.openxmlformats.org/drawingml/2006/main" flipH="1">
            <a:off x="6929438" y="2324100"/>
            <a:ext cx="2976563" cy="742950"/>
          </a:xfrm>
          <a:prstGeom xmlns:a="http://schemas.openxmlformats.org/drawingml/2006/main" prst="bentConnector4">
            <a:avLst>
              <a:gd name="adj1" fmla="val 0"/>
              <a:gd name="adj2" fmla="val 50000"/>
            </a:avLst>
          </a:prstGeom>
          <a:ln xmlns:a="http://schemas.openxmlformats.org/drawingml/2006/main" w="16193">
            <a:solidFill>
              <a:srgbClr val="20567B"/>
            </a:solidFill>
            <a:tailEnd type="arrow" w="med" len="med"/>
          </a:ln>
        </p:spPr>
      </p:cxnSp>
      <p:cxnSp>
        <p:nvCxnSpPr>
          <p:cNvPr id="24" name=""/>
          <p:cNvCxnSpPr>
            <a:stCxn xmlns:a="http://schemas.openxmlformats.org/drawingml/2006/main" id="10" idx="3"/>
            <a:endCxn xmlns:a="http://schemas.openxmlformats.org/drawingml/2006/main" id="11" idx="1"/>
          </p:cNvCxnSpPr>
          <p:nvPr/>
        </p:nvCxnSpPr>
        <p:spPr>
          <a:xfrm xmlns:a="http://schemas.openxmlformats.org/drawingml/2006/main">
            <a:off x="4333875" y="3600450"/>
            <a:ext cx="904875" cy="0"/>
          </a:xfrm>
          <a:prstGeom xmlns:a="http://schemas.openxmlformats.org/drawingml/2006/main" prst="straightConnector1">
            <a:avLst/>
          </a:prstGeom>
          <a:ln xmlns:a="http://schemas.openxmlformats.org/drawingml/2006/main" w="16193">
            <a:solidFill>
              <a:srgbClr val="20567B"/>
            </a:solidFill>
            <a:tailEnd type="arrow" w="med" len="med"/>
          </a:ln>
        </p:spPr>
      </p:cxnSp>
      <p:cxnSp>
        <p:nvCxnSpPr>
          <p:cNvPr id="25" name=""/>
          <p:cNvCxnSpPr>
            <a:stCxn xmlns:a="http://schemas.openxmlformats.org/drawingml/2006/main" id="5" idx="2"/>
            <a:endCxn xmlns:a="http://schemas.openxmlformats.org/drawingml/2006/main" id="10" idx="0"/>
          </p:cNvCxnSpPr>
          <p:nvPr/>
        </p:nvCxnSpPr>
        <p:spPr>
          <a:xfrm xmlns:a="http://schemas.openxmlformats.org/drawingml/2006/main">
            <a:off x="1666875" y="2324100"/>
            <a:ext cx="762000" cy="742950"/>
          </a:xfrm>
          <a:prstGeom xmlns:a="http://schemas.openxmlformats.org/drawingml/2006/main" prst="bentConnector4">
            <a:avLst>
              <a:gd name="adj1" fmla="val 0"/>
              <a:gd name="adj2" fmla="val 50000"/>
            </a:avLst>
          </a:prstGeom>
          <a:ln xmlns:a="http://schemas.openxmlformats.org/drawingml/2006/main" w="16193">
            <a:solidFill>
              <a:srgbClr val="20567B"/>
            </a:solidFill>
            <a:tailEnd type="arrow" w="med" len="med"/>
          </a:ln>
        </p:spPr>
      </p:cxnSp>
      <p:cxnSp>
        <p:nvCxnSpPr>
          <p:cNvPr id="26" name=""/>
          <p:cNvCxnSpPr>
            <a:stCxn xmlns:a="http://schemas.openxmlformats.org/drawingml/2006/main" id="6" idx="3"/>
            <a:endCxn xmlns:a="http://schemas.openxmlformats.org/drawingml/2006/main" id="7" idx="1"/>
          </p:cNvCxnSpPr>
          <p:nvPr/>
        </p:nvCxnSpPr>
        <p:spPr>
          <a:xfrm xmlns:a="http://schemas.openxmlformats.org/drawingml/2006/main">
            <a:off x="7524750" y="1905000"/>
            <a:ext cx="666750" cy="0"/>
          </a:xfrm>
          <a:prstGeom xmlns:a="http://schemas.openxmlformats.org/drawingml/2006/main" prst="straightConnector1">
            <a:avLst/>
          </a:prstGeom>
          <a:ln xmlns:a="http://schemas.openxmlformats.org/drawingml/2006/main" w="16193">
            <a:solidFill>
              <a:srgbClr val="20567B"/>
            </a:solidFill>
            <a:tailEnd type="arrow" w="med" len="med"/>
          </a:ln>
        </p:spPr>
      </p:cxnSp>
      <p:cxnSp>
        <p:nvCxnSpPr>
          <p:cNvPr id="27" name=""/>
          <p:cNvCxnSpPr>
            <a:stCxn xmlns:a="http://schemas.openxmlformats.org/drawingml/2006/main" id="5" idx="3"/>
            <a:endCxn xmlns:a="http://schemas.openxmlformats.org/drawingml/2006/main" id="6" idx="1"/>
          </p:cNvCxnSpPr>
          <p:nvPr/>
        </p:nvCxnSpPr>
        <p:spPr>
          <a:xfrm xmlns:a="http://schemas.openxmlformats.org/drawingml/2006/main">
            <a:off x="2809875" y="1905000"/>
            <a:ext cx="666750" cy="0"/>
          </a:xfrm>
          <a:prstGeom xmlns:a="http://schemas.openxmlformats.org/drawingml/2006/main" prst="straightConnector1">
            <a:avLst/>
          </a:prstGeom>
          <a:ln xmlns:a="http://schemas.openxmlformats.org/drawingml/2006/main" w="16193">
            <a:solidFill>
              <a:srgbClr val="20567B"/>
            </a:solidFill>
            <a:tailEnd type="arrow" w="med" len="med"/>
          </a:ln>
        </p:spPr>
      </p:cxnSp>
      <p:sp>
        <p:nvSpPr>
          <p:cNvPr id="28" name="">
            <a:extLst xmlns:a="http://schemas.openxmlformats.org/drawingml/2006/main">
              <a:ext uri="{FF2B5EF4-FFF2-40B4-BE49-F238E27FC236}">
                <a16:creationId xmlns:a16="http://schemas.microsoft.com/office/drawing/2014/main" id="{1E177728-9FF2-4FD5-9E82-9362DB6FFF21}"/>
              </a:ext>
            </a:extLst>
          </p:cNvPr>
          <p:cNvSpPr>
            <a:spLocks xmlns:a="http://schemas.openxmlformats.org/drawingml/2006/main" noGrp="1"/>
          </p:cNvSpPr>
          <p:nvPr/>
        </p:nvSpPr>
        <p:spPr>
          <a:xfrm xmlns:a="http://schemas.openxmlformats.org/drawingml/2006/main">
            <a:off x="0" y="0"/>
            <a:ext cx="12192000" cy="952500"/>
          </a:xfrm>
          <a:prstGeom xmlns:a="http://schemas.openxmlformats.org/drawingml/2006/main" prst="rect">
            <a:avLst/>
          </a:prstGeom>
          <a:solidFill xmlns:a="http://schemas.openxmlformats.org/drawingml/2006/main">
            <a:srgbClr val="20567B"/>
          </a:solidFill>
          <a:ln xmlns:a="http://schemas.openxmlformats.org/drawingml/2006/main" w="9525">
            <a:solidFill>
              <a:srgbClr val="20567B"/>
            </a:solidFill>
          </a:ln>
        </p:spPr>
      </p:sp>
      <p:sp>
        <p:nvSpPr>
          <p:cNvPr id="2" name="">
            <a:extLst xmlns:a="http://schemas.openxmlformats.org/drawingml/2006/main">
              <a:ext uri="{FF2B5EF4-FFF2-40B4-BE49-F238E27FC236}">
                <a16:creationId xmlns:a16="http://schemas.microsoft.com/office/drawing/2014/main" id="{61D92ADB-0169-4DF5-9A64-993A10608890}"/>
              </a:ext>
            </a:extLst>
          </p:cNvPr>
          <p:cNvSpPr>
            <a:spLocks xmlns:a="http://schemas.openxmlformats.org/drawingml/2006/main" noGrp="1"/>
          </p:cNvSpPr>
          <p:nvPr/>
        </p:nvSpPr>
        <p:spPr>
          <a:xfrm xmlns:a="http://schemas.openxmlformats.org/drawingml/2006/main">
            <a:off x="542925" y="66675"/>
            <a:ext cx="11239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Mô hình PINN: mạng nghiệm và động học xám</a:t>
            </a:r>
          </a:p>
        </p:txBody>
      </p:sp>
      <p:sp>
        <p:nvSpPr>
          <p:cNvPr id="3" name="">
            <a:extLst xmlns:a="http://schemas.openxmlformats.org/drawingml/2006/main">
              <a:ext uri="{FF2B5EF4-FFF2-40B4-BE49-F238E27FC236}">
                <a16:creationId xmlns:a16="http://schemas.microsoft.com/office/drawing/2014/main" id="{CB1EF6F0-EDA0-4296-9A4D-F200BC1F584A}"/>
              </a:ext>
            </a:extLst>
          </p:cNvPr>
          <p:cNvSpPr>
            <a:spLocks xmlns:a="http://schemas.openxmlformats.org/drawingml/2006/main" noGrp="1"/>
          </p:cNvSpPr>
          <p:nvPr/>
        </p:nvSpPr>
        <p:spPr>
          <a:xfrm xmlns:a="http://schemas.openxmlformats.org/drawingml/2006/main">
            <a:off x="11144250" y="6400800"/>
            <a:ext cx="333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0:p xmlns:ns0="http://schemas.openxmlformats.org/drawingml/2006/main">
            <ns0:pPr algn="l">
              <ns0:defRPr sz="1200" b="1">
                <ns0:solidFill>
                  <ns0:srgbClr val="20567B"/>
                </ns0:solidFill>
                <ns0:latin typeface="Arial"/>
                <ns0:ea typeface="Arial"/>
                <ns0:cs typeface="Arial"/>
              </ns0:defRPr>
            </ns0:pPr>
            <ns0:r>
              <ns0:rPr sz="1200" b="1">
                <ns0:solidFill>
                  <ns0:srgbClr val="20567B"/>
                </ns0:solidFill>
                <ns0:latin typeface="Arial"/>
                <ns0:ea typeface="Arial"/>
                <ns0:cs typeface="Arial"/>
              </ns0:rPr>
              <ns0:t>07</ns0:t>
            </ns0:r>
          </ns0: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4015739e4ec540bc"/>
          <a:stretch xmlns:a="http://schemas.openxmlformats.org/drawingml/2006/main"/>
        </p:blipFill>
        <p:spPr>
          <a:xfrm xmlns:a="http://schemas.openxmlformats.org/drawingml/2006/main">
            <a:off x="11696700" y="6384974"/>
            <a:ext cx="285750" cy="26025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F4996EE-49E8-4B19-984C-68D47F7F645E}"/>
              </a:ext>
            </a:extLst>
          </p:cNvPr>
          <p:cNvSpPr>
            <a:spLocks xmlns:a="http://schemas.openxmlformats.org/drawingml/2006/main" noGrp="1"/>
          </p:cNvSpPr>
          <p:nvPr/>
        </p:nvSpPr>
        <p:spPr>
          <a:xfrm xmlns:a="http://schemas.openxmlformats.org/drawingml/2006/main">
            <a:off x="523875" y="1485900"/>
            <a:ext cx="2286000" cy="838200"/>
          </a:xfrm>
          <a:prstGeom xmlns:a="http://schemas.openxmlformats.org/drawingml/2006/main" prst="rect">
            <a:avLst/>
          </a:prstGeom>
          <a:solidFill xmlns:a="http://schemas.openxmlformats.org/drawingml/2006/main">
            <a:srgbClr val="EAF3F7"/>
          </a:solidFill>
          <a:ln xmlns:a="http://schemas.openxmlformats.org/drawingml/2006/main" w="9525">
            <a:solidFill>
              <a:srgbClr val="20567B"/>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650">
                <a:solidFill>
                  <a:srgbClr val="163047"/>
                </a:solidFill>
                <a:latin typeface="Arial"/>
                <a:ea typeface="Arial"/>
                <a:cs typeface="Arial"/>
              </a:defRPr>
            </a:pPr>
            <a:r>
              <a:rPr sz="1650">
                <a:solidFill>
                  <a:srgbClr val="163047"/>
                </a:solidFill>
                <a:latin typeface="Arial"/>
                <a:ea typeface="Arial"/>
                <a:cs typeface="Arial"/>
              </a:rPr>
              <a:t>16 đặc trưng x</a:t>
            </a:r>
          </a:p>
          <a:p xmlns:a="http://schemas.openxmlformats.org/drawingml/2006/main">
            <a:pPr algn="ctr">
              <a:defRPr sz="1650">
                <a:solidFill>
                  <a:srgbClr val="163047"/>
                </a:solidFill>
                <a:latin typeface="Arial"/>
                <a:ea typeface="Arial"/>
                <a:cs typeface="Arial"/>
              </a:defRPr>
            </a:pPr>
            <a:r>
              <a:rPr sz="1650">
                <a:solidFill>
                  <a:srgbClr val="163047"/>
                </a:solidFill>
                <a:latin typeface="Arial"/>
                <a:ea typeface="Arial"/>
                <a:cs typeface="Arial"/>
              </a:rPr>
              <a:t>t = N/1000</a:t>
            </a:r>
          </a:p>
        </p:txBody>
      </p:sp>
      <p:sp>
        <p:nvSpPr>
          <p:cNvPr id="6" name="">
            <a:extLst xmlns:a="http://schemas.openxmlformats.org/drawingml/2006/main">
              <a:ext uri="{FF2B5EF4-FFF2-40B4-BE49-F238E27FC236}">
                <a16:creationId xmlns:a16="http://schemas.microsoft.com/office/drawing/2014/main" id="{E961F95B-1AE7-4270-AE75-43F343CA5AAD}"/>
              </a:ext>
            </a:extLst>
          </p:cNvPr>
          <p:cNvSpPr>
            <a:spLocks xmlns:a="http://schemas.openxmlformats.org/drawingml/2006/main" noGrp="1"/>
          </p:cNvSpPr>
          <p:nvPr/>
        </p:nvSpPr>
        <p:spPr>
          <a:xfrm xmlns:a="http://schemas.openxmlformats.org/drawingml/2006/main">
            <a:off x="3476625" y="1485900"/>
            <a:ext cx="4048125" cy="838200"/>
          </a:xfrm>
          <a:prstGeom xmlns:a="http://schemas.openxmlformats.org/drawingml/2006/main" prst="rect">
            <a:avLst/>
          </a:prstGeom>
          <a:solidFill xmlns:a="http://schemas.openxmlformats.org/drawingml/2006/main">
            <a:srgbClr val="EAF3F7"/>
          </a:solidFill>
          <a:ln xmlns:a="http://schemas.openxmlformats.org/drawingml/2006/main" w="9525">
            <a:solidFill>
              <a:srgbClr val="20567B"/>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650">
                <a:solidFill>
                  <a:srgbClr val="163047"/>
                </a:solidFill>
                <a:latin typeface="Arial"/>
                <a:ea typeface="Arial"/>
                <a:cs typeface="Arial"/>
              </a:defRPr>
            </a:pPr>
            <a:r>
              <a:rPr sz="1650">
                <a:solidFill>
                  <a:srgbClr val="163047"/>
                </a:solidFill>
                <a:latin typeface="Arial"/>
                <a:ea typeface="Arial"/>
                <a:cs typeface="Arial"/>
              </a:rPr>
              <a:t>Mạng nghiệm Fφ</a:t>
            </a:r>
          </a:p>
          <a:p xmlns:a="http://schemas.openxmlformats.org/drawingml/2006/main">
            <a:pPr algn="ctr">
              <a:defRPr sz="1650">
                <a:solidFill>
                  <a:srgbClr val="163047"/>
                </a:solidFill>
                <a:latin typeface="Arial"/>
                <a:ea typeface="Arial"/>
                <a:cs typeface="Arial"/>
              </a:defRPr>
            </a:pPr>
            <a:r>
              <a:rPr sz="1650">
                <a:solidFill>
                  <a:srgbClr val="163047"/>
                </a:solidFill>
                <a:latin typeface="Arial"/>
                <a:ea typeface="Arial"/>
                <a:cs typeface="Arial"/>
              </a:rPr>
              <a:t>17 → 64 → 64 → 32 → 1</a:t>
            </a:r>
          </a:p>
        </p:txBody>
      </p:sp>
      <p:sp>
        <p:nvSpPr>
          <p:cNvPr id="7" name="">
            <a:extLst xmlns:a="http://schemas.openxmlformats.org/drawingml/2006/main">
              <a:ext uri="{FF2B5EF4-FFF2-40B4-BE49-F238E27FC236}">
                <a16:creationId xmlns:a16="http://schemas.microsoft.com/office/drawing/2014/main" id="{B29F9746-6A0B-41F0-A750-C678A520EC0C}"/>
              </a:ext>
            </a:extLst>
          </p:cNvPr>
          <p:cNvSpPr>
            <a:spLocks xmlns:a="http://schemas.openxmlformats.org/drawingml/2006/main" noGrp="1"/>
          </p:cNvSpPr>
          <p:nvPr/>
        </p:nvSpPr>
        <p:spPr>
          <a:xfrm xmlns:a="http://schemas.openxmlformats.org/drawingml/2006/main">
            <a:off x="8191500" y="1485900"/>
            <a:ext cx="3429000" cy="838200"/>
          </a:xfrm>
          <a:prstGeom xmlns:a="http://schemas.openxmlformats.org/drawingml/2006/main" prst="rect">
            <a:avLst/>
          </a:prstGeom>
          <a:solidFill xmlns:a="http://schemas.openxmlformats.org/drawingml/2006/main">
            <a:srgbClr val="EAF3F7"/>
          </a:solidFill>
          <a:ln xmlns:a="http://schemas.openxmlformats.org/drawingml/2006/main" w="9525">
            <a:solidFill>
              <a:srgbClr val="20567B"/>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650">
                <a:solidFill>
                  <a:srgbClr val="163047"/>
                </a:solidFill>
                <a:latin typeface="Arial"/>
                <a:ea typeface="Arial"/>
                <a:cs typeface="Arial"/>
              </a:defRPr>
            </a:pPr>
            <a:r>
              <a:rPr sz="1650">
                <a:solidFill>
                  <a:srgbClr val="163047"/>
                </a:solidFill>
                <a:latin typeface="Arial"/>
                <a:ea typeface="Arial"/>
                <a:cs typeface="Arial"/>
              </a:rPr>
              <a:t>SOH u = Fφ(x,t)</a:t>
            </a:r>
          </a:p>
        </p:txBody>
      </p:sp>
      <p:sp>
        <p:nvSpPr>
          <p:cNvPr id="10" name="">
            <a:extLst xmlns:a="http://schemas.openxmlformats.org/drawingml/2006/main">
              <a:ext uri="{FF2B5EF4-FFF2-40B4-BE49-F238E27FC236}">
                <a16:creationId xmlns:a16="http://schemas.microsoft.com/office/drawing/2014/main" id="{9EF1ACFA-1802-4857-9C8F-918798D5BC50}"/>
              </a:ext>
            </a:extLst>
          </p:cNvPr>
          <p:cNvSpPr>
            <a:spLocks xmlns:a="http://schemas.openxmlformats.org/drawingml/2006/main" noGrp="1"/>
          </p:cNvSpPr>
          <p:nvPr/>
        </p:nvSpPr>
        <p:spPr>
          <a:xfrm xmlns:a="http://schemas.openxmlformats.org/drawingml/2006/main">
            <a:off x="523875" y="3067050"/>
            <a:ext cx="3810000" cy="1066800"/>
          </a:xfrm>
          <a:prstGeom xmlns:a="http://schemas.openxmlformats.org/drawingml/2006/main" prst="rect">
            <a:avLst/>
          </a:prstGeom>
          <a:solidFill xmlns:a="http://schemas.openxmlformats.org/drawingml/2006/main">
            <a:srgbClr val="EAF3F7"/>
          </a:solidFill>
          <a:ln xmlns:a="http://schemas.openxmlformats.org/drawingml/2006/main" w="9525">
            <a:solidFill>
              <a:srgbClr val="20567B"/>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650">
                <a:solidFill>
                  <a:srgbClr val="163047"/>
                </a:solidFill>
                <a:latin typeface="Arial"/>
                <a:ea typeface="Arial"/>
                <a:cs typeface="Arial"/>
              </a:defRPr>
            </a:pPr>
            <a:r>
              <a:rPr sz="1650">
                <a:solidFill>
                  <a:srgbClr val="163047"/>
                </a:solidFill>
                <a:latin typeface="Arial"/>
                <a:ea typeface="Arial"/>
                <a:cs typeface="Arial"/>
              </a:rPr>
              <a:t>Mạng tốc độ</a:t>
            </a:r>
          </a:p>
          <a:p xmlns:a="http://schemas.openxmlformats.org/drawingml/2006/main">
            <a:pPr algn="ctr">
              <a:defRPr sz="1650">
                <a:solidFill>
                  <a:srgbClr val="163047"/>
                </a:solidFill>
                <a:latin typeface="Arial"/>
                <a:ea typeface="Arial"/>
                <a:cs typeface="Arial"/>
              </a:defRPr>
            </a:pPr>
            <a:r>
              <a:rPr sz="1650">
                <a:solidFill>
                  <a:srgbClr val="163047"/>
                </a:solidFill>
                <a:latin typeface="Arial"/>
                <a:ea typeface="Arial"/>
                <a:cs typeface="Arial"/>
              </a:rPr>
              <a:t>k(x) = softplus(MLPθ(x))</a:t>
            </a:r>
          </a:p>
          <a:p xmlns:a="http://schemas.openxmlformats.org/drawingml/2006/main">
            <a:pPr algn="ctr">
              <a:defRPr sz="1650">
                <a:solidFill>
                  <a:srgbClr val="163047"/>
                </a:solidFill>
                <a:latin typeface="Arial"/>
                <a:ea typeface="Arial"/>
                <a:cs typeface="Arial"/>
              </a:defRPr>
            </a:pPr>
            <a:r>
              <a:rPr sz="1650">
                <a:solidFill>
                  <a:srgbClr val="163047"/>
                </a:solidFill>
                <a:latin typeface="Arial"/>
                <a:ea typeface="Arial"/>
                <a:cs typeface="Arial"/>
              </a:rPr>
              <a:t>16 → 32 → 32 → 1</a:t>
            </a:r>
          </a:p>
        </p:txBody>
      </p:sp>
      <p:sp>
        <p:nvSpPr>
          <p:cNvPr id="11" name="">
            <a:extLst xmlns:a="http://schemas.openxmlformats.org/drawingml/2006/main">
              <a:ext uri="{FF2B5EF4-FFF2-40B4-BE49-F238E27FC236}">
                <a16:creationId xmlns:a16="http://schemas.microsoft.com/office/drawing/2014/main" id="{E374A2F4-A2F8-4E2C-9A94-55D4883164DA}"/>
              </a:ext>
            </a:extLst>
          </p:cNvPr>
          <p:cNvSpPr>
            <a:spLocks xmlns:a="http://schemas.openxmlformats.org/drawingml/2006/main" noGrp="1"/>
          </p:cNvSpPr>
          <p:nvPr/>
        </p:nvSpPr>
        <p:spPr>
          <a:xfrm xmlns:a="http://schemas.openxmlformats.org/drawingml/2006/main">
            <a:off x="5238750" y="3067050"/>
            <a:ext cx="3381375" cy="1066800"/>
          </a:xfrm>
          <a:prstGeom xmlns:a="http://schemas.openxmlformats.org/drawingml/2006/main" prst="rect">
            <a:avLst/>
          </a:prstGeom>
          <a:solidFill xmlns:a="http://schemas.openxmlformats.org/drawingml/2006/main">
            <a:srgbClr val="EAF3F7"/>
          </a:solidFill>
          <a:ln xmlns:a="http://schemas.openxmlformats.org/drawingml/2006/main" w="9525">
            <a:solidFill>
              <a:srgbClr val="20567B"/>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650">
                <a:solidFill>
                  <a:srgbClr val="163047"/>
                </a:solidFill>
                <a:latin typeface="Arial"/>
                <a:ea typeface="Arial"/>
                <a:cs typeface="Arial"/>
              </a:defRPr>
            </a:pPr>
            <a:r>
              <a:rPr sz="1650">
                <a:solidFill>
                  <a:srgbClr val="163047"/>
                </a:solidFill>
                <a:latin typeface="Arial"/>
                <a:ea typeface="Arial"/>
                <a:cs typeface="Arial"/>
              </a:rPr>
              <a:t>Hệ số phụ thuộc SOH và T</a:t>
            </a:r>
          </a:p>
          <a:p xmlns:a="http://schemas.openxmlformats.org/drawingml/2006/main">
            <a:pPr algn="ctr">
              <a:defRPr sz="1650">
                <a:solidFill>
                  <a:srgbClr val="163047"/>
                </a:solidFill>
                <a:latin typeface="Arial"/>
                <a:ea typeface="Arial"/>
                <a:cs typeface="Arial"/>
              </a:defRPr>
            </a:pPr>
            <a:r>
              <a:rPr sz="1650">
                <a:solidFill>
                  <a:srgbClr val="163047"/>
                </a:solidFill>
                <a:latin typeface="Arial"/>
                <a:ea typeface="Arial"/>
                <a:cs typeface="Arial"/>
              </a:rPr>
              <a:t>g(u) × A(T)</a:t>
            </a:r>
          </a:p>
        </p:txBody>
      </p:sp>
      <p:sp>
        <p:nvSpPr>
          <p:cNvPr id="12" name="">
            <a:extLst xmlns:a="http://schemas.openxmlformats.org/drawingml/2006/main">
              <a:ext uri="{FF2B5EF4-FFF2-40B4-BE49-F238E27FC236}">
                <a16:creationId xmlns:a16="http://schemas.microsoft.com/office/drawing/2014/main" id="{3EDED488-FF02-48C9-ACAF-346E1798EA3B}"/>
              </a:ext>
            </a:extLst>
          </p:cNvPr>
          <p:cNvSpPr>
            <a:spLocks xmlns:a="http://schemas.openxmlformats.org/drawingml/2006/main" noGrp="1"/>
          </p:cNvSpPr>
          <p:nvPr/>
        </p:nvSpPr>
        <p:spPr>
          <a:xfrm xmlns:a="http://schemas.openxmlformats.org/drawingml/2006/main">
            <a:off x="9477375" y="3067050"/>
            <a:ext cx="2143125" cy="1066800"/>
          </a:xfrm>
          <a:prstGeom xmlns:a="http://schemas.openxmlformats.org/drawingml/2006/main" prst="rect">
            <a:avLst/>
          </a:prstGeom>
          <a:solidFill xmlns:a="http://schemas.openxmlformats.org/drawingml/2006/main">
            <a:srgbClr val="EAF3F7"/>
          </a:solidFill>
          <a:ln xmlns:a="http://schemas.openxmlformats.org/drawingml/2006/main" w="9525">
            <a:solidFill>
              <a:srgbClr val="20567B"/>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650">
                <a:solidFill>
                  <a:srgbClr val="163047"/>
                </a:solidFill>
                <a:latin typeface="Arial"/>
                <a:ea typeface="Arial"/>
                <a:cs typeface="Arial"/>
              </a:defRPr>
            </a:pPr>
            <a:r>
              <a:rPr sz="1650">
                <a:solidFill>
                  <a:srgbClr val="163047"/>
                </a:solidFill>
                <a:latin typeface="Arial"/>
                <a:ea typeface="Arial"/>
                <a:cs typeface="Arial"/>
              </a:rPr>
              <a:t>r = k(x) g(u) A(T)</a:t>
            </a:r>
          </a:p>
          <a:p xmlns:a="http://schemas.openxmlformats.org/drawingml/2006/main">
            <a:pPr algn="ctr">
              <a:defRPr sz="1650">
                <a:solidFill>
                  <a:srgbClr val="163047"/>
                </a:solidFill>
                <a:latin typeface="Arial"/>
                <a:ea typeface="Arial"/>
                <a:cs typeface="Arial"/>
              </a:defRPr>
            </a:pPr>
            <a:r>
              <a:rPr sz="1650">
                <a:solidFill>
                  <a:srgbClr val="163047"/>
                </a:solidFill>
                <a:latin typeface="Arial"/>
                <a:ea typeface="Arial"/>
                <a:cs typeface="Arial"/>
              </a:rPr>
              <a:t>≥ 0</a:t>
            </a:r>
          </a:p>
        </p:txBody>
      </p:sp>
      <p:sp>
        <p:nvSpPr>
          <p:cNvPr id="17" name="">
            <a:extLst xmlns:a="http://schemas.openxmlformats.org/drawingml/2006/main">
              <a:ext uri="{FF2B5EF4-FFF2-40B4-BE49-F238E27FC236}">
                <a16:creationId xmlns:a16="http://schemas.microsoft.com/office/drawing/2014/main" id="{5CB86DD4-5CF0-4E06-8F11-8DCBEBE49E26}"/>
              </a:ext>
            </a:extLst>
          </p:cNvPr>
          <p:cNvSpPr>
            <a:spLocks xmlns:a="http://schemas.openxmlformats.org/drawingml/2006/main" noGrp="1"/>
          </p:cNvSpPr>
          <p:nvPr/>
        </p:nvSpPr>
        <p:spPr>
          <a:xfrm xmlns:a="http://schemas.openxmlformats.org/drawingml/2006/main">
            <a:off x="3476625" y="4933950"/>
            <a:ext cx="8143875" cy="809625"/>
          </a:xfrm>
          <a:prstGeom xmlns:a="http://schemas.openxmlformats.org/drawingml/2006/main" prst="rect">
            <a:avLst/>
          </a:prstGeom>
          <a:solidFill xmlns:a="http://schemas.openxmlformats.org/drawingml/2006/main">
            <a:srgbClr val="EAF3F7"/>
          </a:solidFill>
          <a:ln xmlns:a="http://schemas.openxmlformats.org/drawingml/2006/main" w="9525">
            <a:solidFill>
              <a:srgbClr val="20567B"/>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650">
                <a:solidFill>
                  <a:srgbClr val="163047"/>
                </a:solidFill>
                <a:latin typeface="Arial"/>
                <a:ea typeface="Arial"/>
                <a:cs typeface="Arial"/>
              </a:defRPr>
            </a:pPr>
            <a:r>
              <a:rPr sz="1650">
                <a:solidFill>
                  <a:srgbClr val="163047"/>
                </a:solidFill>
                <a:latin typeface="Arial"/>
                <a:ea typeface="Arial"/>
                <a:cs typeface="Arial"/>
              </a:rPr>
              <a:t>Loss vật lý nối dự đoán u với tốc độ r</a:t>
            </a:r>
          </a:p>
          <a:p xmlns:a="http://schemas.openxmlformats.org/drawingml/2006/main">
            <a:pPr algn="ctr">
              <a:defRPr sz="1650">
                <a:solidFill>
                  <a:srgbClr val="163047"/>
                </a:solidFill>
                <a:latin typeface="Arial"/>
                <a:ea typeface="Arial"/>
                <a:cs typeface="Arial"/>
              </a:defRPr>
            </a:pPr>
            <a:r>
              <a:rPr sz="1650">
                <a:solidFill>
                  <a:srgbClr val="163047"/>
                </a:solidFill>
                <a:latin typeface="Arial"/>
                <a:ea typeface="Arial"/>
                <a:cs typeface="Arial"/>
              </a:rPr>
              <a:t>Lode + Lmono + Lrange</a:t>
            </a:r>
          </a:p>
        </p:txBody>
      </p:sp>
      <p:sp>
        <p:nvSpPr>
          <p:cNvPr id="19" name="">
            <a:extLst xmlns:a="http://schemas.openxmlformats.org/drawingml/2006/main">
              <a:ext uri="{FF2B5EF4-FFF2-40B4-BE49-F238E27FC236}">
                <a16:creationId xmlns:a16="http://schemas.microsoft.com/office/drawing/2014/main" id="{7329BB5B-0526-4BE7-B1CB-8E9A46B223F0}"/>
              </a:ext>
            </a:extLst>
          </p:cNvPr>
          <p:cNvSpPr>
            <a:spLocks xmlns:a="http://schemas.openxmlformats.org/drawingml/2006/main" noGrp="1"/>
          </p:cNvSpPr>
          <p:nvPr/>
        </p:nvSpPr>
        <p:spPr>
          <a:xfrm xmlns:a="http://schemas.openxmlformats.org/drawingml/2006/main">
            <a:off x="619125" y="5067300"/>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1">
                <a:solidFill>
                  <a:srgbClr val="20567B"/>
                </a:solidFill>
                <a:latin typeface="Arial"/>
                <a:ea typeface="Arial"/>
                <a:cs typeface="Arial"/>
              </a:defRPr>
            </a:pPr>
            <a:r>
              <a:rPr sz="1800" b="1">
                <a:solidFill>
                  <a:srgbClr val="20567B"/>
                </a:solidFill>
                <a:latin typeface="Arial"/>
                <a:ea typeface="Arial"/>
                <a:cs typeface="Arial"/>
              </a:rPr>
              <a:t>Suy luận chỉ dùng Fφ</a:t>
            </a:r>
          </a:p>
        </p:txBody>
      </p:sp>
      <p:sp>
        <p:nvSpPr>
          <p:cNvPr id="20" name="">
            <a:extLst xmlns:a="http://schemas.openxmlformats.org/drawingml/2006/main">
              <a:ext uri="{FF2B5EF4-FFF2-40B4-BE49-F238E27FC236}">
                <a16:creationId xmlns:a16="http://schemas.microsoft.com/office/drawing/2014/main" id="{C3E9A90E-F5D3-4D5E-9B3F-83B11A26FC66}"/>
              </a:ext>
            </a:extLst>
          </p:cNvPr>
          <p:cNvSpPr>
            <a:spLocks xmlns:a="http://schemas.openxmlformats.org/drawingml/2006/main" noGrp="1"/>
          </p:cNvSpPr>
          <p:nvPr/>
        </p:nvSpPr>
        <p:spPr>
          <a:xfrm xmlns:a="http://schemas.openxmlformats.org/drawingml/2006/main">
            <a:off x="619125" y="6105525"/>
            <a:ext cx="1071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526778"/>
                </a:solidFill>
                <a:latin typeface="Arial"/>
                <a:ea typeface="Arial"/>
                <a:cs typeface="Arial"/>
              </a:defRPr>
            </a:pPr>
            <a:r>
              <a:rPr sz="1275" b="0">
                <a:solidFill>
                  <a:srgbClr val="526778"/>
                </a:solidFill>
                <a:latin typeface="Arial"/>
                <a:ea typeface="Arial"/>
                <a:cs typeface="Arial"/>
              </a:rPr>
              <a:t>Sơ đồ E1. Cấu hình TUNED thay các lớp ẩn mạng nghiệm bằng 128 → 128 → 64.</a:t>
            </a:r>
          </a:p>
        </p:txBody>
      </p:sp>
    </p:spTree>
    <p:extLst>
      <p:ext uri="{BB962C8B-B14F-4D97-AF65-F5344CB8AC3E}">
        <p14:creationId xmlns:p14="http://schemas.microsoft.com/office/powerpoint/2010/main" val="169346572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0" name=""/>
          <p:cNvCxnSpPr>
            <a:stCxn xmlns:a="http://schemas.openxmlformats.org/drawingml/2006/main" id="12" idx="3"/>
            <a:endCxn xmlns:a="http://schemas.openxmlformats.org/drawingml/2006/main" id="15" idx="1"/>
          </p:cNvCxnSpPr>
          <p:nvPr/>
        </p:nvCxnSpPr>
        <p:spPr>
          <a:xfrm xmlns:a="http://schemas.openxmlformats.org/drawingml/2006/main" flipV="1">
            <a:off x="8667750" y="3128963"/>
            <a:ext cx="952500" cy="928688"/>
          </a:xfrm>
          <a:prstGeom xmlns:a="http://schemas.openxmlformats.org/drawingml/2006/main" prst="bentConnector3">
            <a:avLst>
              <a:gd name="adj1" fmla="val 50000"/>
            </a:avLst>
          </a:prstGeom>
          <a:ln xmlns:a="http://schemas.openxmlformats.org/drawingml/2006/main" w="16193">
            <a:solidFill>
              <a:srgbClr val="20567B"/>
            </a:solidFill>
            <a:tailEnd type="arrow" w="med" len="med"/>
          </a:ln>
        </p:spPr>
      </p:cxnSp>
      <p:cxnSp>
        <p:nvCxnSpPr>
          <p:cNvPr id="21" name=""/>
          <p:cNvCxnSpPr>
            <a:stCxn xmlns:a="http://schemas.openxmlformats.org/drawingml/2006/main" id="7" idx="3"/>
            <a:endCxn xmlns:a="http://schemas.openxmlformats.org/drawingml/2006/main" id="15" idx="1"/>
          </p:cNvCxnSpPr>
          <p:nvPr/>
        </p:nvCxnSpPr>
        <p:spPr>
          <a:xfrm xmlns:a="http://schemas.openxmlformats.org/drawingml/2006/main">
            <a:off x="8667750" y="2209800"/>
            <a:ext cx="952500" cy="919163"/>
          </a:xfrm>
          <a:prstGeom xmlns:a="http://schemas.openxmlformats.org/drawingml/2006/main" prst="bentConnector3">
            <a:avLst>
              <a:gd name="adj1" fmla="val 50000"/>
            </a:avLst>
          </a:prstGeom>
          <a:ln xmlns:a="http://schemas.openxmlformats.org/drawingml/2006/main" w="16193">
            <a:solidFill>
              <a:srgbClr val="20567B"/>
            </a:solidFill>
            <a:tailEnd type="arrow" w="med" len="med"/>
          </a:ln>
        </p:spPr>
      </p:cxnSp>
      <p:cxnSp>
        <p:nvCxnSpPr>
          <p:cNvPr id="22" name=""/>
          <p:cNvCxnSpPr>
            <a:stCxn xmlns:a="http://schemas.openxmlformats.org/drawingml/2006/main" id="11" idx="3"/>
            <a:endCxn xmlns:a="http://schemas.openxmlformats.org/drawingml/2006/main" id="12" idx="1"/>
          </p:cNvCxnSpPr>
          <p:nvPr/>
        </p:nvCxnSpPr>
        <p:spPr>
          <a:xfrm xmlns:a="http://schemas.openxmlformats.org/drawingml/2006/main">
            <a:off x="5667375" y="4057650"/>
            <a:ext cx="523875" cy="0"/>
          </a:xfrm>
          <a:prstGeom xmlns:a="http://schemas.openxmlformats.org/drawingml/2006/main" prst="straightConnector1">
            <a:avLst/>
          </a:prstGeom>
          <a:ln xmlns:a="http://schemas.openxmlformats.org/drawingml/2006/main" w="16193">
            <a:solidFill>
              <a:srgbClr val="20567B"/>
            </a:solidFill>
            <a:tailEnd type="arrow" w="med" len="med"/>
          </a:ln>
        </p:spPr>
      </p:cxnSp>
      <p:cxnSp>
        <p:nvCxnSpPr>
          <p:cNvPr id="23" name=""/>
          <p:cNvCxnSpPr>
            <a:stCxn xmlns:a="http://schemas.openxmlformats.org/drawingml/2006/main" id="10" idx="3"/>
            <a:endCxn xmlns:a="http://schemas.openxmlformats.org/drawingml/2006/main" id="11" idx="1"/>
          </p:cNvCxnSpPr>
          <p:nvPr/>
        </p:nvCxnSpPr>
        <p:spPr>
          <a:xfrm xmlns:a="http://schemas.openxmlformats.org/drawingml/2006/main">
            <a:off x="2714625" y="4057650"/>
            <a:ext cx="523875" cy="0"/>
          </a:xfrm>
          <a:prstGeom xmlns:a="http://schemas.openxmlformats.org/drawingml/2006/main" prst="straightConnector1">
            <a:avLst/>
          </a:prstGeom>
          <a:ln xmlns:a="http://schemas.openxmlformats.org/drawingml/2006/main" w="16193">
            <a:solidFill>
              <a:srgbClr val="20567B"/>
            </a:solidFill>
            <a:tailEnd type="arrow" w="med" len="med"/>
          </a:ln>
        </p:spPr>
      </p:cxnSp>
      <p:cxnSp>
        <p:nvCxnSpPr>
          <p:cNvPr id="24" name=""/>
          <p:cNvCxnSpPr>
            <a:stCxn xmlns:a="http://schemas.openxmlformats.org/drawingml/2006/main" id="6" idx="3"/>
            <a:endCxn xmlns:a="http://schemas.openxmlformats.org/drawingml/2006/main" id="7" idx="1"/>
          </p:cNvCxnSpPr>
          <p:nvPr/>
        </p:nvCxnSpPr>
        <p:spPr>
          <a:xfrm xmlns:a="http://schemas.openxmlformats.org/drawingml/2006/main">
            <a:off x="5667375" y="2209800"/>
            <a:ext cx="523875" cy="0"/>
          </a:xfrm>
          <a:prstGeom xmlns:a="http://schemas.openxmlformats.org/drawingml/2006/main" prst="straightConnector1">
            <a:avLst/>
          </a:prstGeom>
          <a:ln xmlns:a="http://schemas.openxmlformats.org/drawingml/2006/main" w="16193">
            <a:solidFill>
              <a:srgbClr val="20567B"/>
            </a:solidFill>
            <a:tailEnd type="arrow" w="med" len="med"/>
          </a:ln>
        </p:spPr>
      </p:cxnSp>
      <p:cxnSp>
        <p:nvCxnSpPr>
          <p:cNvPr id="25" name=""/>
          <p:cNvCxnSpPr>
            <a:stCxn xmlns:a="http://schemas.openxmlformats.org/drawingml/2006/main" id="5" idx="3"/>
            <a:endCxn xmlns:a="http://schemas.openxmlformats.org/drawingml/2006/main" id="6" idx="1"/>
          </p:cNvCxnSpPr>
          <p:nvPr/>
        </p:nvCxnSpPr>
        <p:spPr>
          <a:xfrm xmlns:a="http://schemas.openxmlformats.org/drawingml/2006/main">
            <a:off x="2714625" y="2209800"/>
            <a:ext cx="523875" cy="0"/>
          </a:xfrm>
          <a:prstGeom xmlns:a="http://schemas.openxmlformats.org/drawingml/2006/main" prst="straightConnector1">
            <a:avLst/>
          </a:prstGeom>
          <a:ln xmlns:a="http://schemas.openxmlformats.org/drawingml/2006/main" w="16193">
            <a:solidFill>
              <a:srgbClr val="20567B"/>
            </a:solidFill>
            <a:tailEnd type="arrow" w="med" len="med"/>
          </a:ln>
        </p:spPr>
      </p:cxnSp>
      <p:sp>
        <p:nvSpPr>
          <p:cNvPr id="26" name="">
            <a:extLst xmlns:a="http://schemas.openxmlformats.org/drawingml/2006/main">
              <a:ext uri="{FF2B5EF4-FFF2-40B4-BE49-F238E27FC236}">
                <a16:creationId xmlns:a16="http://schemas.microsoft.com/office/drawing/2014/main" id="{2EA10306-DB0F-4D2D-8DD3-5635699D09D4}"/>
              </a:ext>
            </a:extLst>
          </p:cNvPr>
          <p:cNvSpPr>
            <a:spLocks xmlns:a="http://schemas.openxmlformats.org/drawingml/2006/main" noGrp="1"/>
          </p:cNvSpPr>
          <p:nvPr/>
        </p:nvSpPr>
        <p:spPr>
          <a:xfrm xmlns:a="http://schemas.openxmlformats.org/drawingml/2006/main">
            <a:off x="0" y="0"/>
            <a:ext cx="12192000" cy="952500"/>
          </a:xfrm>
          <a:prstGeom xmlns:a="http://schemas.openxmlformats.org/drawingml/2006/main" prst="rect">
            <a:avLst/>
          </a:prstGeom>
          <a:solidFill xmlns:a="http://schemas.openxmlformats.org/drawingml/2006/main">
            <a:srgbClr val="20567B"/>
          </a:solidFill>
          <a:ln xmlns:a="http://schemas.openxmlformats.org/drawingml/2006/main" w="9525">
            <a:solidFill>
              <a:srgbClr val="20567B"/>
            </a:solidFill>
          </a:ln>
        </p:spPr>
      </p:sp>
      <p:sp>
        <p:nvSpPr>
          <p:cNvPr id="2" name="">
            <a:extLst xmlns:a="http://schemas.openxmlformats.org/drawingml/2006/main">
              <a:ext uri="{FF2B5EF4-FFF2-40B4-BE49-F238E27FC236}">
                <a16:creationId xmlns:a16="http://schemas.microsoft.com/office/drawing/2014/main" id="{FF35E35C-7D4F-43A4-8031-802AF42D8A75}"/>
              </a:ext>
            </a:extLst>
          </p:cNvPr>
          <p:cNvSpPr>
            <a:spLocks xmlns:a="http://schemas.openxmlformats.org/drawingml/2006/main" noGrp="1"/>
          </p:cNvSpPr>
          <p:nvPr/>
        </p:nvSpPr>
        <p:spPr>
          <a:xfrm xmlns:a="http://schemas.openxmlformats.org/drawingml/2006/main">
            <a:off x="542925" y="66675"/>
            <a:ext cx="11239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Huấn luyện bán giám sát với loss không nhãn</a:t>
            </a:r>
          </a:p>
        </p:txBody>
      </p:sp>
      <p:sp>
        <p:nvSpPr>
          <p:cNvPr id="3" name="">
            <a:extLst xmlns:a="http://schemas.openxmlformats.org/drawingml/2006/main">
              <a:ext uri="{FF2B5EF4-FFF2-40B4-BE49-F238E27FC236}">
                <a16:creationId xmlns:a16="http://schemas.microsoft.com/office/drawing/2014/main" id="{66B7523D-2912-45AF-9049-7932E757AAB9}"/>
              </a:ext>
            </a:extLst>
          </p:cNvPr>
          <p:cNvSpPr>
            <a:spLocks xmlns:a="http://schemas.openxmlformats.org/drawingml/2006/main" noGrp="1"/>
          </p:cNvSpPr>
          <p:nvPr/>
        </p:nvSpPr>
        <p:spPr>
          <a:xfrm xmlns:a="http://schemas.openxmlformats.org/drawingml/2006/main">
            <a:off x="11144250" y="6400800"/>
            <a:ext cx="333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0:p xmlns:ns0="http://schemas.openxmlformats.org/drawingml/2006/main">
            <ns0:pPr algn="l">
              <ns0:defRPr sz="1200" b="1">
                <ns0:solidFill>
                  <ns0:srgbClr val="20567B"/>
                </ns0:solidFill>
                <ns0:latin typeface="Arial"/>
                <ns0:ea typeface="Arial"/>
                <ns0:cs typeface="Arial"/>
              </ns0:defRPr>
            </ns0:pPr>
            <ns0:r>
              <ns0:rPr sz="1200" b="1">
                <ns0:solidFill>
                  <ns0:srgbClr val="20567B"/>
                </ns0:solidFill>
                <ns0:latin typeface="Arial"/>
                <ns0:ea typeface="Arial"/>
                <ns0:cs typeface="Arial"/>
              </ns0:rPr>
              <ns0:t>08</ns0:t>
            </ns0:r>
          </ns0: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a7cdcbe13b4849d3"/>
          <a:stretch xmlns:a="http://schemas.openxmlformats.org/drawingml/2006/main"/>
        </p:blipFill>
        <p:spPr>
          <a:xfrm xmlns:a="http://schemas.openxmlformats.org/drawingml/2006/main">
            <a:off x="11696700" y="6384974"/>
            <a:ext cx="285750" cy="26025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EA4995E-C21D-4168-AAB8-A37B8D7E2702}"/>
              </a:ext>
            </a:extLst>
          </p:cNvPr>
          <p:cNvSpPr>
            <a:spLocks xmlns:a="http://schemas.openxmlformats.org/drawingml/2006/main" noGrp="1"/>
          </p:cNvSpPr>
          <p:nvPr/>
        </p:nvSpPr>
        <p:spPr>
          <a:xfrm xmlns:a="http://schemas.openxmlformats.org/drawingml/2006/main">
            <a:off x="523875" y="1733550"/>
            <a:ext cx="2190750" cy="952500"/>
          </a:xfrm>
          <a:prstGeom xmlns:a="http://schemas.openxmlformats.org/drawingml/2006/main" prst="rect">
            <a:avLst/>
          </a:prstGeom>
          <a:solidFill xmlns:a="http://schemas.openxmlformats.org/drawingml/2006/main">
            <a:srgbClr val="EAF3F7"/>
          </a:solidFill>
          <a:ln xmlns:a="http://schemas.openxmlformats.org/drawingml/2006/main" w="9525">
            <a:solidFill>
              <a:srgbClr val="20567B"/>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650">
                <a:solidFill>
                  <a:srgbClr val="163047"/>
                </a:solidFill>
                <a:latin typeface="Arial"/>
                <a:ea typeface="Arial"/>
                <a:cs typeface="Arial"/>
              </a:defRPr>
            </a:pPr>
            <a:r>
              <a:rPr sz="1650">
                <a:solidFill>
                  <a:srgbClr val="163047"/>
                </a:solidFill>
                <a:latin typeface="Arial"/>
                <a:ea typeface="Arial"/>
                <a:cs typeface="Arial"/>
              </a:rPr>
              <a:t>Cell có nhãn</a:t>
            </a:r>
          </a:p>
          <a:p xmlns:a="http://schemas.openxmlformats.org/drawingml/2006/main">
            <a:pPr algn="ctr">
              <a:defRPr sz="1650">
                <a:solidFill>
                  <a:srgbClr val="163047"/>
                </a:solidFill>
                <a:latin typeface="Arial"/>
                <a:ea typeface="Arial"/>
                <a:cs typeface="Arial"/>
              </a:defRPr>
            </a:pPr>
            <a:r>
              <a:rPr sz="1650">
                <a:solidFill>
                  <a:srgbClr val="163047"/>
                </a:solidFill>
                <a:latin typeface="Arial"/>
                <a:ea typeface="Arial"/>
                <a:cs typeface="Arial"/>
              </a:rPr>
              <a:t>(x, t, y)</a:t>
            </a:r>
          </a:p>
        </p:txBody>
      </p:sp>
      <p:sp>
        <p:nvSpPr>
          <p:cNvPr id="6" name="">
            <a:extLst xmlns:a="http://schemas.openxmlformats.org/drawingml/2006/main">
              <a:ext uri="{FF2B5EF4-FFF2-40B4-BE49-F238E27FC236}">
                <a16:creationId xmlns:a16="http://schemas.microsoft.com/office/drawing/2014/main" id="{53CBAD4D-4A2F-4F8F-86A5-3A48DFAC78C1}"/>
              </a:ext>
            </a:extLst>
          </p:cNvPr>
          <p:cNvSpPr>
            <a:spLocks xmlns:a="http://schemas.openxmlformats.org/drawingml/2006/main" noGrp="1"/>
          </p:cNvSpPr>
          <p:nvPr/>
        </p:nvSpPr>
        <p:spPr>
          <a:xfrm xmlns:a="http://schemas.openxmlformats.org/drawingml/2006/main">
            <a:off x="3238500" y="1733550"/>
            <a:ext cx="2428875" cy="952500"/>
          </a:xfrm>
          <a:prstGeom xmlns:a="http://schemas.openxmlformats.org/drawingml/2006/main" prst="rect">
            <a:avLst/>
          </a:prstGeom>
          <a:solidFill xmlns:a="http://schemas.openxmlformats.org/drawingml/2006/main">
            <a:srgbClr val="EAF3F7"/>
          </a:solidFill>
          <a:ln xmlns:a="http://schemas.openxmlformats.org/drawingml/2006/main" w="9525">
            <a:solidFill>
              <a:srgbClr val="20567B"/>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650">
                <a:solidFill>
                  <a:srgbClr val="163047"/>
                </a:solidFill>
                <a:latin typeface="Arial"/>
                <a:ea typeface="Arial"/>
                <a:cs typeface="Arial"/>
              </a:defRPr>
            </a:pPr>
            <a:r>
              <a:rPr sz="1650">
                <a:solidFill>
                  <a:srgbClr val="163047"/>
                </a:solidFill>
                <a:latin typeface="Arial"/>
                <a:ea typeface="Arial"/>
                <a:cs typeface="Arial"/>
              </a:rPr>
              <a:t>Fφ dùng chung</a:t>
            </a:r>
          </a:p>
          <a:p xmlns:a="http://schemas.openxmlformats.org/drawingml/2006/main">
            <a:pPr algn="ctr">
              <a:defRPr sz="1650">
                <a:solidFill>
                  <a:srgbClr val="163047"/>
                </a:solidFill>
                <a:latin typeface="Arial"/>
                <a:ea typeface="Arial"/>
                <a:cs typeface="Arial"/>
              </a:defRPr>
            </a:pPr>
            <a:r>
              <a:rPr sz="1650">
                <a:solidFill>
                  <a:srgbClr val="163047"/>
                </a:solidFill>
                <a:latin typeface="Arial"/>
                <a:ea typeface="Arial"/>
                <a:cs typeface="Arial"/>
              </a:rPr>
              <a:t>Dự đoán u</a:t>
            </a:r>
          </a:p>
        </p:txBody>
      </p:sp>
      <p:sp>
        <p:nvSpPr>
          <p:cNvPr id="7" name="">
            <a:extLst xmlns:a="http://schemas.openxmlformats.org/drawingml/2006/main">
              <a:ext uri="{FF2B5EF4-FFF2-40B4-BE49-F238E27FC236}">
                <a16:creationId xmlns:a16="http://schemas.microsoft.com/office/drawing/2014/main" id="{F7F37C54-9FDE-40D4-8082-A4F0DA83B1AF}"/>
              </a:ext>
            </a:extLst>
          </p:cNvPr>
          <p:cNvSpPr>
            <a:spLocks xmlns:a="http://schemas.openxmlformats.org/drawingml/2006/main" noGrp="1"/>
          </p:cNvSpPr>
          <p:nvPr/>
        </p:nvSpPr>
        <p:spPr>
          <a:xfrm xmlns:a="http://schemas.openxmlformats.org/drawingml/2006/main">
            <a:off x="6191250" y="1733550"/>
            <a:ext cx="2476500" cy="952500"/>
          </a:xfrm>
          <a:prstGeom xmlns:a="http://schemas.openxmlformats.org/drawingml/2006/main" prst="rect">
            <a:avLst/>
          </a:prstGeom>
          <a:solidFill xmlns:a="http://schemas.openxmlformats.org/drawingml/2006/main">
            <a:srgbClr val="EAF3F7"/>
          </a:solidFill>
          <a:ln xmlns:a="http://schemas.openxmlformats.org/drawingml/2006/main" w="9525">
            <a:solidFill>
              <a:srgbClr val="20567B"/>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650">
                <a:solidFill>
                  <a:srgbClr val="163047"/>
                </a:solidFill>
                <a:latin typeface="Arial"/>
                <a:ea typeface="Arial"/>
                <a:cs typeface="Arial"/>
              </a:defRPr>
            </a:pPr>
            <a:r>
              <a:rPr sz="1650">
                <a:solidFill>
                  <a:srgbClr val="163047"/>
                </a:solidFill>
                <a:latin typeface="Arial"/>
                <a:ea typeface="Arial"/>
                <a:cs typeface="Arial"/>
              </a:rPr>
              <a:t>Ldata</a:t>
            </a:r>
          </a:p>
          <a:p xmlns:a="http://schemas.openxmlformats.org/drawingml/2006/main">
            <a:pPr algn="ctr">
              <a:defRPr sz="1650">
                <a:solidFill>
                  <a:srgbClr val="163047"/>
                </a:solidFill>
                <a:latin typeface="Arial"/>
                <a:ea typeface="Arial"/>
                <a:cs typeface="Arial"/>
              </a:defRPr>
            </a:pPr>
            <a:r>
              <a:rPr sz="1650">
                <a:solidFill>
                  <a:srgbClr val="163047"/>
                </a:solidFill>
                <a:latin typeface="Arial"/>
                <a:ea typeface="Arial"/>
                <a:cs typeface="Arial"/>
              </a:rPr>
              <a:t>MSE(u, y)</a:t>
            </a:r>
          </a:p>
        </p:txBody>
      </p:sp>
      <p:sp>
        <p:nvSpPr>
          <p:cNvPr id="10" name="">
            <a:extLst xmlns:a="http://schemas.openxmlformats.org/drawingml/2006/main">
              <a:ext uri="{FF2B5EF4-FFF2-40B4-BE49-F238E27FC236}">
                <a16:creationId xmlns:a16="http://schemas.microsoft.com/office/drawing/2014/main" id="{52EA0493-B497-4611-87DB-2BF05B00E213}"/>
              </a:ext>
            </a:extLst>
          </p:cNvPr>
          <p:cNvSpPr>
            <a:spLocks xmlns:a="http://schemas.openxmlformats.org/drawingml/2006/main" noGrp="1"/>
          </p:cNvSpPr>
          <p:nvPr/>
        </p:nvSpPr>
        <p:spPr>
          <a:xfrm xmlns:a="http://schemas.openxmlformats.org/drawingml/2006/main">
            <a:off x="523875" y="3581400"/>
            <a:ext cx="2190750" cy="952500"/>
          </a:xfrm>
          <a:prstGeom xmlns:a="http://schemas.openxmlformats.org/drawingml/2006/main" prst="rect">
            <a:avLst/>
          </a:prstGeom>
          <a:solidFill xmlns:a="http://schemas.openxmlformats.org/drawingml/2006/main">
            <a:srgbClr val="EEF5EF"/>
          </a:solidFill>
          <a:ln xmlns:a="http://schemas.openxmlformats.org/drawingml/2006/main" w="9525">
            <a:solidFill>
              <a:srgbClr val="20567B"/>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650">
                <a:solidFill>
                  <a:srgbClr val="163047"/>
                </a:solidFill>
                <a:latin typeface="Arial"/>
                <a:ea typeface="Arial"/>
                <a:cs typeface="Arial"/>
              </a:defRPr>
            </a:pPr>
            <a:r>
              <a:rPr sz="1650">
                <a:solidFill>
                  <a:srgbClr val="163047"/>
                </a:solidFill>
                <a:latin typeface="Arial"/>
                <a:ea typeface="Arial"/>
                <a:cs typeface="Arial"/>
              </a:rPr>
              <a:t>Mọi cell train</a:t>
            </a:r>
          </a:p>
          <a:p xmlns:a="http://schemas.openxmlformats.org/drawingml/2006/main">
            <a:pPr algn="ctr">
              <a:defRPr sz="1650">
                <a:solidFill>
                  <a:srgbClr val="163047"/>
                </a:solidFill>
                <a:latin typeface="Arial"/>
                <a:ea typeface="Arial"/>
                <a:cs typeface="Arial"/>
              </a:defRPr>
            </a:pPr>
            <a:r>
              <a:rPr sz="1650">
                <a:solidFill>
                  <a:srgbClr val="163047"/>
                </a:solidFill>
                <a:latin typeface="Arial"/>
                <a:ea typeface="Arial"/>
                <a:cs typeface="Arial"/>
              </a:rPr>
              <a:t>Cặp (N₁, N₂)</a:t>
            </a:r>
          </a:p>
        </p:txBody>
      </p:sp>
      <p:sp>
        <p:nvSpPr>
          <p:cNvPr id="11" name="">
            <a:extLst xmlns:a="http://schemas.openxmlformats.org/drawingml/2006/main">
              <a:ext uri="{FF2B5EF4-FFF2-40B4-BE49-F238E27FC236}">
                <a16:creationId xmlns:a16="http://schemas.microsoft.com/office/drawing/2014/main" id="{E388CBB5-8D27-4F3E-9770-8EB6EB71CDED}"/>
              </a:ext>
            </a:extLst>
          </p:cNvPr>
          <p:cNvSpPr>
            <a:spLocks xmlns:a="http://schemas.openxmlformats.org/drawingml/2006/main" noGrp="1"/>
          </p:cNvSpPr>
          <p:nvPr/>
        </p:nvSpPr>
        <p:spPr>
          <a:xfrm xmlns:a="http://schemas.openxmlformats.org/drawingml/2006/main">
            <a:off x="3238500" y="3581400"/>
            <a:ext cx="2428875" cy="952500"/>
          </a:xfrm>
          <a:prstGeom xmlns:a="http://schemas.openxmlformats.org/drawingml/2006/main" prst="rect">
            <a:avLst/>
          </a:prstGeom>
          <a:solidFill xmlns:a="http://schemas.openxmlformats.org/drawingml/2006/main">
            <a:srgbClr val="EEF5EF"/>
          </a:solidFill>
          <a:ln xmlns:a="http://schemas.openxmlformats.org/drawingml/2006/main" w="9525">
            <a:solidFill>
              <a:srgbClr val="20567B"/>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650">
                <a:solidFill>
                  <a:srgbClr val="163047"/>
                </a:solidFill>
                <a:latin typeface="Arial"/>
                <a:ea typeface="Arial"/>
                <a:cs typeface="Arial"/>
              </a:defRPr>
            </a:pPr>
            <a:r>
              <a:rPr sz="1650">
                <a:solidFill>
                  <a:srgbClr val="163047"/>
                </a:solidFill>
                <a:latin typeface="Arial"/>
                <a:ea typeface="Arial"/>
                <a:cs typeface="Arial"/>
              </a:rPr>
              <a:t>Fφ dùng chung</a:t>
            </a:r>
          </a:p>
          <a:p xmlns:a="http://schemas.openxmlformats.org/drawingml/2006/main">
            <a:pPr algn="ctr">
              <a:defRPr sz="1650">
                <a:solidFill>
                  <a:srgbClr val="163047"/>
                </a:solidFill>
                <a:latin typeface="Arial"/>
                <a:ea typeface="Arial"/>
                <a:cs typeface="Arial"/>
              </a:defRPr>
            </a:pPr>
            <a:r>
              <a:rPr sz="1650">
                <a:solidFill>
                  <a:srgbClr val="163047"/>
                </a:solidFill>
                <a:latin typeface="Arial"/>
                <a:ea typeface="Arial"/>
                <a:cs typeface="Arial"/>
              </a:rPr>
              <a:t>u₁ và u₂</a:t>
            </a:r>
          </a:p>
        </p:txBody>
      </p:sp>
      <p:sp>
        <p:nvSpPr>
          <p:cNvPr id="12" name="">
            <a:extLst xmlns:a="http://schemas.openxmlformats.org/drawingml/2006/main">
              <a:ext uri="{FF2B5EF4-FFF2-40B4-BE49-F238E27FC236}">
                <a16:creationId xmlns:a16="http://schemas.microsoft.com/office/drawing/2014/main" id="{D076A0E8-EEED-4EFF-967B-05817B7EE0CE}"/>
              </a:ext>
            </a:extLst>
          </p:cNvPr>
          <p:cNvSpPr>
            <a:spLocks xmlns:a="http://schemas.openxmlformats.org/drawingml/2006/main" noGrp="1"/>
          </p:cNvSpPr>
          <p:nvPr/>
        </p:nvSpPr>
        <p:spPr>
          <a:xfrm xmlns:a="http://schemas.openxmlformats.org/drawingml/2006/main">
            <a:off x="6191250" y="3581400"/>
            <a:ext cx="2476500" cy="952500"/>
          </a:xfrm>
          <a:prstGeom xmlns:a="http://schemas.openxmlformats.org/drawingml/2006/main" prst="rect">
            <a:avLst/>
          </a:prstGeom>
          <a:solidFill xmlns:a="http://schemas.openxmlformats.org/drawingml/2006/main">
            <a:srgbClr val="EEF5EF"/>
          </a:solidFill>
          <a:ln xmlns:a="http://schemas.openxmlformats.org/drawingml/2006/main" w="9525">
            <a:solidFill>
              <a:srgbClr val="20567B"/>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650">
                <a:solidFill>
                  <a:srgbClr val="163047"/>
                </a:solidFill>
                <a:latin typeface="Arial"/>
                <a:ea typeface="Arial"/>
                <a:cs typeface="Arial"/>
              </a:defRPr>
            </a:pPr>
            <a:r>
              <a:rPr sz="1650">
                <a:solidFill>
                  <a:srgbClr val="163047"/>
                </a:solidFill>
                <a:latin typeface="Arial"/>
                <a:ea typeface="Arial"/>
                <a:cs typeface="Arial"/>
              </a:rPr>
              <a:t>Lode + Lmono</a:t>
            </a:r>
          </a:p>
          <a:p xmlns:a="http://schemas.openxmlformats.org/drawingml/2006/main">
            <a:pPr algn="ctr">
              <a:defRPr sz="1650">
                <a:solidFill>
                  <a:srgbClr val="163047"/>
                </a:solidFill>
                <a:latin typeface="Arial"/>
                <a:ea typeface="Arial"/>
                <a:cs typeface="Arial"/>
              </a:defRPr>
            </a:pPr>
            <a:r>
              <a:rPr sz="1650">
                <a:solidFill>
                  <a:srgbClr val="163047"/>
                </a:solidFill>
                <a:latin typeface="Arial"/>
                <a:ea typeface="Arial"/>
                <a:cs typeface="Arial"/>
              </a:rPr>
              <a:t>+ Lrange</a:t>
            </a:r>
          </a:p>
        </p:txBody>
      </p:sp>
      <p:sp>
        <p:nvSpPr>
          <p:cNvPr id="15" name="">
            <a:extLst xmlns:a="http://schemas.openxmlformats.org/drawingml/2006/main">
              <a:ext uri="{FF2B5EF4-FFF2-40B4-BE49-F238E27FC236}">
                <a16:creationId xmlns:a16="http://schemas.microsoft.com/office/drawing/2014/main" id="{F7EADB51-7062-4CA9-8727-95EFECFF14C9}"/>
              </a:ext>
            </a:extLst>
          </p:cNvPr>
          <p:cNvSpPr>
            <a:spLocks xmlns:a="http://schemas.openxmlformats.org/drawingml/2006/main" noGrp="1"/>
          </p:cNvSpPr>
          <p:nvPr/>
        </p:nvSpPr>
        <p:spPr>
          <a:xfrm xmlns:a="http://schemas.openxmlformats.org/drawingml/2006/main">
            <a:off x="9620250" y="2495550"/>
            <a:ext cx="2000250" cy="1266825"/>
          </a:xfrm>
          <a:prstGeom xmlns:a="http://schemas.openxmlformats.org/drawingml/2006/main" prst="rect">
            <a:avLst/>
          </a:prstGeom>
          <a:solidFill xmlns:a="http://schemas.openxmlformats.org/drawingml/2006/main">
            <a:srgbClr val="F0EDF6"/>
          </a:solidFill>
          <a:ln xmlns:a="http://schemas.openxmlformats.org/drawingml/2006/main" w="9525">
            <a:solidFill>
              <a:srgbClr val="20567B"/>
            </a:solidFill>
          </a:ln>
        </p:spPr>
        <p:txBody>
          <a:bodyPr xmlns:a="http://schemas.openxmlformats.org/drawingml/2006/main" lIns="76200" tIns="76200" rIns="76200" bIns="76200" anchor="ctr">
            <a:noAutofit/>
          </a:bodyPr>
          <a:lstStyle xmlns:a="http://schemas.openxmlformats.org/drawingml/2006/main"/>
          <a:p xmlns:a="http://schemas.openxmlformats.org/drawingml/2006/main">
            <a:pPr algn="ctr">
              <a:defRPr sz="1650">
                <a:solidFill>
                  <a:srgbClr val="163047"/>
                </a:solidFill>
                <a:latin typeface="Arial"/>
                <a:ea typeface="Arial"/>
                <a:cs typeface="Arial"/>
              </a:defRPr>
            </a:pPr>
            <a:r>
              <a:rPr sz="1650">
                <a:solidFill>
                  <a:srgbClr val="163047"/>
                </a:solidFill>
                <a:latin typeface="Arial"/>
                <a:ea typeface="Arial"/>
                <a:cs typeface="Arial"/>
              </a:rPr>
              <a:t>Tổng loss</a:t>
            </a:r>
          </a:p>
          <a:p xmlns:a="http://schemas.openxmlformats.org/drawingml/2006/main">
            <a:pPr algn="ctr">
              <a:defRPr sz="1650">
                <a:solidFill>
                  <a:srgbClr val="163047"/>
                </a:solidFill>
                <a:latin typeface="Arial"/>
                <a:ea typeface="Arial"/>
                <a:cs typeface="Arial"/>
              </a:defRPr>
            </a:pPr>
            <a:r>
              <a:rPr sz="1650">
                <a:solidFill>
                  <a:srgbClr val="163047"/>
                </a:solidFill>
                <a:latin typeface="Arial"/>
                <a:ea typeface="Arial"/>
                <a:cs typeface="Arial"/>
              </a:rPr>
              <a:t>Cập nhật</a:t>
            </a:r>
          </a:p>
          <a:p xmlns:a="http://schemas.openxmlformats.org/drawingml/2006/main">
            <a:pPr algn="ctr">
              <a:defRPr sz="1650">
                <a:solidFill>
                  <a:srgbClr val="163047"/>
                </a:solidFill>
                <a:latin typeface="Arial"/>
                <a:ea typeface="Arial"/>
                <a:cs typeface="Arial"/>
              </a:defRPr>
            </a:pPr>
            <a:r>
              <a:rPr sz="1650">
                <a:solidFill>
                  <a:srgbClr val="163047"/>
                </a:solidFill>
                <a:latin typeface="Arial"/>
                <a:ea typeface="Arial"/>
                <a:cs typeface="Arial"/>
              </a:rPr>
              <a:t>φ, θ, λ, Ea</a:t>
            </a:r>
          </a:p>
        </p:txBody>
      </p:sp>
      <p:sp>
        <p:nvSpPr>
          <p:cNvPr id="18" name="">
            <a:extLst xmlns:a="http://schemas.openxmlformats.org/drawingml/2006/main">
              <a:ext uri="{FF2B5EF4-FFF2-40B4-BE49-F238E27FC236}">
                <a16:creationId xmlns:a16="http://schemas.microsoft.com/office/drawing/2014/main" id="{EB04FB85-9A89-4B6D-95C3-EDC1D1672FCE}"/>
              </a:ext>
            </a:extLst>
          </p:cNvPr>
          <p:cNvSpPr>
            <a:spLocks xmlns:a="http://schemas.openxmlformats.org/drawingml/2006/main" noGrp="1"/>
          </p:cNvSpPr>
          <p:nvPr/>
        </p:nvSpPr>
        <p:spPr>
          <a:xfrm xmlns:a="http://schemas.openxmlformats.org/drawingml/2006/main">
            <a:off x="619125" y="5343525"/>
            <a:ext cx="10858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400" b="1">
                <a:solidFill>
                  <a:srgbClr val="20567B"/>
                </a:solidFill>
                <a:latin typeface="Arial"/>
                <a:ea typeface="Arial"/>
                <a:cs typeface="Arial"/>
              </a:defRPr>
            </a:pPr>
            <a:r>
              <a:rPr sz="2400" b="1">
                <a:solidFill>
                  <a:srgbClr val="20567B"/>
                </a:solidFill>
                <a:latin typeface="Arial"/>
                <a:ea typeface="Arial"/>
                <a:cs typeface="Arial"/>
              </a:rPr>
              <a:t>L = Ldata + w(s) (αLode + βLmono + γLrange)</a:t>
            </a:r>
          </a:p>
        </p:txBody>
      </p:sp>
      <p:sp>
        <p:nvSpPr>
          <p:cNvPr id="19" name="">
            <a:extLst xmlns:a="http://schemas.openxmlformats.org/drawingml/2006/main">
              <a:ext uri="{FF2B5EF4-FFF2-40B4-BE49-F238E27FC236}">
                <a16:creationId xmlns:a16="http://schemas.microsoft.com/office/drawing/2014/main" id="{0C753BFE-5310-49F6-A0BB-67693A3F21AF}"/>
              </a:ext>
            </a:extLst>
          </p:cNvPr>
          <p:cNvSpPr>
            <a:spLocks xmlns:a="http://schemas.openxmlformats.org/drawingml/2006/main" noGrp="1"/>
          </p:cNvSpPr>
          <p:nvPr/>
        </p:nvSpPr>
        <p:spPr>
          <a:xfrm xmlns:a="http://schemas.openxmlformats.org/drawingml/2006/main">
            <a:off x="619125" y="6105525"/>
            <a:ext cx="1071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526778"/>
                </a:solidFill>
                <a:latin typeface="Arial"/>
                <a:ea typeface="Arial"/>
                <a:cs typeface="Arial"/>
              </a:defRPr>
            </a:pPr>
            <a:r>
              <a:rPr sz="1275" b="0">
                <a:solidFill>
                  <a:srgbClr val="526778"/>
                </a:solidFill>
                <a:latin typeface="Arial"/>
                <a:ea typeface="Arial"/>
                <a:cs typeface="Arial"/>
              </a:rPr>
              <a:t>“Loss không nhãn” không đồng nghĩa toàn bộ pipeline đã xử lý đúng trường hợp thiếu nhãn.</a:t>
            </a:r>
          </a:p>
        </p:txBody>
      </p:sp>
    </p:spTree>
    <p:extLst>
      <p:ext uri="{BB962C8B-B14F-4D97-AF65-F5344CB8AC3E}">
        <p14:creationId xmlns:p14="http://schemas.microsoft.com/office/powerpoint/2010/main" val="11882714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865C93E-D3F1-439A-A8EF-41FEBA7BF2D5}"/>
              </a:ext>
            </a:extLst>
          </p:cNvPr>
          <p:cNvSpPr>
            <a:spLocks xmlns:a="http://schemas.openxmlformats.org/drawingml/2006/main" noGrp="1"/>
          </p:cNvSpPr>
          <p:nvPr/>
        </p:nvSpPr>
        <p:spPr>
          <a:xfrm xmlns:a="http://schemas.openxmlformats.org/drawingml/2006/main">
            <a:off x="0" y="0"/>
            <a:ext cx="12192000" cy="952500"/>
          </a:xfrm>
          <a:prstGeom xmlns:a="http://schemas.openxmlformats.org/drawingml/2006/main" prst="rect">
            <a:avLst/>
          </a:prstGeom>
          <a:solidFill xmlns:a="http://schemas.openxmlformats.org/drawingml/2006/main">
            <a:srgbClr val="20567B"/>
          </a:solidFill>
          <a:ln xmlns:a="http://schemas.openxmlformats.org/drawingml/2006/main" w="9525">
            <a:solidFill>
              <a:srgbClr val="20567B"/>
            </a:solid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E172FEF-0244-4E81-A8BA-ACA4BB3766B7}"/>
              </a:ext>
            </a:extLst>
          </p:cNvPr>
          <p:cNvSpPr>
            <a:spLocks xmlns:a="http://schemas.openxmlformats.org/drawingml/2006/main" noGrp="1"/>
          </p:cNvSpPr>
          <p:nvPr/>
        </p:nvSpPr>
        <p:spPr>
          <a:xfrm xmlns:a="http://schemas.openxmlformats.org/drawingml/2006/main">
            <a:off x="542925" y="66675"/>
            <a:ext cx="11239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0:p xmlns:ns0="http://schemas.openxmlformats.org/drawingml/2006/main">
            <ns0:pPr algn="l">
              <ns0:defRPr sz="2700" b="1">
                <ns0:solidFill>
                  <ns0:srgbClr val="FFFFFF"/>
                </ns0:solidFill>
                <ns0:latin typeface="Arial"/>
                <ns0:ea typeface="Arial"/>
                <ns0:cs typeface="Arial"/>
              </ns0:defRPr>
            </ns0:pPr>
            <ns0:r>
              <ns0:rPr sz="2700" b="1">
                <ns0:solidFill>
                  <ns0:srgbClr val="FFFFFF"/>
                </ns0:solidFill>
                <ns0:latin typeface="Arial"/>
                <ns0:ea typeface="Arial"/>
                <ns0:cs typeface="Arial"/>
              </ns0:rPr>
              <ns0:t>Kết quả ít nhãn: so với MLP dùng 70% (v1)</ns0:t>
            </ns0:r>
          </ns0:p>
        </p:txBody>
      </p:sp>
      <p:sp>
        <p:nvSpPr>
          <p:cNvPr id="3" name="">
            <a:extLst xmlns:a="http://schemas.openxmlformats.org/drawingml/2006/main">
              <a:ext uri="{FF2B5EF4-FFF2-40B4-BE49-F238E27FC236}">
                <a16:creationId xmlns:a16="http://schemas.microsoft.com/office/drawing/2014/main" id="{FB6B60F4-709A-49DF-8E98-B600A50EEB5A}"/>
              </a:ext>
            </a:extLst>
          </p:cNvPr>
          <p:cNvSpPr>
            <a:spLocks xmlns:a="http://schemas.openxmlformats.org/drawingml/2006/main" noGrp="1"/>
          </p:cNvSpPr>
          <p:nvPr/>
        </p:nvSpPr>
        <p:spPr>
          <a:xfrm xmlns:a="http://schemas.openxmlformats.org/drawingml/2006/main">
            <a:off x="11144250" y="6400800"/>
            <a:ext cx="333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1:p xmlns:ns1="http://schemas.openxmlformats.org/drawingml/2006/main">
            <ns1:pPr algn="l">
              <ns1:defRPr sz="1200" b="1">
                <ns1:solidFill>
                  <ns1:srgbClr val="20567B"/>
                </ns1:solidFill>
                <ns1:latin typeface="Arial"/>
                <ns1:ea typeface="Arial"/>
                <ns1:cs typeface="Arial"/>
              </ns1:defRPr>
            </ns1:pPr>
            <ns1:r>
              <ns1:rPr sz="1200" b="1">
                <ns1:solidFill>
                  <ns1:srgbClr val="20567B"/>
                </ns1:solidFill>
                <ns1:latin typeface="Arial"/>
                <ns1:ea typeface="Arial"/>
                <ns1:cs typeface="Arial"/>
              </ns1:rPr>
              <ns1:t>09</ns1:t>
            </ns1:r>
          </ns1: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ec20149fc474e5e"/>
          <a:stretch xmlns:a="http://schemas.openxmlformats.org/drawingml/2006/main"/>
        </p:blipFill>
        <p:spPr>
          <a:xfrm xmlns:a="http://schemas.openxmlformats.org/drawingml/2006/main">
            <a:off x="11696700" y="6384974"/>
            <a:ext cx="285750" cy="26025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1ADA485-A3D9-4801-AF20-EEDA600A294B}"/>
              </a:ext>
            </a:extLst>
          </p:cNvPr>
          <p:cNvSpPr>
            <a:spLocks xmlns:a="http://schemas.openxmlformats.org/drawingml/2006/main" noGrp="1"/>
          </p:cNvSpPr>
          <p:nvPr/>
        </p:nvSpPr>
        <p:spPr>
          <a:xfrm xmlns:a="http://schemas.openxmlformats.org/drawingml/2006/main">
            <a:off x="523875" y="1381125"/>
            <a:ext cx="11144250" cy="4257675"/>
          </a:xfrm>
          <a:prstGeom xmlns:a="http://schemas.openxmlformats.org/drawingml/2006/main" prst="rect">
            <a:avLst/>
          </a:prstGeom>
          <a:solidFill xmlns:a="http://schemas.openxmlformats.org/drawingml/2006/main">
            <a:srgbClr val="FFFFFF"/>
          </a:solidFill>
          <a:ln xmlns:a="http://schemas.openxmlformats.org/drawingml/2006/main" w="9525">
            <a:solidFill>
              <a:srgbClr val="A7BAC7"/>
            </a:solidFill>
          </a:ln>
        </p:spPr>
      </p:sp>
      <p:sp>
        <p:nvSpPr>
          <p:cNvPr id="6" name="">
            <a:extLst xmlns:a="http://schemas.openxmlformats.org/drawingml/2006/main">
              <a:ext uri="{FF2B5EF4-FFF2-40B4-BE49-F238E27FC236}">
                <a16:creationId xmlns:a16="http://schemas.microsoft.com/office/drawing/2014/main" id="{19595B2A-1A2C-4338-94FD-1F2A97C1B0E9}"/>
              </a:ext>
            </a:extLst>
          </p:cNvPr>
          <p:cNvSpPr>
            <a:spLocks xmlns:a="http://schemas.openxmlformats.org/drawingml/2006/main" noGrp="1"/>
          </p:cNvSpPr>
          <p:nvPr/>
        </p:nvSpPr>
        <p:spPr>
          <a:xfrm xmlns:a="http://schemas.openxmlformats.org/drawingml/2006/main">
            <a:off x="666750" y="14382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1">
                <a:solidFill>
                  <a:srgbClr val="20567B"/>
                </a:solidFill>
                <a:latin typeface="Arial"/>
                <a:ea typeface="Arial"/>
                <a:cs typeface="Arial"/>
              </a:defRPr>
            </a:pPr>
            <a:r>
              <a:rPr sz="1800" b="1">
                <a:solidFill>
                  <a:srgbClr val="20567B"/>
                </a:solidFill>
                <a:latin typeface="Arial"/>
                <a:ea typeface="Arial"/>
                <a:cs typeface="Arial"/>
              </a:rPr>
              <a:t>KHUNG KẾT QUẢ 1 · MAE / MAE của MLP 70%</a:t>
            </a:r>
          </a:p>
        </p:txBody>
      </p:sp>
      <p:graphicFrame>
        <p:nvGraphicFramePr>
          <p:cNvPr id="17" name="Chart"/>
          <p:cNvGraphicFramePr/>
          <p:nvPr/>
        </p:nvGraphicFramePr>
        <p:xfrm>
          <a:off xmlns:a="http://schemas.openxmlformats.org/drawingml/2006/main" x="666750" y="1952625"/>
          <a:ext xmlns:a="http://schemas.openxmlformats.org/drawingml/2006/main" cx="7286625" cy="3476625"/>
        </p:xfrm>
        <a:graphic xmlns:a="http://schemas.openxmlformats.org/drawingml/2006/main">
          <a:graphicData uri="http://schemas.openxmlformats.org/drawingml/2006/chart">
            <c:chart xmlns:r="http://schemas.openxmlformats.org/officeDocument/2006/relationships" xmlns:c="http://schemas.openxmlformats.org/drawingml/2006/chart" r:id="R33588d80f65748f5"/>
          </a:graphicData>
        </a:graphic>
      </p:graphicFrame>
      <p:sp>
        <p:nvSpPr>
          <p:cNvPr id="8" name="">
            <a:extLst xmlns:a="http://schemas.openxmlformats.org/drawingml/2006/main">
              <a:ext uri="{FF2B5EF4-FFF2-40B4-BE49-F238E27FC236}">
                <a16:creationId xmlns:a16="http://schemas.microsoft.com/office/drawing/2014/main" id="{CD303297-4412-4124-AC41-2A71ACE7EB87}"/>
              </a:ext>
            </a:extLst>
          </p:cNvPr>
          <p:cNvSpPr>
            <a:spLocks xmlns:a="http://schemas.openxmlformats.org/drawingml/2006/main" noGrp="1"/>
          </p:cNvSpPr>
          <p:nvPr/>
        </p:nvSpPr>
        <p:spPr>
          <a:xfrm xmlns:a="http://schemas.openxmlformats.org/drawingml/2006/main">
            <a:off x="8286750" y="2171700"/>
            <a:ext cx="3000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950" b="1">
                <a:solidFill>
                  <a:srgbClr val="20567B"/>
                </a:solidFill>
                <a:latin typeface="Arial"/>
                <a:ea typeface="Arial"/>
                <a:cs typeface="Arial"/>
              </a:defRPr>
            </a:pPr>
            <a:r>
              <a:rPr sz="1950" b="1">
                <a:solidFill>
                  <a:srgbClr val="20567B"/>
                </a:solidFill>
                <a:latin typeface="Arial"/>
                <a:ea typeface="Arial"/>
                <a:cs typeface="Arial"/>
              </a:rPr>
              <a:t>Mốc tham chiếu = 1,00</a:t>
            </a:r>
          </a:p>
        </p:txBody>
      </p:sp>
      <p:sp>
        <p:nvSpPr>
          <p:cNvPr id="9" name="">
            <a:extLst xmlns:a="http://schemas.openxmlformats.org/drawingml/2006/main">
              <a:ext uri="{FF2B5EF4-FFF2-40B4-BE49-F238E27FC236}">
                <a16:creationId xmlns:a16="http://schemas.microsoft.com/office/drawing/2014/main" id="{1E164460-DF86-4EEC-9B19-ECFE9486CF7D}"/>
              </a:ext>
            </a:extLst>
          </p:cNvPr>
          <p:cNvSpPr>
            <a:spLocks xmlns:a="http://schemas.openxmlformats.org/drawingml/2006/main" noGrp="1"/>
          </p:cNvSpPr>
          <p:nvPr/>
        </p:nvSpPr>
        <p:spPr>
          <a:xfrm xmlns:a="http://schemas.openxmlformats.org/drawingml/2006/main">
            <a:off x="8286750" y="2886075"/>
            <a:ext cx="3000375"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950" b="0">
                <a:solidFill>
                  <a:srgbClr val="163047"/>
                </a:solidFill>
                <a:latin typeface="Arial"/>
                <a:ea typeface="Arial"/>
                <a:cs typeface="Arial"/>
              </a:defRPr>
            </a:pPr>
            <a:r>
              <a:rPr sz="1950" b="0">
                <a:solidFill>
                  <a:srgbClr val="163047"/>
                </a:solidFill>
                <a:latin typeface="Arial"/>
                <a:ea typeface="Arial"/>
                <a:cs typeface="Arial"/>
              </a:rPr>
              <a:t>MIT và HUST có</a:t>
            </a:r>
          </a:p>
          <a:p xmlns:a="http://schemas.openxmlformats.org/drawingml/2006/main">
            <a:pPr algn="l">
              <a:defRPr sz="1950" b="0">
                <a:solidFill>
                  <a:srgbClr val="163047"/>
                </a:solidFill>
                <a:latin typeface="Arial"/>
                <a:ea typeface="Arial"/>
                <a:cs typeface="Arial"/>
              </a:defRPr>
            </a:pPr>
            <a:r>
              <a:rPr sz="1950" b="0">
                <a:solidFill>
                  <a:srgbClr val="163047"/>
                </a:solidFill>
                <a:latin typeface="Arial"/>
                <a:ea typeface="Arial"/>
                <a:cs typeface="Arial"/>
              </a:rPr>
              <a:t>trung bình dưới mốc.</a:t>
            </a:r>
          </a:p>
          <a:p xmlns:a="http://schemas.openxmlformats.org/drawingml/2006/main">
            <a:r>
              <a:t/>
            </a:r>
          </a:p>
          <a:p xmlns:a="http://schemas.openxmlformats.org/drawingml/2006/main">
            <a:pPr algn="l">
              <a:defRPr sz="1950" b="0">
                <a:solidFill>
                  <a:srgbClr val="163047"/>
                </a:solidFill>
                <a:latin typeface="Arial"/>
                <a:ea typeface="Arial"/>
                <a:cs typeface="Arial"/>
              </a:defRPr>
            </a:pPr>
            <a:r>
              <a:rPr sz="1950" b="0">
                <a:solidFill>
                  <a:srgbClr val="163047"/>
                </a:solidFill>
                <a:latin typeface="Arial"/>
                <a:ea typeface="Arial"/>
                <a:cs typeface="Arial"/>
              </a:rPr>
              <a:t>XJTU và TJU</a:t>
            </a:r>
          </a:p>
          <a:p xmlns:a="http://schemas.openxmlformats.org/drawingml/2006/main">
            <a:pPr algn="l">
              <a:defRPr sz="1950" b="0">
                <a:solidFill>
                  <a:srgbClr val="163047"/>
                </a:solidFill>
                <a:latin typeface="Arial"/>
                <a:ea typeface="Arial"/>
                <a:cs typeface="Arial"/>
              </a:defRPr>
            </a:pPr>
            <a:r>
              <a:rPr sz="1950" b="0">
                <a:solidFill>
                  <a:srgbClr val="163047"/>
                </a:solidFill>
                <a:latin typeface="Arial"/>
                <a:ea typeface="Arial"/>
                <a:cs typeface="Arial"/>
              </a:rPr>
              <a:t>chưa đạt mốc.</a:t>
            </a:r>
          </a:p>
        </p:txBody>
      </p:sp>
      <p:sp>
        <p:nvSpPr>
          <p:cNvPr id="10" name="">
            <a:extLst xmlns:a="http://schemas.openxmlformats.org/drawingml/2006/main">
              <a:ext uri="{FF2B5EF4-FFF2-40B4-BE49-F238E27FC236}">
                <a16:creationId xmlns:a16="http://schemas.microsoft.com/office/drawing/2014/main" id="{8C16366C-E402-432C-91E6-EE92F36E2639}"/>
              </a:ext>
            </a:extLst>
          </p:cNvPr>
          <p:cNvSpPr>
            <a:spLocks xmlns:a="http://schemas.openxmlformats.org/drawingml/2006/main" noGrp="1"/>
          </p:cNvSpPr>
          <p:nvPr/>
        </p:nvSpPr>
        <p:spPr>
          <a:xfrm xmlns:a="http://schemas.openxmlformats.org/drawingml/2006/main">
            <a:off x="619125" y="6105525"/>
            <a:ext cx="1071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526778"/>
                </a:solidFill>
                <a:latin typeface="Arial"/>
                <a:ea typeface="Arial"/>
                <a:cs typeface="Arial"/>
              </a:defRPr>
            </a:pPr>
            <a:r>
              <a:rPr sz="1275" b="0">
                <a:solidFill>
                  <a:srgbClr val="526778"/>
                </a:solidFill>
                <a:latin typeface="Arial"/>
                <a:ea typeface="Arial"/>
                <a:cs typeface="Arial"/>
              </a:rPr>
              <a:t>3 seed, MAE gộp hàng. Chưa đủ để kết luận “đạt giả thuyết tương đương”.</a:t>
            </a:r>
          </a:p>
        </p:txBody>
      </p:sp>
    </p:spTree>
    <p:extLst>
      <p:ext uri="{BB962C8B-B14F-4D97-AF65-F5344CB8AC3E}">
        <p14:creationId xmlns:p14="http://schemas.microsoft.com/office/powerpoint/2010/main" val="29834006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DF41D47-9521-4E7C-B7DD-9B69CB7586B4}"/>
              </a:ext>
            </a:extLst>
          </p:cNvPr>
          <p:cNvSpPr>
            <a:spLocks xmlns:a="http://schemas.openxmlformats.org/drawingml/2006/main" noGrp="1"/>
          </p:cNvSpPr>
          <p:nvPr/>
        </p:nvSpPr>
        <p:spPr>
          <a:xfrm xmlns:a="http://schemas.openxmlformats.org/drawingml/2006/main">
            <a:off x="0" y="0"/>
            <a:ext cx="12192000" cy="952500"/>
          </a:xfrm>
          <a:prstGeom xmlns:a="http://schemas.openxmlformats.org/drawingml/2006/main" prst="rect">
            <a:avLst/>
          </a:prstGeom>
          <a:solidFill xmlns:a="http://schemas.openxmlformats.org/drawingml/2006/main">
            <a:srgbClr val="20567B"/>
          </a:solidFill>
          <a:ln xmlns:a="http://schemas.openxmlformats.org/drawingml/2006/main" w="9525">
            <a:solidFill>
              <a:srgbClr val="20567B"/>
            </a:solid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B81574A-0A25-4C27-92C4-CF9D20581826}"/>
              </a:ext>
            </a:extLst>
          </p:cNvPr>
          <p:cNvSpPr>
            <a:spLocks xmlns:a="http://schemas.openxmlformats.org/drawingml/2006/main" noGrp="1"/>
          </p:cNvSpPr>
          <p:nvPr/>
        </p:nvSpPr>
        <p:spPr>
          <a:xfrm xmlns:a="http://schemas.openxmlformats.org/drawingml/2006/main">
            <a:off x="542925" y="66675"/>
            <a:ext cx="11239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0:p xmlns:ns0="http://schemas.openxmlformats.org/drawingml/2006/main">
            <ns0:pPr algn="l">
              <ns0:defRPr sz="2700" b="1">
                <ns0:solidFill>
                  <ns0:srgbClr val="FFFFFF"/>
                </ns0:solidFill>
                <ns0:latin typeface="Arial"/>
                <ns0:ea typeface="Arial"/>
                <ns0:cs typeface="Arial"/>
              </ns0:defRPr>
            </ns0:pPr>
            <ns0:r>
              <ns0:rPr sz="2700" b="1">
                <ns0:solidFill>
                  <ns0:srgbClr val="FFFFFF"/>
                </ns0:solidFill>
                <ns0:latin typeface="Arial"/>
                <ns0:ea typeface="Arial"/>
                <ns0:cs typeface="Arial"/>
              </ns0:rPr>
              <ns0:t>Kết quả tinh chỉnh với 10 seed (v1)</ns0:t>
            </ns0:r>
          </ns0:p>
        </p:txBody>
      </p:sp>
      <p:sp>
        <p:nvSpPr>
          <p:cNvPr id="3" name="">
            <a:extLst xmlns:a="http://schemas.openxmlformats.org/drawingml/2006/main">
              <a:ext uri="{FF2B5EF4-FFF2-40B4-BE49-F238E27FC236}">
                <a16:creationId xmlns:a16="http://schemas.microsoft.com/office/drawing/2014/main" id="{3B041444-D5AC-4547-8B31-B260A3007F82}"/>
              </a:ext>
            </a:extLst>
          </p:cNvPr>
          <p:cNvSpPr>
            <a:spLocks xmlns:a="http://schemas.openxmlformats.org/drawingml/2006/main" noGrp="1"/>
          </p:cNvSpPr>
          <p:nvPr/>
        </p:nvSpPr>
        <p:spPr>
          <a:xfrm xmlns:a="http://schemas.openxmlformats.org/drawingml/2006/main">
            <a:off x="11144250" y="6400800"/>
            <a:ext cx="333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1:p xmlns:ns1="http://schemas.openxmlformats.org/drawingml/2006/main">
            <ns1:pPr algn="l">
              <ns1:defRPr sz="1200" b="1">
                <ns1:solidFill>
                  <ns1:srgbClr val="20567B"/>
                </ns1:solidFill>
                <ns1:latin typeface="Arial"/>
                <ns1:ea typeface="Arial"/>
                <ns1:cs typeface="Arial"/>
              </ns1:defRPr>
            </ns1:pPr>
            <ns1:r>
              <ns1:rPr sz="1200" b="1">
                <ns1:solidFill>
                  <ns1:srgbClr val="20567B"/>
                </ns1:solidFill>
                <ns1:latin typeface="Arial"/>
                <ns1:ea typeface="Arial"/>
                <ns1:cs typeface="Arial"/>
              </ns1:rPr>
              <ns1:t>10</ns1:t>
            </ns1:r>
          </ns1: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2acf530798b4330"/>
          <a:stretch xmlns:a="http://schemas.openxmlformats.org/drawingml/2006/main"/>
        </p:blipFill>
        <p:spPr>
          <a:xfrm xmlns:a="http://schemas.openxmlformats.org/drawingml/2006/main">
            <a:off x="11696700" y="6384974"/>
            <a:ext cx="285750" cy="26025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AA5E6C8-C815-4328-A154-F109AA575559}"/>
              </a:ext>
            </a:extLst>
          </p:cNvPr>
          <p:cNvSpPr>
            <a:spLocks xmlns:a="http://schemas.openxmlformats.org/drawingml/2006/main" noGrp="1"/>
          </p:cNvSpPr>
          <p:nvPr/>
        </p:nvSpPr>
        <p:spPr>
          <a:xfrm xmlns:a="http://schemas.openxmlformats.org/drawingml/2006/main">
            <a:off x="523875" y="1333500"/>
            <a:ext cx="11144250" cy="4467225"/>
          </a:xfrm>
          <a:prstGeom xmlns:a="http://schemas.openxmlformats.org/drawingml/2006/main" prst="rect">
            <a:avLst/>
          </a:prstGeom>
          <a:solidFill xmlns:a="http://schemas.openxmlformats.org/drawingml/2006/main">
            <a:srgbClr val="FFFFFF"/>
          </a:solidFill>
          <a:ln xmlns:a="http://schemas.openxmlformats.org/drawingml/2006/main" w="9525">
            <a:solidFill>
              <a:srgbClr val="A7BAC7"/>
            </a:solidFill>
          </a:ln>
        </p:spPr>
      </p:sp>
      <p:sp>
        <p:nvSpPr>
          <p:cNvPr id="6" name="">
            <a:extLst xmlns:a="http://schemas.openxmlformats.org/drawingml/2006/main">
              <a:ext uri="{FF2B5EF4-FFF2-40B4-BE49-F238E27FC236}">
                <a16:creationId xmlns:a16="http://schemas.microsoft.com/office/drawing/2014/main" id="{3D019847-31C4-4CE8-AC7B-F2D4AFEF5AF0}"/>
              </a:ext>
            </a:extLst>
          </p:cNvPr>
          <p:cNvSpPr>
            <a:spLocks xmlns:a="http://schemas.openxmlformats.org/drawingml/2006/main" noGrp="1"/>
          </p:cNvSpPr>
          <p:nvPr/>
        </p:nvSpPr>
        <p:spPr>
          <a:xfrm xmlns:a="http://schemas.openxmlformats.org/drawingml/2006/main">
            <a:off x="666750" y="139065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1">
                <a:solidFill>
                  <a:srgbClr val="20567B"/>
                </a:solidFill>
                <a:latin typeface="Arial"/>
                <a:ea typeface="Arial"/>
                <a:cs typeface="Arial"/>
              </a:defRPr>
            </a:pPr>
            <a:r>
              <a:rPr sz="1800" b="1">
                <a:solidFill>
                  <a:srgbClr val="20567B"/>
                </a:solidFill>
                <a:latin typeface="Arial"/>
                <a:ea typeface="Arial"/>
                <a:cs typeface="Arial"/>
              </a:rPr>
              <a:t>KHUNG KẾT QUẢ 2 · MAE theo cell, 30% nhãn</a:t>
            </a:r>
          </a:p>
        </p:txBody>
      </p:sp>
      <p:graphicFrame>
        <p:nvGraphicFramePr>
          <p:cNvPr id="15" name="Chart"/>
          <p:cNvGraphicFramePr/>
          <p:nvPr/>
        </p:nvGraphicFramePr>
        <p:xfrm>
          <a:off xmlns:a="http://schemas.openxmlformats.org/drawingml/2006/main" x="704850" y="1924050"/>
          <a:ext xmlns:a="http://schemas.openxmlformats.org/drawingml/2006/main" cx="10572750" cy="3590925"/>
        </p:xfrm>
        <a:graphic xmlns:a="http://schemas.openxmlformats.org/drawingml/2006/main">
          <a:graphicData uri="http://schemas.openxmlformats.org/drawingml/2006/chart">
            <c:chart xmlns:r="http://schemas.openxmlformats.org/officeDocument/2006/relationships" xmlns:c="http://schemas.openxmlformats.org/drawingml/2006/chart" r:id="R9bba4a4413ea4bae"/>
          </a:graphicData>
        </a:graphic>
      </p:graphicFrame>
      <p:sp>
        <p:nvSpPr>
          <p:cNvPr id="8" name="">
            <a:extLst xmlns:a="http://schemas.openxmlformats.org/drawingml/2006/main">
              <a:ext uri="{FF2B5EF4-FFF2-40B4-BE49-F238E27FC236}">
                <a16:creationId xmlns:a16="http://schemas.microsoft.com/office/drawing/2014/main" id="{C1A194D9-055B-4769-9344-4BA7E2622206}"/>
              </a:ext>
            </a:extLst>
          </p:cNvPr>
          <p:cNvSpPr>
            <a:spLocks xmlns:a="http://schemas.openxmlformats.org/drawingml/2006/main" noGrp="1"/>
          </p:cNvSpPr>
          <p:nvPr/>
        </p:nvSpPr>
        <p:spPr>
          <a:xfrm xmlns:a="http://schemas.openxmlformats.org/drawingml/2006/main">
            <a:off x="619125" y="6105525"/>
            <a:ext cx="1071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526778"/>
                </a:solidFill>
                <a:latin typeface="Arial"/>
                <a:ea typeface="Arial"/>
                <a:cs typeface="Arial"/>
              </a:defRPr>
            </a:pPr>
            <a:r>
              <a:rPr sz="1275" b="0">
                <a:solidFill>
                  <a:srgbClr val="526778"/>
                </a:solidFill>
                <a:latin typeface="Arial"/>
                <a:ea typeface="Arial"/>
                <a:cs typeface="Arial"/>
              </a:rPr>
              <a:t>TUNED: wide, SiLU, autograd, α = 0,02 và β = 0,5. Không đồng nhất với cấu hình E12.</a:t>
            </a:r>
          </a:p>
        </p:txBody>
      </p:sp>
    </p:spTree>
    <p:extLst>
      <p:ext uri="{BB962C8B-B14F-4D97-AF65-F5344CB8AC3E}">
        <p14:creationId xmlns:p14="http://schemas.microsoft.com/office/powerpoint/2010/main" val="51784833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7BBF791-ED46-41D9-AD40-F1C8F9DCB2BB}"/>
              </a:ext>
            </a:extLst>
          </p:cNvPr>
          <p:cNvSpPr>
            <a:spLocks xmlns:a="http://schemas.openxmlformats.org/drawingml/2006/main" noGrp="1"/>
          </p:cNvSpPr>
          <p:nvPr/>
        </p:nvSpPr>
        <p:spPr>
          <a:xfrm xmlns:a="http://schemas.openxmlformats.org/drawingml/2006/main">
            <a:off x="0" y="0"/>
            <a:ext cx="12192000" cy="952500"/>
          </a:xfrm>
          <a:prstGeom xmlns:a="http://schemas.openxmlformats.org/drawingml/2006/main" prst="rect">
            <a:avLst/>
          </a:prstGeom>
          <a:solidFill xmlns:a="http://schemas.openxmlformats.org/drawingml/2006/main">
            <a:srgbClr val="20567B"/>
          </a:solidFill>
          <a:ln xmlns:a="http://schemas.openxmlformats.org/drawingml/2006/main" w="9525">
            <a:solidFill>
              <a:srgbClr val="20567B"/>
            </a:solid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6EA9D46-E7BB-49AE-89B2-E90606AFCDD2}"/>
              </a:ext>
            </a:extLst>
          </p:cNvPr>
          <p:cNvSpPr>
            <a:spLocks xmlns:a="http://schemas.openxmlformats.org/drawingml/2006/main" noGrp="1"/>
          </p:cNvSpPr>
          <p:nvPr/>
        </p:nvSpPr>
        <p:spPr>
          <a:xfrm xmlns:a="http://schemas.openxmlformats.org/drawingml/2006/main">
            <a:off x="542925" y="66675"/>
            <a:ext cx="11239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0:p xmlns:ns0="http://schemas.openxmlformats.org/drawingml/2006/main">
            <ns0:pPr algn="l">
              <ns0:defRPr sz="2700" b="1">
                <ns0:solidFill>
                  <ns0:srgbClr val="FFFFFF"/>
                </ns0:solidFill>
                <ns0:latin typeface="Arial"/>
                <ns0:ea typeface="Arial"/>
                <ns0:cs typeface="Arial"/>
              </ns0:defRPr>
            </ns0:pPr>
            <ns0:r>
              <ns0:rPr sz="2700" b="1">
                <ns0:solidFill>
                  <ns0:srgbClr val="FFFFFF"/>
                </ns0:solidFill>
                <ns0:latin typeface="Arial"/>
                <ns0:ea typeface="Arial"/>
                <ns0:cs typeface="Arial"/>
              </ns0:rPr>
              <ns0:t>Mức cải thiện và ý nghĩa thống kê (v1)</ns0:t>
            </ns0:r>
          </ns0:p>
        </p:txBody>
      </p:sp>
      <p:sp>
        <p:nvSpPr>
          <p:cNvPr id="3" name="">
            <a:extLst xmlns:a="http://schemas.openxmlformats.org/drawingml/2006/main">
              <a:ext uri="{FF2B5EF4-FFF2-40B4-BE49-F238E27FC236}">
                <a16:creationId xmlns:a16="http://schemas.microsoft.com/office/drawing/2014/main" id="{05584ACC-5F23-4E07-842D-6570BD72ADAB}"/>
              </a:ext>
            </a:extLst>
          </p:cNvPr>
          <p:cNvSpPr>
            <a:spLocks xmlns:a="http://schemas.openxmlformats.org/drawingml/2006/main" noGrp="1"/>
          </p:cNvSpPr>
          <p:nvPr/>
        </p:nvSpPr>
        <p:spPr>
          <a:xfrm xmlns:a="http://schemas.openxmlformats.org/drawingml/2006/main">
            <a:off x="11144250" y="6400800"/>
            <a:ext cx="333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1:p xmlns:ns1="http://schemas.openxmlformats.org/drawingml/2006/main">
            <ns1:pPr algn="l">
              <ns1:defRPr sz="1200" b="1">
                <ns1:solidFill>
                  <ns1:srgbClr val="20567B"/>
                </ns1:solidFill>
                <ns1:latin typeface="Arial"/>
                <ns1:ea typeface="Arial"/>
                <ns1:cs typeface="Arial"/>
              </ns1:defRPr>
            </ns1:pPr>
            <ns1:r>
              <ns1:rPr sz="1200" b="1">
                <ns1:solidFill>
                  <ns1:srgbClr val="20567B"/>
                </ns1:solidFill>
                <ns1:latin typeface="Arial"/>
                <ns1:ea typeface="Arial"/>
                <ns1:cs typeface="Arial"/>
              </ns1:rPr>
              <ns1:t>11</ns1:t>
            </ns1:r>
          </ns1: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3359c2e262542bc"/>
          <a:stretch xmlns:a="http://schemas.openxmlformats.org/drawingml/2006/main"/>
        </p:blipFill>
        <p:spPr>
          <a:xfrm xmlns:a="http://schemas.openxmlformats.org/drawingml/2006/main">
            <a:off x="11696700" y="6384974"/>
            <a:ext cx="285750" cy="260252"/>
          </a:xfrm>
          <a:prstGeom xmlns:a="http://schemas.openxmlformats.org/drawingml/2006/main" prst="rect">
            <a:avLst/>
          </a:prstGeom>
        </p:spPr>
      </p:pic>
      <p:graphicFrame>
        <p:nvGraphicFramePr>
          <p:cNvPr id="13" name=""/>
          <p:cNvGraphicFramePr/>
          <p:nvPr/>
        </p:nvGraphicFramePr>
        <p:xfrm>
          <a:off xmlns:a="http://schemas.openxmlformats.org/drawingml/2006/main" x="533400" y="1504950"/>
          <a:ext xmlns:a="http://schemas.openxmlformats.org/drawingml/2006/main" cx="11125200" cy="2762250"/>
        </p:xfrm>
        <a:graphic xmlns:a="http://schemas.openxmlformats.org/drawingml/2006/main">
          <a:graphicData uri="http://schemas.openxmlformats.org/drawingml/2006/table">
            <a:tbl>
              <a:tblPr/>
              <a:tblGrid>
                <a:gridCol w="1381125"/>
                <a:gridCol w="2047875"/>
                <a:gridCol w="2047875"/>
                <a:gridCol w="2000250"/>
                <a:gridCol w="1809750"/>
                <a:gridCol w="1838325"/>
              </a:tblGrid>
              <a:tr h="552450">
                <a:tc>
                  <a:txBody>
                    <a:bodyPr/>
                    <a:lstStyle/>
                    <a:p>
                      <a:pPr algn="l"/>
                      <a:r>
                        <a:rPr sz="1800" b="1">
                          <a:solidFill>
                            <a:srgbClr val="FFFFFF"/>
                          </a:solidFill>
                          <a:latin typeface="Arial"/>
                          <a:ea typeface="Arial"/>
                          <a:cs typeface="Arial"/>
                        </a:rPr>
                        <a:t>Bộ</a:t>
                      </a:r>
                    </a:p>
                  </a:txBody>
                  <a:tcPr marL="91440" marR="91440" marT="45720" marB="45720" anchor="ctr">
                    <a:solidFill>
                      <a:srgbClr val="20567B"/>
                    </a:solidFill>
                  </a:tcPr>
                </a:tc>
                <a:tc>
                  <a:txBody>
                    <a:bodyPr/>
                    <a:lstStyle/>
                    <a:p>
                      <a:pPr algn="l"/>
                      <a:r>
                        <a:rPr sz="1800" b="1">
                          <a:solidFill>
                            <a:srgbClr val="FFFFFF"/>
                          </a:solidFill>
                          <a:latin typeface="Arial"/>
                          <a:ea typeface="Arial"/>
                          <a:cs typeface="Arial"/>
                        </a:rPr>
                        <a:t>MLP</a:t>
                      </a:r>
                    </a:p>
                  </a:txBody>
                  <a:tcPr marL="91440" marR="91440" marT="45720" marB="45720" anchor="ctr">
                    <a:solidFill>
                      <a:srgbClr val="20567B"/>
                    </a:solidFill>
                  </a:tcPr>
                </a:tc>
                <a:tc>
                  <a:txBody>
                    <a:bodyPr/>
                    <a:lstStyle/>
                    <a:p>
                      <a:pPr algn="l"/>
                      <a:r>
                        <a:rPr sz="1800" b="1">
                          <a:solidFill>
                            <a:srgbClr val="FFFFFF"/>
                          </a:solidFill>
                          <a:latin typeface="Arial"/>
                          <a:ea typeface="Arial"/>
                          <a:cs typeface="Arial"/>
                        </a:rPr>
                        <a:t>PINN</a:t>
                      </a:r>
                    </a:p>
                  </a:txBody>
                  <a:tcPr marL="91440" marR="91440" marT="45720" marB="45720" anchor="ctr">
                    <a:solidFill>
                      <a:srgbClr val="20567B"/>
                    </a:solidFill>
                  </a:tcPr>
                </a:tc>
                <a:tc>
                  <a:txBody>
                    <a:bodyPr/>
                    <a:lstStyle/>
                    <a:p>
                      <a:pPr algn="l"/>
                      <a:r>
                        <a:rPr sz="1800" b="1">
                          <a:solidFill>
                            <a:srgbClr val="FFFFFF"/>
                          </a:solidFill>
                          <a:latin typeface="Arial"/>
                          <a:ea typeface="Arial"/>
                          <a:cs typeface="Arial"/>
                        </a:rPr>
                        <a:t>Giảm MAE</a:t>
                      </a:r>
                    </a:p>
                  </a:txBody>
                  <a:tcPr marL="91440" marR="91440" marT="45720" marB="45720" anchor="ctr">
                    <a:solidFill>
                      <a:srgbClr val="20567B"/>
                    </a:solidFill>
                  </a:tcPr>
                </a:tc>
                <a:tc>
                  <a:txBody>
                    <a:bodyPr/>
                    <a:lstStyle/>
                    <a:p>
                      <a:pPr algn="l"/>
                      <a:r>
                        <a:rPr sz="1800" b="1">
                          <a:solidFill>
                            <a:srgbClr val="FFFFFF"/>
                          </a:solidFill>
                          <a:latin typeface="Arial"/>
                          <a:ea typeface="Arial"/>
                          <a:cs typeface="Arial"/>
                        </a:rPr>
                        <a:t>p Holm</a:t>
                      </a:r>
                    </a:p>
                  </a:txBody>
                  <a:tcPr marL="91440" marR="91440" marT="45720" marB="45720" anchor="ctr">
                    <a:solidFill>
                      <a:srgbClr val="20567B"/>
                    </a:solidFill>
                  </a:tcPr>
                </a:tc>
                <a:tc>
                  <a:txBody>
                    <a:bodyPr/>
                    <a:lstStyle/>
                    <a:p>
                      <a:pPr algn="l"/>
                      <a:r>
                        <a:rPr sz="1800" b="1">
                          <a:solidFill>
                            <a:srgbClr val="FFFFFF"/>
                          </a:solidFill>
                          <a:latin typeface="Arial"/>
                          <a:ea typeface="Arial"/>
                          <a:cs typeface="Arial"/>
                        </a:rPr>
                        <a:t>Seed thắng</a:t>
                      </a:r>
                    </a:p>
                  </a:txBody>
                  <a:tcPr marL="91440" marR="91440" marT="45720" marB="45720" anchor="ctr">
                    <a:solidFill>
                      <a:srgbClr val="20567B"/>
                    </a:solidFill>
                  </a:tcPr>
                </a:tc>
              </a:tr>
              <a:tr h="552450">
                <a:tc>
                  <a:txBody>
                    <a:bodyPr/>
                    <a:lstStyle/>
                    <a:p>
                      <a:pPr algn="l"/>
                      <a:r>
                        <a:rPr sz="1800" b="0">
                          <a:solidFill>
                            <a:srgbClr val="163047"/>
                          </a:solidFill>
                          <a:latin typeface="Arial"/>
                          <a:ea typeface="Arial"/>
                          <a:cs typeface="Arial"/>
                        </a:rPr>
                        <a:t>XJTU</a:t>
                      </a:r>
                    </a:p>
                  </a:txBody>
                  <a:tcPr marL="91440" marR="91440" marT="45720" marB="45720" anchor="ctr">
                    <a:solidFill>
                      <a:srgbClr val="EAF3F7"/>
                    </a:solidFill>
                  </a:tcPr>
                </a:tc>
                <a:tc>
                  <a:txBody>
                    <a:bodyPr/>
                    <a:lstStyle/>
                    <a:p>
                      <a:pPr algn="l"/>
                      <a:r>
                        <a:rPr sz="1800" b="0">
                          <a:solidFill>
                            <a:srgbClr val="163047"/>
                          </a:solidFill>
                          <a:latin typeface="Arial"/>
                          <a:ea typeface="Arial"/>
                          <a:cs typeface="Arial"/>
                        </a:rPr>
                        <a:t>0.01777</a:t>
                      </a:r>
                    </a:p>
                  </a:txBody>
                  <a:tcPr marL="91440" marR="91440" marT="45720" marB="45720" anchor="ctr">
                    <a:solidFill>
                      <a:srgbClr val="EAF3F7"/>
                    </a:solidFill>
                  </a:tcPr>
                </a:tc>
                <a:tc>
                  <a:txBody>
                    <a:bodyPr/>
                    <a:lstStyle/>
                    <a:p>
                      <a:pPr algn="l"/>
                      <a:r>
                        <a:rPr sz="1800" b="0">
                          <a:solidFill>
                            <a:srgbClr val="163047"/>
                          </a:solidFill>
                          <a:latin typeface="Arial"/>
                          <a:ea typeface="Arial"/>
                          <a:cs typeface="Arial"/>
                        </a:rPr>
                        <a:t>0.01376</a:t>
                      </a:r>
                    </a:p>
                  </a:txBody>
                  <a:tcPr marL="91440" marR="91440" marT="45720" marB="45720" anchor="ctr">
                    <a:solidFill>
                      <a:srgbClr val="EAF3F7"/>
                    </a:solidFill>
                  </a:tcPr>
                </a:tc>
                <a:tc>
                  <a:txBody>
                    <a:bodyPr/>
                    <a:lstStyle/>
                    <a:p>
                      <a:pPr algn="l"/>
                      <a:r>
                        <a:rPr sz="1800" b="0">
                          <a:solidFill>
                            <a:srgbClr val="163047"/>
                          </a:solidFill>
                          <a:latin typeface="Arial"/>
                          <a:ea typeface="Arial"/>
                          <a:cs typeface="Arial"/>
                        </a:rPr>
                        <a:t>22.6%</a:t>
                      </a:r>
                    </a:p>
                  </a:txBody>
                  <a:tcPr marL="91440" marR="91440" marT="45720" marB="45720" anchor="ctr">
                    <a:solidFill>
                      <a:srgbClr val="EAF3F7"/>
                    </a:solidFill>
                  </a:tcPr>
                </a:tc>
                <a:tc>
                  <a:txBody>
                    <a:bodyPr/>
                    <a:lstStyle/>
                    <a:p>
                      <a:pPr algn="l"/>
                      <a:r>
                        <a:rPr sz="1800" b="0">
                          <a:solidFill>
                            <a:srgbClr val="163047"/>
                          </a:solidFill>
                          <a:latin typeface="Arial"/>
                          <a:ea typeface="Arial"/>
                          <a:cs typeface="Arial"/>
                        </a:rPr>
                        <a:t>0.0547</a:t>
                      </a:r>
                    </a:p>
                  </a:txBody>
                  <a:tcPr marL="91440" marR="91440" marT="45720" marB="45720" anchor="ctr">
                    <a:solidFill>
                      <a:srgbClr val="EAF3F7"/>
                    </a:solidFill>
                  </a:tcPr>
                </a:tc>
                <a:tc>
                  <a:txBody>
                    <a:bodyPr/>
                    <a:lstStyle/>
                    <a:p>
                      <a:pPr algn="l"/>
                      <a:r>
                        <a:rPr sz="1800" b="0">
                          <a:solidFill>
                            <a:srgbClr val="163047"/>
                          </a:solidFill>
                          <a:latin typeface="Arial"/>
                          <a:ea typeface="Arial"/>
                          <a:cs typeface="Arial"/>
                        </a:rPr>
                        <a:t>8/10</a:t>
                      </a:r>
                    </a:p>
                  </a:txBody>
                  <a:tcPr marL="91440" marR="91440" marT="45720" marB="45720" anchor="ctr">
                    <a:solidFill>
                      <a:srgbClr val="EAF3F7"/>
                    </a:solidFill>
                  </a:tcPr>
                </a:tc>
              </a:tr>
              <a:tr h="552450">
                <a:tc>
                  <a:txBody>
                    <a:bodyPr/>
                    <a:lstStyle/>
                    <a:p>
                      <a:pPr algn="l"/>
                      <a:r>
                        <a:rPr sz="1800" b="0">
                          <a:solidFill>
                            <a:srgbClr val="163047"/>
                          </a:solidFill>
                          <a:latin typeface="Arial"/>
                          <a:ea typeface="Arial"/>
                          <a:cs typeface="Arial"/>
                        </a:rPr>
                        <a:t>TJU</a:t>
                      </a:r>
                    </a:p>
                  </a:txBody>
                  <a:tcPr marL="91440" marR="91440" marT="45720" marB="45720" anchor="ctr">
                    <a:solidFill>
                      <a:srgbClr val="FFFFFF"/>
                    </a:solidFill>
                  </a:tcPr>
                </a:tc>
                <a:tc>
                  <a:txBody>
                    <a:bodyPr/>
                    <a:lstStyle/>
                    <a:p>
                      <a:pPr algn="l"/>
                      <a:r>
                        <a:rPr sz="1800" b="0">
                          <a:solidFill>
                            <a:srgbClr val="163047"/>
                          </a:solidFill>
                          <a:latin typeface="Arial"/>
                          <a:ea typeface="Arial"/>
                          <a:cs typeface="Arial"/>
                        </a:rPr>
                        <a:t>0.01051</a:t>
                      </a:r>
                    </a:p>
                  </a:txBody>
                  <a:tcPr marL="91440" marR="91440" marT="45720" marB="45720" anchor="ctr">
                    <a:solidFill>
                      <a:srgbClr val="FFFFFF"/>
                    </a:solidFill>
                  </a:tcPr>
                </a:tc>
                <a:tc>
                  <a:txBody>
                    <a:bodyPr/>
                    <a:lstStyle/>
                    <a:p>
                      <a:pPr algn="l"/>
                      <a:r>
                        <a:rPr sz="1800" b="0">
                          <a:solidFill>
                            <a:srgbClr val="163047"/>
                          </a:solidFill>
                          <a:latin typeface="Arial"/>
                          <a:ea typeface="Arial"/>
                          <a:cs typeface="Arial"/>
                        </a:rPr>
                        <a:t>0.01029</a:t>
                      </a:r>
                    </a:p>
                  </a:txBody>
                  <a:tcPr marL="91440" marR="91440" marT="45720" marB="45720" anchor="ctr">
                    <a:solidFill>
                      <a:srgbClr val="FFFFFF"/>
                    </a:solidFill>
                  </a:tcPr>
                </a:tc>
                <a:tc>
                  <a:txBody>
                    <a:bodyPr/>
                    <a:lstStyle/>
                    <a:p>
                      <a:pPr algn="l"/>
                      <a:r>
                        <a:rPr sz="1800" b="0">
                          <a:solidFill>
                            <a:srgbClr val="163047"/>
                          </a:solidFill>
                          <a:latin typeface="Arial"/>
                          <a:ea typeface="Arial"/>
                          <a:cs typeface="Arial"/>
                        </a:rPr>
                        <a:t>2.1%</a:t>
                      </a:r>
                    </a:p>
                  </a:txBody>
                  <a:tcPr marL="91440" marR="91440" marT="45720" marB="45720" anchor="ctr">
                    <a:solidFill>
                      <a:srgbClr val="FFFFFF"/>
                    </a:solidFill>
                  </a:tcPr>
                </a:tc>
                <a:tc>
                  <a:txBody>
                    <a:bodyPr/>
                    <a:lstStyle/>
                    <a:p>
                      <a:pPr algn="l"/>
                      <a:r>
                        <a:rPr sz="1800" b="0">
                          <a:solidFill>
                            <a:srgbClr val="163047"/>
                          </a:solidFill>
                          <a:latin typeface="Arial"/>
                          <a:ea typeface="Arial"/>
                          <a:cs typeface="Arial"/>
                        </a:rPr>
                        <a:t>0.2324</a:t>
                      </a:r>
                    </a:p>
                  </a:txBody>
                  <a:tcPr marL="91440" marR="91440" marT="45720" marB="45720" anchor="ctr">
                    <a:solidFill>
                      <a:srgbClr val="FFFFFF"/>
                    </a:solidFill>
                  </a:tcPr>
                </a:tc>
                <a:tc>
                  <a:txBody>
                    <a:bodyPr/>
                    <a:lstStyle/>
                    <a:p>
                      <a:pPr algn="l"/>
                      <a:r>
                        <a:rPr sz="1800" b="0">
                          <a:solidFill>
                            <a:srgbClr val="163047"/>
                          </a:solidFill>
                          <a:latin typeface="Arial"/>
                          <a:ea typeface="Arial"/>
                          <a:cs typeface="Arial"/>
                        </a:rPr>
                        <a:t>6/10</a:t>
                      </a:r>
                    </a:p>
                  </a:txBody>
                  <a:tcPr marL="91440" marR="91440" marT="45720" marB="45720" anchor="ctr">
                    <a:solidFill>
                      <a:srgbClr val="FFFFFF"/>
                    </a:solidFill>
                  </a:tcPr>
                </a:tc>
              </a:tr>
              <a:tr h="552450">
                <a:tc>
                  <a:txBody>
                    <a:bodyPr/>
                    <a:lstStyle/>
                    <a:p>
                      <a:pPr algn="l"/>
                      <a:r>
                        <a:rPr sz="1800" b="0">
                          <a:solidFill>
                            <a:srgbClr val="163047"/>
                          </a:solidFill>
                          <a:latin typeface="Arial"/>
                          <a:ea typeface="Arial"/>
                          <a:cs typeface="Arial"/>
                        </a:rPr>
                        <a:t>MIT</a:t>
                      </a:r>
                    </a:p>
                  </a:txBody>
                  <a:tcPr marL="91440" marR="91440" marT="45720" marB="45720" anchor="ctr">
                    <a:solidFill>
                      <a:srgbClr val="EAF3F7"/>
                    </a:solidFill>
                  </a:tcPr>
                </a:tc>
                <a:tc>
                  <a:txBody>
                    <a:bodyPr/>
                    <a:lstStyle/>
                    <a:p>
                      <a:pPr algn="l"/>
                      <a:r>
                        <a:rPr sz="1800" b="0">
                          <a:solidFill>
                            <a:srgbClr val="163047"/>
                          </a:solidFill>
                          <a:latin typeface="Arial"/>
                          <a:ea typeface="Arial"/>
                          <a:cs typeface="Arial"/>
                        </a:rPr>
                        <a:t>0.00422</a:t>
                      </a:r>
                    </a:p>
                  </a:txBody>
                  <a:tcPr marL="91440" marR="91440" marT="45720" marB="45720" anchor="ctr">
                    <a:solidFill>
                      <a:srgbClr val="EAF3F7"/>
                    </a:solidFill>
                  </a:tcPr>
                </a:tc>
                <a:tc>
                  <a:txBody>
                    <a:bodyPr/>
                    <a:lstStyle/>
                    <a:p>
                      <a:pPr algn="l"/>
                      <a:r>
                        <a:rPr sz="1800" b="0">
                          <a:solidFill>
                            <a:srgbClr val="163047"/>
                          </a:solidFill>
                          <a:latin typeface="Arial"/>
                          <a:ea typeface="Arial"/>
                          <a:cs typeface="Arial"/>
                        </a:rPr>
                        <a:t>0.00304</a:t>
                      </a:r>
                    </a:p>
                  </a:txBody>
                  <a:tcPr marL="91440" marR="91440" marT="45720" marB="45720" anchor="ctr">
                    <a:solidFill>
                      <a:srgbClr val="EAF3F7"/>
                    </a:solidFill>
                  </a:tcPr>
                </a:tc>
                <a:tc>
                  <a:txBody>
                    <a:bodyPr/>
                    <a:lstStyle/>
                    <a:p>
                      <a:pPr algn="l"/>
                      <a:r>
                        <a:rPr sz="1800" b="0">
                          <a:solidFill>
                            <a:srgbClr val="163047"/>
                          </a:solidFill>
                          <a:latin typeface="Arial"/>
                          <a:ea typeface="Arial"/>
                          <a:cs typeface="Arial"/>
                        </a:rPr>
                        <a:t>27.9%</a:t>
                      </a:r>
                    </a:p>
                  </a:txBody>
                  <a:tcPr marL="91440" marR="91440" marT="45720" marB="45720" anchor="ctr">
                    <a:solidFill>
                      <a:srgbClr val="EAF3F7"/>
                    </a:solidFill>
                  </a:tcPr>
                </a:tc>
                <a:tc>
                  <a:txBody>
                    <a:bodyPr/>
                    <a:lstStyle/>
                    <a:p>
                      <a:pPr algn="l"/>
                      <a:r>
                        <a:rPr sz="1800" b="0">
                          <a:solidFill>
                            <a:srgbClr val="163047"/>
                          </a:solidFill>
                          <a:latin typeface="Arial"/>
                          <a:ea typeface="Arial"/>
                          <a:cs typeface="Arial"/>
                        </a:rPr>
                        <a:t>0.0820</a:t>
                      </a:r>
                    </a:p>
                  </a:txBody>
                  <a:tcPr marL="91440" marR="91440" marT="45720" marB="45720" anchor="ctr">
                    <a:solidFill>
                      <a:srgbClr val="EAF3F7"/>
                    </a:solidFill>
                  </a:tcPr>
                </a:tc>
                <a:tc>
                  <a:txBody>
                    <a:bodyPr/>
                    <a:lstStyle/>
                    <a:p>
                      <a:pPr algn="l"/>
                      <a:r>
                        <a:rPr sz="1800" b="0">
                          <a:solidFill>
                            <a:srgbClr val="163047"/>
                          </a:solidFill>
                          <a:latin typeface="Arial"/>
                          <a:ea typeface="Arial"/>
                          <a:cs typeface="Arial"/>
                        </a:rPr>
                        <a:t>9/10</a:t>
                      </a:r>
                    </a:p>
                  </a:txBody>
                  <a:tcPr marL="91440" marR="91440" marT="45720" marB="45720" anchor="ctr">
                    <a:solidFill>
                      <a:srgbClr val="EAF3F7"/>
                    </a:solidFill>
                  </a:tcPr>
                </a:tc>
              </a:tr>
              <a:tr h="552450">
                <a:tc>
                  <a:txBody>
                    <a:bodyPr/>
                    <a:lstStyle/>
                    <a:p>
                      <a:pPr algn="l"/>
                      <a:r>
                        <a:rPr sz="1800" b="0">
                          <a:solidFill>
                            <a:srgbClr val="163047"/>
                          </a:solidFill>
                          <a:latin typeface="Arial"/>
                          <a:ea typeface="Arial"/>
                          <a:cs typeface="Arial"/>
                        </a:rPr>
                        <a:t>HUST</a:t>
                      </a:r>
                    </a:p>
                  </a:txBody>
                  <a:tcPr marL="91440" marR="91440" marT="45720" marB="45720" anchor="ctr">
                    <a:solidFill>
                      <a:srgbClr val="FFFFFF"/>
                    </a:solidFill>
                  </a:tcPr>
                </a:tc>
                <a:tc>
                  <a:txBody>
                    <a:bodyPr/>
                    <a:lstStyle/>
                    <a:p>
                      <a:pPr algn="l"/>
                      <a:r>
                        <a:rPr sz="1800" b="0">
                          <a:solidFill>
                            <a:srgbClr val="163047"/>
                          </a:solidFill>
                          <a:latin typeface="Arial"/>
                          <a:ea typeface="Arial"/>
                          <a:cs typeface="Arial"/>
                        </a:rPr>
                        <a:t>0.01829</a:t>
                      </a:r>
                    </a:p>
                  </a:txBody>
                  <a:tcPr marL="91440" marR="91440" marT="45720" marB="45720" anchor="ctr">
                    <a:solidFill>
                      <a:srgbClr val="FFFFFF"/>
                    </a:solidFill>
                  </a:tcPr>
                </a:tc>
                <a:tc>
                  <a:txBody>
                    <a:bodyPr/>
                    <a:lstStyle/>
                    <a:p>
                      <a:pPr algn="l"/>
                      <a:r>
                        <a:rPr sz="1800" b="0">
                          <a:solidFill>
                            <a:srgbClr val="163047"/>
                          </a:solidFill>
                          <a:latin typeface="Arial"/>
                          <a:ea typeface="Arial"/>
                          <a:cs typeface="Arial"/>
                        </a:rPr>
                        <a:t>0.01648</a:t>
                      </a:r>
                    </a:p>
                  </a:txBody>
                  <a:tcPr marL="91440" marR="91440" marT="45720" marB="45720" anchor="ctr">
                    <a:solidFill>
                      <a:srgbClr val="FFFFFF"/>
                    </a:solidFill>
                  </a:tcPr>
                </a:tc>
                <a:tc>
                  <a:txBody>
                    <a:bodyPr/>
                    <a:lstStyle/>
                    <a:p>
                      <a:pPr algn="l"/>
                      <a:r>
                        <a:rPr sz="1800" b="0">
                          <a:solidFill>
                            <a:srgbClr val="163047"/>
                          </a:solidFill>
                          <a:latin typeface="Arial"/>
                          <a:ea typeface="Arial"/>
                          <a:cs typeface="Arial"/>
                        </a:rPr>
                        <a:t>9.9%</a:t>
                      </a:r>
                    </a:p>
                  </a:txBody>
                  <a:tcPr marL="91440" marR="91440" marT="45720" marB="45720" anchor="ctr">
                    <a:solidFill>
                      <a:srgbClr val="FFFFFF"/>
                    </a:solidFill>
                  </a:tcPr>
                </a:tc>
                <a:tc>
                  <a:txBody>
                    <a:bodyPr/>
                    <a:lstStyle/>
                    <a:p>
                      <a:pPr algn="l"/>
                      <a:r>
                        <a:rPr sz="1800" b="0">
                          <a:solidFill>
                            <a:srgbClr val="163047"/>
                          </a:solidFill>
                          <a:latin typeface="Arial"/>
                          <a:ea typeface="Arial"/>
                          <a:cs typeface="Arial"/>
                        </a:rPr>
                        <a:t>0.0820</a:t>
                      </a:r>
                    </a:p>
                  </a:txBody>
                  <a:tcPr marL="91440" marR="91440" marT="45720" marB="45720" anchor="ctr">
                    <a:solidFill>
                      <a:srgbClr val="FFFFFF"/>
                    </a:solidFill>
                  </a:tcPr>
                </a:tc>
                <a:tc>
                  <a:txBody>
                    <a:bodyPr/>
                    <a:lstStyle/>
                    <a:p>
                      <a:pPr algn="l"/>
                      <a:r>
                        <a:rPr sz="1800" b="0">
                          <a:solidFill>
                            <a:srgbClr val="163047"/>
                          </a:solidFill>
                          <a:latin typeface="Arial"/>
                          <a:ea typeface="Arial"/>
                          <a:cs typeface="Arial"/>
                        </a:rPr>
                        <a:t>8/10</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AB0EA88-D7EA-4706-8F9E-05C5BC501CAB}"/>
              </a:ext>
            </a:extLst>
          </p:cNvPr>
          <p:cNvSpPr>
            <a:spLocks xmlns:a="http://schemas.openxmlformats.org/drawingml/2006/main" noGrp="1"/>
          </p:cNvSpPr>
          <p:nvPr/>
        </p:nvSpPr>
        <p:spPr>
          <a:xfrm xmlns:a="http://schemas.openxmlformats.org/drawingml/2006/main">
            <a:off x="619125" y="459105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1">
                <a:solidFill>
                  <a:srgbClr val="A64D2B"/>
                </a:solidFill>
                <a:latin typeface="Arial"/>
                <a:ea typeface="Arial"/>
                <a:cs typeface="Arial"/>
              </a:defRPr>
            </a:pPr>
            <a:r>
              <a:rPr sz="2325" b="1">
                <a:solidFill>
                  <a:srgbClr val="A64D2B"/>
                </a:solidFill>
                <a:latin typeface="Arial"/>
                <a:ea typeface="Arial"/>
                <a:cs typeface="Arial"/>
              </a:rPr>
              <a:t>Chưa bộ nào đạt p Holm &lt; 0,05</a:t>
            </a:r>
          </a:p>
        </p:txBody>
      </p:sp>
      <p:sp>
        <p:nvSpPr>
          <p:cNvPr id="7" name="">
            <a:extLst xmlns:a="http://schemas.openxmlformats.org/drawingml/2006/main">
              <a:ext uri="{FF2B5EF4-FFF2-40B4-BE49-F238E27FC236}">
                <a16:creationId xmlns:a16="http://schemas.microsoft.com/office/drawing/2014/main" id="{C7383712-C1CF-46E3-92A9-FF172449CC92}"/>
              </a:ext>
            </a:extLst>
          </p:cNvPr>
          <p:cNvSpPr>
            <a:spLocks xmlns:a="http://schemas.openxmlformats.org/drawingml/2006/main" noGrp="1"/>
          </p:cNvSpPr>
          <p:nvPr/>
        </p:nvSpPr>
        <p:spPr>
          <a:xfrm xmlns:a="http://schemas.openxmlformats.org/drawingml/2006/main">
            <a:off x="619125" y="521970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163047"/>
                </a:solidFill>
                <a:latin typeface="Arial"/>
                <a:ea typeface="Arial"/>
                <a:cs typeface="Arial"/>
              </a:defRPr>
            </a:pPr>
            <a:r>
              <a:rPr sz="1875" b="0">
                <a:solidFill>
                  <a:srgbClr val="163047"/>
                </a:solidFill>
                <a:latin typeface="Arial"/>
                <a:ea typeface="Arial"/>
                <a:cs typeface="Arial"/>
              </a:rPr>
              <a:t>E1 trên TJU còn cho PINN kém hơn MLP: tỉ số 1,167, p Holm = 0,0078.</a:t>
            </a:r>
          </a:p>
        </p:txBody>
      </p:sp>
      <p:sp>
        <p:nvSpPr>
          <p:cNvPr id="8" name="">
            <a:extLst xmlns:a="http://schemas.openxmlformats.org/drawingml/2006/main">
              <a:ext uri="{FF2B5EF4-FFF2-40B4-BE49-F238E27FC236}">
                <a16:creationId xmlns:a16="http://schemas.microsoft.com/office/drawing/2014/main" id="{AF995E46-4EAE-4B4F-932A-1F446AE7A35F}"/>
              </a:ext>
            </a:extLst>
          </p:cNvPr>
          <p:cNvSpPr>
            <a:spLocks xmlns:a="http://schemas.openxmlformats.org/drawingml/2006/main" noGrp="1"/>
          </p:cNvSpPr>
          <p:nvPr/>
        </p:nvSpPr>
        <p:spPr>
          <a:xfrm xmlns:a="http://schemas.openxmlformats.org/drawingml/2006/main">
            <a:off x="619125" y="6105525"/>
            <a:ext cx="1071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526778"/>
                </a:solidFill>
                <a:latin typeface="Arial"/>
                <a:ea typeface="Arial"/>
                <a:cs typeface="Arial"/>
              </a:defRPr>
            </a:pPr>
            <a:r>
              <a:rPr sz="1275" b="0">
                <a:solidFill>
                  <a:srgbClr val="526778"/>
                </a:solidFill>
                <a:latin typeface="Arial"/>
                <a:ea typeface="Arial"/>
                <a:cs typeface="Arial"/>
              </a:rPr>
              <a:t>p lớn không chứng minh tương đương. Kết luận hiện tại: cải thiện có triển vọng, phụ thuộc cấu hình.</a:t>
            </a:r>
          </a:p>
        </p:txBody>
      </p:sp>
    </p:spTree>
    <p:extLst>
      <p:ext uri="{BB962C8B-B14F-4D97-AF65-F5344CB8AC3E}">
        <p14:creationId xmlns:p14="http://schemas.microsoft.com/office/powerpoint/2010/main" val="114912629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1FBBB9A-3082-4B79-814C-DFC56C5D80D3}"/>
              </a:ext>
            </a:extLst>
          </p:cNvPr>
          <p:cNvSpPr>
            <a:spLocks xmlns:a="http://schemas.openxmlformats.org/drawingml/2006/main" noGrp="1"/>
          </p:cNvSpPr>
          <p:nvPr/>
        </p:nvSpPr>
        <p:spPr>
          <a:xfrm xmlns:a="http://schemas.openxmlformats.org/drawingml/2006/main">
            <a:off x="0" y="0"/>
            <a:ext cx="12192000" cy="952500"/>
          </a:xfrm>
          <a:prstGeom xmlns:a="http://schemas.openxmlformats.org/drawingml/2006/main" prst="rect">
            <a:avLst/>
          </a:prstGeom>
          <a:solidFill xmlns:a="http://schemas.openxmlformats.org/drawingml/2006/main">
            <a:srgbClr val="20567B"/>
          </a:solidFill>
          <a:ln xmlns:a="http://schemas.openxmlformats.org/drawingml/2006/main" w="9525">
            <a:solidFill>
              <a:srgbClr val="20567B"/>
            </a:solidFill>
          </a:ln>
        </p:spPr>
      </p:sp>
      <p:sp>
        <p:nvSpPr>
          <p:cNvPr id="2" name="">
            <a:extLst xmlns:a="http://schemas.openxmlformats.org/drawingml/2006/main">
              <a:ext uri="{FF2B5EF4-FFF2-40B4-BE49-F238E27FC236}">
                <a16:creationId xmlns:a16="http://schemas.microsoft.com/office/drawing/2014/main" id="{876A22C5-5262-4808-8536-199D5C1F8466}"/>
              </a:ext>
            </a:extLst>
          </p:cNvPr>
          <p:cNvSpPr>
            <a:spLocks xmlns:a="http://schemas.openxmlformats.org/drawingml/2006/main" noGrp="1"/>
          </p:cNvSpPr>
          <p:nvPr/>
        </p:nvSpPr>
        <p:spPr>
          <a:xfrm xmlns:a="http://schemas.openxmlformats.org/drawingml/2006/main">
            <a:off x="542925" y="66675"/>
            <a:ext cx="11239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Quỹ đạo SOH: XJTU và MIT</a:t>
            </a:r>
          </a:p>
        </p:txBody>
      </p:sp>
      <p:sp>
        <p:nvSpPr>
          <p:cNvPr id="3" name="">
            <a:extLst xmlns:a="http://schemas.openxmlformats.org/drawingml/2006/main">
              <a:ext uri="{FF2B5EF4-FFF2-40B4-BE49-F238E27FC236}">
                <a16:creationId xmlns:a16="http://schemas.microsoft.com/office/drawing/2014/main" id="{650C00EC-281F-4EC1-B4CA-234793762BEB}"/>
              </a:ext>
            </a:extLst>
          </p:cNvPr>
          <p:cNvSpPr>
            <a:spLocks xmlns:a="http://schemas.openxmlformats.org/drawingml/2006/main" noGrp="1"/>
          </p:cNvSpPr>
          <p:nvPr/>
        </p:nvSpPr>
        <p:spPr>
          <a:xfrm xmlns:a="http://schemas.openxmlformats.org/drawingml/2006/main">
            <a:off x="11144250" y="6400800"/>
            <a:ext cx="333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0:p xmlns:ns0="http://schemas.openxmlformats.org/drawingml/2006/main">
            <ns0:pPr algn="l">
              <ns0:defRPr sz="1200" b="1">
                <ns0:solidFill>
                  <ns0:srgbClr val="20567B"/>
                </ns0:solidFill>
                <ns0:latin typeface="Arial"/>
                <ns0:ea typeface="Arial"/>
                <ns0:cs typeface="Arial"/>
              </ns0:defRPr>
            </ns0:pPr>
            <ns0:r>
              <ns0:rPr sz="1200" b="1">
                <ns0:solidFill>
                  <ns0:srgbClr val="20567B"/>
                </ns0:solidFill>
                <ns0:latin typeface="Arial"/>
                <ns0:ea typeface="Arial"/>
                <ns0:cs typeface="Arial"/>
              </ns0:rPr>
              <ns0:t>12</ns0:t>
            </ns0:r>
          </ns0: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a4f806f53cc4a02"/>
          <a:stretch xmlns:a="http://schemas.openxmlformats.org/drawingml/2006/main"/>
        </p:blipFill>
        <p:spPr>
          <a:xfrm xmlns:a="http://schemas.openxmlformats.org/drawingml/2006/main">
            <a:off x="11696700" y="6384974"/>
            <a:ext cx="285750" cy="26025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C866633-3477-43F5-A04F-25FF15A92AF9}"/>
              </a:ext>
            </a:extLst>
          </p:cNvPr>
          <p:cNvSpPr>
            <a:spLocks xmlns:a="http://schemas.openxmlformats.org/drawingml/2006/main" noGrp="1"/>
          </p:cNvSpPr>
          <p:nvPr/>
        </p:nvSpPr>
        <p:spPr>
          <a:xfrm xmlns:a="http://schemas.openxmlformats.org/drawingml/2006/main">
            <a:off x="523875" y="1390650"/>
            <a:ext cx="5429250" cy="4324350"/>
          </a:xfrm>
          <a:prstGeom xmlns:a="http://schemas.openxmlformats.org/drawingml/2006/main" prst="rect">
            <a:avLst/>
          </a:prstGeom>
          <a:solidFill xmlns:a="http://schemas.openxmlformats.org/drawingml/2006/main">
            <a:srgbClr val="FFFFFF"/>
          </a:solidFill>
          <a:ln xmlns:a="http://schemas.openxmlformats.org/drawingml/2006/main" w="9525">
            <a:solidFill>
              <a:srgbClr val="A7BAC7"/>
            </a:solidFill>
          </a:ln>
        </p:spPr>
      </p:sp>
      <p:sp>
        <p:nvSpPr>
          <p:cNvPr id="6" name="">
            <a:extLst xmlns:a="http://schemas.openxmlformats.org/drawingml/2006/main">
              <a:ext uri="{FF2B5EF4-FFF2-40B4-BE49-F238E27FC236}">
                <a16:creationId xmlns:a16="http://schemas.microsoft.com/office/drawing/2014/main" id="{74F7086B-BA58-4A90-A6B0-E616130A43F9}"/>
              </a:ext>
            </a:extLst>
          </p:cNvPr>
          <p:cNvSpPr>
            <a:spLocks xmlns:a="http://schemas.openxmlformats.org/drawingml/2006/main" noGrp="1"/>
          </p:cNvSpPr>
          <p:nvPr/>
        </p:nvSpPr>
        <p:spPr>
          <a:xfrm xmlns:a="http://schemas.openxmlformats.org/drawingml/2006/main">
            <a:off x="666750" y="1447800"/>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1">
                <a:solidFill>
                  <a:srgbClr val="20567B"/>
                </a:solidFill>
                <a:latin typeface="Arial"/>
                <a:ea typeface="Arial"/>
                <a:cs typeface="Arial"/>
              </a:defRPr>
            </a:pPr>
            <a:r>
              <a:rPr sz="1800" b="1">
                <a:solidFill>
                  <a:srgbClr val="20567B"/>
                </a:solidFill>
                <a:latin typeface="Arial"/>
                <a:ea typeface="Arial"/>
                <a:cs typeface="Arial"/>
              </a:rPr>
              <a:t>XJTU · SOH theo chu kỳ</a:t>
            </a:r>
          </a:p>
        </p:txBody>
      </p:sp>
      <p:graphicFrame>
        <p:nvGraphicFramePr>
          <p:cNvPr id="20" name="Chart"/>
          <p:cNvGraphicFramePr/>
          <p:nvPr/>
        </p:nvGraphicFramePr>
        <p:xfrm>
          <a:off xmlns:a="http://schemas.openxmlformats.org/drawingml/2006/main" x="619125" y="1866900"/>
          <a:ext xmlns:a="http://schemas.openxmlformats.org/drawingml/2006/main" cx="5219700" cy="3048000"/>
        </p:xfrm>
        <a:graphic xmlns:a="http://schemas.openxmlformats.org/drawingml/2006/main">
          <a:graphicData uri="http://schemas.openxmlformats.org/drawingml/2006/chart">
            <c:chart xmlns:r="http://schemas.openxmlformats.org/officeDocument/2006/relationships" xmlns:c="http://schemas.openxmlformats.org/drawingml/2006/chart" r:id="R11d6dca4cfbb4bfd"/>
          </a:graphicData>
        </a:graphic>
      </p:graphicFrame>
      <p:sp>
        <p:nvSpPr>
          <p:cNvPr id="8" name="">
            <a:extLst xmlns:a="http://schemas.openxmlformats.org/drawingml/2006/main">
              <a:ext uri="{FF2B5EF4-FFF2-40B4-BE49-F238E27FC236}">
                <a16:creationId xmlns:a16="http://schemas.microsoft.com/office/drawing/2014/main" id="{8F59526D-8C7B-4B7D-91DF-1B6D8C6D077C}"/>
              </a:ext>
            </a:extLst>
          </p:cNvPr>
          <p:cNvSpPr>
            <a:spLocks xmlns:a="http://schemas.openxmlformats.org/drawingml/2006/main" noGrp="1"/>
          </p:cNvSpPr>
          <p:nvPr/>
        </p:nvSpPr>
        <p:spPr>
          <a:xfrm xmlns:a="http://schemas.openxmlformats.org/drawingml/2006/main">
            <a:off x="666750" y="515302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1">
                <a:solidFill>
                  <a:srgbClr val="20567B"/>
                </a:solidFill>
                <a:latin typeface="Arial"/>
                <a:ea typeface="Arial"/>
                <a:cs typeface="Arial"/>
              </a:defRPr>
            </a:pPr>
            <a:r>
              <a:rPr sz="1575" b="1">
                <a:solidFill>
                  <a:srgbClr val="20567B"/>
                </a:solidFill>
                <a:latin typeface="Arial"/>
                <a:ea typeface="Arial"/>
                <a:cs typeface="Arial"/>
              </a:rPr>
              <a:t>MAE cell: MLP 0.0081 · PINN 0.0092</a:t>
            </a:r>
          </a:p>
        </p:txBody>
      </p:sp>
      <p:sp>
        <p:nvSpPr>
          <p:cNvPr id="9" name="">
            <a:extLst xmlns:a="http://schemas.openxmlformats.org/drawingml/2006/main">
              <a:ext uri="{FF2B5EF4-FFF2-40B4-BE49-F238E27FC236}">
                <a16:creationId xmlns:a16="http://schemas.microsoft.com/office/drawing/2014/main" id="{01682341-191C-4432-BC44-D9EDCEDFD0D0}"/>
              </a:ext>
            </a:extLst>
          </p:cNvPr>
          <p:cNvSpPr>
            <a:spLocks xmlns:a="http://schemas.openxmlformats.org/drawingml/2006/main" noGrp="1"/>
          </p:cNvSpPr>
          <p:nvPr/>
        </p:nvSpPr>
        <p:spPr>
          <a:xfrm xmlns:a="http://schemas.openxmlformats.org/drawingml/2006/main">
            <a:off x="6238875" y="1390650"/>
            <a:ext cx="5429250" cy="4324350"/>
          </a:xfrm>
          <a:prstGeom xmlns:a="http://schemas.openxmlformats.org/drawingml/2006/main" prst="rect">
            <a:avLst/>
          </a:prstGeom>
          <a:solidFill xmlns:a="http://schemas.openxmlformats.org/drawingml/2006/main">
            <a:srgbClr val="FFFFFF"/>
          </a:solidFill>
          <a:ln xmlns:a="http://schemas.openxmlformats.org/drawingml/2006/main" w="9525">
            <a:solidFill>
              <a:srgbClr val="A7BAC7"/>
            </a:solidFill>
          </a:ln>
        </p:spPr>
      </p:sp>
      <p:sp>
        <p:nvSpPr>
          <p:cNvPr id="10" name="">
            <a:extLst xmlns:a="http://schemas.openxmlformats.org/drawingml/2006/main">
              <a:ext uri="{FF2B5EF4-FFF2-40B4-BE49-F238E27FC236}">
                <a16:creationId xmlns:a16="http://schemas.microsoft.com/office/drawing/2014/main" id="{4643D718-8298-44BB-9928-00138B6626F0}"/>
              </a:ext>
            </a:extLst>
          </p:cNvPr>
          <p:cNvSpPr>
            <a:spLocks xmlns:a="http://schemas.openxmlformats.org/drawingml/2006/main" noGrp="1"/>
          </p:cNvSpPr>
          <p:nvPr/>
        </p:nvSpPr>
        <p:spPr>
          <a:xfrm xmlns:a="http://schemas.openxmlformats.org/drawingml/2006/main">
            <a:off x="6381750" y="1447800"/>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1">
                <a:solidFill>
                  <a:srgbClr val="20567B"/>
                </a:solidFill>
                <a:latin typeface="Arial"/>
                <a:ea typeface="Arial"/>
                <a:cs typeface="Arial"/>
              </a:defRPr>
            </a:pPr>
            <a:r>
              <a:rPr sz="1800" b="1">
                <a:solidFill>
                  <a:srgbClr val="20567B"/>
                </a:solidFill>
                <a:latin typeface="Arial"/>
                <a:ea typeface="Arial"/>
                <a:cs typeface="Arial"/>
              </a:rPr>
              <a:t>MIT · SOH theo chu kỳ</a:t>
            </a:r>
          </a:p>
        </p:txBody>
      </p:sp>
      <p:graphicFrame>
        <p:nvGraphicFramePr>
          <p:cNvPr id="24" name="Chart"/>
          <p:cNvGraphicFramePr/>
          <p:nvPr/>
        </p:nvGraphicFramePr>
        <p:xfrm>
          <a:off xmlns:a="http://schemas.openxmlformats.org/drawingml/2006/main" x="6334125" y="1866900"/>
          <a:ext xmlns:a="http://schemas.openxmlformats.org/drawingml/2006/main" cx="5219700" cy="3048000"/>
        </p:xfrm>
        <a:graphic xmlns:a="http://schemas.openxmlformats.org/drawingml/2006/main">
          <a:graphicData uri="http://schemas.openxmlformats.org/drawingml/2006/chart">
            <c:chart xmlns:r="http://schemas.openxmlformats.org/officeDocument/2006/relationships" xmlns:c="http://schemas.openxmlformats.org/drawingml/2006/chart" r:id="R5a3cc0c87fa3467d"/>
          </a:graphicData>
        </a:graphic>
      </p:graphicFrame>
      <p:sp>
        <p:nvSpPr>
          <p:cNvPr id="12" name="">
            <a:extLst xmlns:a="http://schemas.openxmlformats.org/drawingml/2006/main">
              <a:ext uri="{FF2B5EF4-FFF2-40B4-BE49-F238E27FC236}">
                <a16:creationId xmlns:a16="http://schemas.microsoft.com/office/drawing/2014/main" id="{01861772-5E0D-4241-B4BD-E1178ACEAAD0}"/>
              </a:ext>
            </a:extLst>
          </p:cNvPr>
          <p:cNvSpPr>
            <a:spLocks xmlns:a="http://schemas.openxmlformats.org/drawingml/2006/main" noGrp="1"/>
          </p:cNvSpPr>
          <p:nvPr/>
        </p:nvSpPr>
        <p:spPr>
          <a:xfrm xmlns:a="http://schemas.openxmlformats.org/drawingml/2006/main">
            <a:off x="6381750" y="515302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1">
                <a:solidFill>
                  <a:srgbClr val="20567B"/>
                </a:solidFill>
                <a:latin typeface="Arial"/>
                <a:ea typeface="Arial"/>
                <a:cs typeface="Arial"/>
              </a:defRPr>
            </a:pPr>
            <a:r>
              <a:rPr sz="1575" b="1">
                <a:solidFill>
                  <a:srgbClr val="20567B"/>
                </a:solidFill>
                <a:latin typeface="Arial"/>
                <a:ea typeface="Arial"/>
                <a:cs typeface="Arial"/>
              </a:rPr>
              <a:t>MAE cell: MLP 0.0064 · PINN 0.0076</a:t>
            </a:r>
          </a:p>
        </p:txBody>
      </p:sp>
      <p:sp>
        <p:nvSpPr>
          <p:cNvPr id="13" name="">
            <a:extLst xmlns:a="http://schemas.openxmlformats.org/drawingml/2006/main">
              <a:ext uri="{FF2B5EF4-FFF2-40B4-BE49-F238E27FC236}">
                <a16:creationId xmlns:a16="http://schemas.microsoft.com/office/drawing/2014/main" id="{BDFF1750-813C-491B-BB26-A616FA4A897E}"/>
              </a:ext>
            </a:extLst>
          </p:cNvPr>
          <p:cNvSpPr>
            <a:spLocks xmlns:a="http://schemas.openxmlformats.org/drawingml/2006/main" noGrp="1"/>
          </p:cNvSpPr>
          <p:nvPr/>
        </p:nvSpPr>
        <p:spPr>
          <a:xfrm xmlns:a="http://schemas.openxmlformats.org/drawingml/2006/main">
            <a:off x="619125" y="6105525"/>
            <a:ext cx="1071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526778"/>
                </a:solidFill>
                <a:latin typeface="Arial"/>
                <a:ea typeface="Arial"/>
                <a:cs typeface="Arial"/>
              </a:defRPr>
            </a:pPr>
            <a:r>
              <a:rPr sz="1275" b="0">
                <a:solidFill>
                  <a:srgbClr val="526778"/>
                </a:solidFill>
                <a:latin typeface="Arial"/>
                <a:ea typeface="Arial"/>
                <a:cs typeface="Arial"/>
              </a:rPr>
              <a:t>Minh hoạ cell test đầu tiên, seed 0. Hiển thị khoảng 70 mốc, MAE tính trên toàn bộ quỹ đạo.</a:t>
            </a:r>
          </a:p>
        </p:txBody>
      </p:sp>
    </p:spTree>
    <p:extLst>
      <p:ext uri="{BB962C8B-B14F-4D97-AF65-F5344CB8AC3E}">
        <p14:creationId xmlns:p14="http://schemas.microsoft.com/office/powerpoint/2010/main" val="179063535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6725DEF-8C57-4EE3-A7E3-71A08D9C932B}"/>
              </a:ext>
            </a:extLst>
          </p:cNvPr>
          <p:cNvSpPr>
            <a:spLocks xmlns:a="http://schemas.openxmlformats.org/drawingml/2006/main" noGrp="1"/>
          </p:cNvSpPr>
          <p:nvPr/>
        </p:nvSpPr>
        <p:spPr>
          <a:xfrm xmlns:a="http://schemas.openxmlformats.org/drawingml/2006/main">
            <a:off x="0" y="0"/>
            <a:ext cx="12192000" cy="952500"/>
          </a:xfrm>
          <a:prstGeom xmlns:a="http://schemas.openxmlformats.org/drawingml/2006/main" prst="rect">
            <a:avLst/>
          </a:prstGeom>
          <a:solidFill xmlns:a="http://schemas.openxmlformats.org/drawingml/2006/main">
            <a:srgbClr val="20567B"/>
          </a:solidFill>
          <a:ln xmlns:a="http://schemas.openxmlformats.org/drawingml/2006/main" w="9525">
            <a:solidFill>
              <a:srgbClr val="20567B"/>
            </a:solidFill>
          </a:ln>
        </p:spPr>
      </p:sp>
      <p:sp>
        <p:nvSpPr>
          <p:cNvPr id="2" name="">
            <a:extLst xmlns:a="http://schemas.openxmlformats.org/drawingml/2006/main">
              <a:ext uri="{FF2B5EF4-FFF2-40B4-BE49-F238E27FC236}">
                <a16:creationId xmlns:a16="http://schemas.microsoft.com/office/drawing/2014/main" id="{9113FFAD-B58D-4C4D-B5B6-4AA425377041}"/>
              </a:ext>
            </a:extLst>
          </p:cNvPr>
          <p:cNvSpPr>
            <a:spLocks xmlns:a="http://schemas.openxmlformats.org/drawingml/2006/main" noGrp="1"/>
          </p:cNvSpPr>
          <p:nvPr/>
        </p:nvSpPr>
        <p:spPr>
          <a:xfrm xmlns:a="http://schemas.openxmlformats.org/drawingml/2006/main">
            <a:off x="542925" y="66675"/>
            <a:ext cx="11239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Quỹ đạo SOH: TJU và HUST</a:t>
            </a:r>
          </a:p>
        </p:txBody>
      </p:sp>
      <p:sp>
        <p:nvSpPr>
          <p:cNvPr id="3" name="">
            <a:extLst xmlns:a="http://schemas.openxmlformats.org/drawingml/2006/main">
              <a:ext uri="{FF2B5EF4-FFF2-40B4-BE49-F238E27FC236}">
                <a16:creationId xmlns:a16="http://schemas.microsoft.com/office/drawing/2014/main" id="{4C678199-9D6C-4A67-8720-C1A5681FE1DB}"/>
              </a:ext>
            </a:extLst>
          </p:cNvPr>
          <p:cNvSpPr>
            <a:spLocks xmlns:a="http://schemas.openxmlformats.org/drawingml/2006/main" noGrp="1"/>
          </p:cNvSpPr>
          <p:nvPr/>
        </p:nvSpPr>
        <p:spPr>
          <a:xfrm xmlns:a="http://schemas.openxmlformats.org/drawingml/2006/main">
            <a:off x="11144250" y="6400800"/>
            <a:ext cx="333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0:p xmlns:ns0="http://schemas.openxmlformats.org/drawingml/2006/main">
            <ns0:pPr algn="l">
              <ns0:defRPr sz="1200" b="1">
                <ns0:solidFill>
                  <ns0:srgbClr val="20567B"/>
                </ns0:solidFill>
                <ns0:latin typeface="Arial"/>
                <ns0:ea typeface="Arial"/>
                <ns0:cs typeface="Arial"/>
              </ns0:defRPr>
            </ns0:pPr>
            <ns0:r>
              <ns0:rPr sz="1200" b="1">
                <ns0:solidFill>
                  <ns0:srgbClr val="20567B"/>
                </ns0:solidFill>
                <ns0:latin typeface="Arial"/>
                <ns0:ea typeface="Arial"/>
                <ns0:cs typeface="Arial"/>
              </ns0:rPr>
              <ns0:t>13</ns0:t>
            </ns0:r>
          </ns0: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2bc28dcce3d345e6"/>
          <a:stretch xmlns:a="http://schemas.openxmlformats.org/drawingml/2006/main"/>
        </p:blipFill>
        <p:spPr>
          <a:xfrm xmlns:a="http://schemas.openxmlformats.org/drawingml/2006/main">
            <a:off x="11696700" y="6384974"/>
            <a:ext cx="285750" cy="26025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F793CB4-2DCF-4BD3-B01A-974CBC6FA03B}"/>
              </a:ext>
            </a:extLst>
          </p:cNvPr>
          <p:cNvSpPr>
            <a:spLocks xmlns:a="http://schemas.openxmlformats.org/drawingml/2006/main" noGrp="1"/>
          </p:cNvSpPr>
          <p:nvPr/>
        </p:nvSpPr>
        <p:spPr>
          <a:xfrm xmlns:a="http://schemas.openxmlformats.org/drawingml/2006/main">
            <a:off x="523875" y="1390650"/>
            <a:ext cx="5429250" cy="4324350"/>
          </a:xfrm>
          <a:prstGeom xmlns:a="http://schemas.openxmlformats.org/drawingml/2006/main" prst="rect">
            <a:avLst/>
          </a:prstGeom>
          <a:solidFill xmlns:a="http://schemas.openxmlformats.org/drawingml/2006/main">
            <a:srgbClr val="FFFFFF"/>
          </a:solidFill>
          <a:ln xmlns:a="http://schemas.openxmlformats.org/drawingml/2006/main" w="9525">
            <a:solidFill>
              <a:srgbClr val="A7BAC7"/>
            </a:solidFill>
          </a:ln>
        </p:spPr>
      </p:sp>
      <p:sp>
        <p:nvSpPr>
          <p:cNvPr id="6" name="">
            <a:extLst xmlns:a="http://schemas.openxmlformats.org/drawingml/2006/main">
              <a:ext uri="{FF2B5EF4-FFF2-40B4-BE49-F238E27FC236}">
                <a16:creationId xmlns:a16="http://schemas.microsoft.com/office/drawing/2014/main" id="{B15C3625-25B9-418D-91C6-B5E8C54D99CF}"/>
              </a:ext>
            </a:extLst>
          </p:cNvPr>
          <p:cNvSpPr>
            <a:spLocks xmlns:a="http://schemas.openxmlformats.org/drawingml/2006/main" noGrp="1"/>
          </p:cNvSpPr>
          <p:nvPr/>
        </p:nvSpPr>
        <p:spPr>
          <a:xfrm xmlns:a="http://schemas.openxmlformats.org/drawingml/2006/main">
            <a:off x="666750" y="1447800"/>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1">
                <a:solidFill>
                  <a:srgbClr val="20567B"/>
                </a:solidFill>
                <a:latin typeface="Arial"/>
                <a:ea typeface="Arial"/>
                <a:cs typeface="Arial"/>
              </a:defRPr>
            </a:pPr>
            <a:r>
              <a:rPr sz="1800" b="1">
                <a:solidFill>
                  <a:srgbClr val="20567B"/>
                </a:solidFill>
                <a:latin typeface="Arial"/>
                <a:ea typeface="Arial"/>
                <a:cs typeface="Arial"/>
              </a:rPr>
              <a:t>TJU · SOH theo chu kỳ</a:t>
            </a:r>
          </a:p>
        </p:txBody>
      </p:sp>
      <p:graphicFrame>
        <p:nvGraphicFramePr>
          <p:cNvPr id="20" name="Chart"/>
          <p:cNvGraphicFramePr/>
          <p:nvPr/>
        </p:nvGraphicFramePr>
        <p:xfrm>
          <a:off xmlns:a="http://schemas.openxmlformats.org/drawingml/2006/main" x="619125" y="1866900"/>
          <a:ext xmlns:a="http://schemas.openxmlformats.org/drawingml/2006/main" cx="5219700" cy="3048000"/>
        </p:xfrm>
        <a:graphic xmlns:a="http://schemas.openxmlformats.org/drawingml/2006/main">
          <a:graphicData uri="http://schemas.openxmlformats.org/drawingml/2006/chart">
            <c:chart xmlns:r="http://schemas.openxmlformats.org/officeDocument/2006/relationships" xmlns:c="http://schemas.openxmlformats.org/drawingml/2006/chart" r:id="R96becd0a56284dea"/>
          </a:graphicData>
        </a:graphic>
      </p:graphicFrame>
      <p:sp>
        <p:nvSpPr>
          <p:cNvPr id="8" name="">
            <a:extLst xmlns:a="http://schemas.openxmlformats.org/drawingml/2006/main">
              <a:ext uri="{FF2B5EF4-FFF2-40B4-BE49-F238E27FC236}">
                <a16:creationId xmlns:a16="http://schemas.microsoft.com/office/drawing/2014/main" id="{21E5DECC-CDCA-4BD5-B099-1DB9931C657B}"/>
              </a:ext>
            </a:extLst>
          </p:cNvPr>
          <p:cNvSpPr>
            <a:spLocks xmlns:a="http://schemas.openxmlformats.org/drawingml/2006/main" noGrp="1"/>
          </p:cNvSpPr>
          <p:nvPr/>
        </p:nvSpPr>
        <p:spPr>
          <a:xfrm xmlns:a="http://schemas.openxmlformats.org/drawingml/2006/main">
            <a:off x="666750" y="515302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1">
                <a:solidFill>
                  <a:srgbClr val="20567B"/>
                </a:solidFill>
                <a:latin typeface="Arial"/>
                <a:ea typeface="Arial"/>
                <a:cs typeface="Arial"/>
              </a:defRPr>
            </a:pPr>
            <a:r>
              <a:rPr sz="1575" b="1">
                <a:solidFill>
                  <a:srgbClr val="20567B"/>
                </a:solidFill>
                <a:latin typeface="Arial"/>
                <a:ea typeface="Arial"/>
                <a:cs typeface="Arial"/>
              </a:rPr>
              <a:t>MAE cell: MLP 0.0089 · PINN 0.0080</a:t>
            </a:r>
          </a:p>
        </p:txBody>
      </p:sp>
      <p:sp>
        <p:nvSpPr>
          <p:cNvPr id="9" name="">
            <a:extLst xmlns:a="http://schemas.openxmlformats.org/drawingml/2006/main">
              <a:ext uri="{FF2B5EF4-FFF2-40B4-BE49-F238E27FC236}">
                <a16:creationId xmlns:a16="http://schemas.microsoft.com/office/drawing/2014/main" id="{E212614A-DF0C-4F1F-883C-B0C57ABF43E9}"/>
              </a:ext>
            </a:extLst>
          </p:cNvPr>
          <p:cNvSpPr>
            <a:spLocks xmlns:a="http://schemas.openxmlformats.org/drawingml/2006/main" noGrp="1"/>
          </p:cNvSpPr>
          <p:nvPr/>
        </p:nvSpPr>
        <p:spPr>
          <a:xfrm xmlns:a="http://schemas.openxmlformats.org/drawingml/2006/main">
            <a:off x="6238875" y="1390650"/>
            <a:ext cx="5429250" cy="4324350"/>
          </a:xfrm>
          <a:prstGeom xmlns:a="http://schemas.openxmlformats.org/drawingml/2006/main" prst="rect">
            <a:avLst/>
          </a:prstGeom>
          <a:solidFill xmlns:a="http://schemas.openxmlformats.org/drawingml/2006/main">
            <a:srgbClr val="FFFFFF"/>
          </a:solidFill>
          <a:ln xmlns:a="http://schemas.openxmlformats.org/drawingml/2006/main" w="9525">
            <a:solidFill>
              <a:srgbClr val="A7BAC7"/>
            </a:solidFill>
          </a:ln>
        </p:spPr>
      </p:sp>
      <p:sp>
        <p:nvSpPr>
          <p:cNvPr id="10" name="">
            <a:extLst xmlns:a="http://schemas.openxmlformats.org/drawingml/2006/main">
              <a:ext uri="{FF2B5EF4-FFF2-40B4-BE49-F238E27FC236}">
                <a16:creationId xmlns:a16="http://schemas.microsoft.com/office/drawing/2014/main" id="{F6F98D81-B793-4A68-BD2A-6EBF4EF60019}"/>
              </a:ext>
            </a:extLst>
          </p:cNvPr>
          <p:cNvSpPr>
            <a:spLocks xmlns:a="http://schemas.openxmlformats.org/drawingml/2006/main" noGrp="1"/>
          </p:cNvSpPr>
          <p:nvPr/>
        </p:nvSpPr>
        <p:spPr>
          <a:xfrm xmlns:a="http://schemas.openxmlformats.org/drawingml/2006/main">
            <a:off x="6381750" y="1447800"/>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1">
                <a:solidFill>
                  <a:srgbClr val="20567B"/>
                </a:solidFill>
                <a:latin typeface="Arial"/>
                <a:ea typeface="Arial"/>
                <a:cs typeface="Arial"/>
              </a:defRPr>
            </a:pPr>
            <a:r>
              <a:rPr sz="1800" b="1">
                <a:solidFill>
                  <a:srgbClr val="20567B"/>
                </a:solidFill>
                <a:latin typeface="Arial"/>
                <a:ea typeface="Arial"/>
                <a:cs typeface="Arial"/>
              </a:rPr>
              <a:t>HUST · SOH theo chu kỳ</a:t>
            </a:r>
          </a:p>
        </p:txBody>
      </p:sp>
      <p:graphicFrame>
        <p:nvGraphicFramePr>
          <p:cNvPr id="24" name="Chart"/>
          <p:cNvGraphicFramePr/>
          <p:nvPr/>
        </p:nvGraphicFramePr>
        <p:xfrm>
          <a:off xmlns:a="http://schemas.openxmlformats.org/drawingml/2006/main" x="6334125" y="1866900"/>
          <a:ext xmlns:a="http://schemas.openxmlformats.org/drawingml/2006/main" cx="5219700" cy="3048000"/>
        </p:xfrm>
        <a:graphic xmlns:a="http://schemas.openxmlformats.org/drawingml/2006/main">
          <a:graphicData uri="http://schemas.openxmlformats.org/drawingml/2006/chart">
            <c:chart xmlns:r="http://schemas.openxmlformats.org/officeDocument/2006/relationships" xmlns:c="http://schemas.openxmlformats.org/drawingml/2006/chart" r:id="R0800aee9c9e24750"/>
          </a:graphicData>
        </a:graphic>
      </p:graphicFrame>
      <p:sp>
        <p:nvSpPr>
          <p:cNvPr id="12" name="">
            <a:extLst xmlns:a="http://schemas.openxmlformats.org/drawingml/2006/main">
              <a:ext uri="{FF2B5EF4-FFF2-40B4-BE49-F238E27FC236}">
                <a16:creationId xmlns:a16="http://schemas.microsoft.com/office/drawing/2014/main" id="{ED785841-DB05-40D7-99EC-B2853186EF7D}"/>
              </a:ext>
            </a:extLst>
          </p:cNvPr>
          <p:cNvSpPr>
            <a:spLocks xmlns:a="http://schemas.openxmlformats.org/drawingml/2006/main" noGrp="1"/>
          </p:cNvSpPr>
          <p:nvPr/>
        </p:nvSpPr>
        <p:spPr>
          <a:xfrm xmlns:a="http://schemas.openxmlformats.org/drawingml/2006/main">
            <a:off x="6381750" y="515302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1">
                <a:solidFill>
                  <a:srgbClr val="20567B"/>
                </a:solidFill>
                <a:latin typeface="Arial"/>
                <a:ea typeface="Arial"/>
                <a:cs typeface="Arial"/>
              </a:defRPr>
            </a:pPr>
            <a:r>
              <a:rPr sz="1575" b="1">
                <a:solidFill>
                  <a:srgbClr val="20567B"/>
                </a:solidFill>
                <a:latin typeface="Arial"/>
                <a:ea typeface="Arial"/>
                <a:cs typeface="Arial"/>
              </a:rPr>
              <a:t>MAE cell: MLP 0.0126 · PINN 0.0070</a:t>
            </a:r>
          </a:p>
        </p:txBody>
      </p:sp>
      <p:sp>
        <p:nvSpPr>
          <p:cNvPr id="13" name="">
            <a:extLst xmlns:a="http://schemas.openxmlformats.org/drawingml/2006/main">
              <a:ext uri="{FF2B5EF4-FFF2-40B4-BE49-F238E27FC236}">
                <a16:creationId xmlns:a16="http://schemas.microsoft.com/office/drawing/2014/main" id="{E843B334-4BB8-44CF-87F9-5BC5F7992831}"/>
              </a:ext>
            </a:extLst>
          </p:cNvPr>
          <p:cNvSpPr>
            <a:spLocks xmlns:a="http://schemas.openxmlformats.org/drawingml/2006/main" noGrp="1"/>
          </p:cNvSpPr>
          <p:nvPr/>
        </p:nvSpPr>
        <p:spPr>
          <a:xfrm xmlns:a="http://schemas.openxmlformats.org/drawingml/2006/main">
            <a:off x="619125" y="6105525"/>
            <a:ext cx="1071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526778"/>
                </a:solidFill>
                <a:latin typeface="Arial"/>
                <a:ea typeface="Arial"/>
                <a:cs typeface="Arial"/>
              </a:defRPr>
            </a:pPr>
            <a:r>
              <a:rPr sz="1275" b="0">
                <a:solidFill>
                  <a:srgbClr val="526778"/>
                </a:solidFill>
                <a:latin typeface="Arial"/>
                <a:ea typeface="Arial"/>
                <a:cs typeface="Arial"/>
              </a:rPr>
              <a:t>Minh hoạ cell test đầu tiên, seed 0. Hiển thị khoảng 70 mốc, MAE tính trên toàn bộ quỹ đạo.</a:t>
            </a:r>
          </a:p>
        </p:txBody>
      </p:sp>
    </p:spTree>
    <p:extLst>
      <p:ext uri="{BB962C8B-B14F-4D97-AF65-F5344CB8AC3E}">
        <p14:creationId xmlns:p14="http://schemas.microsoft.com/office/powerpoint/2010/main" val="150314494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5FB04B-B12C-4631-B076-CD6777BB6B3A}"/>
              </a:ext>
            </a:extLst>
          </p:cNvPr>
          <p:cNvSpPr>
            <a:spLocks xmlns:a="http://schemas.openxmlformats.org/drawingml/2006/main" noGrp="1"/>
          </p:cNvSpPr>
          <p:nvPr/>
        </p:nvSpPr>
        <p:spPr>
          <a:xfrm xmlns:a="http://schemas.openxmlformats.org/drawingml/2006/main">
            <a:off x="0" y="0"/>
            <a:ext cx="12192000" cy="952500"/>
          </a:xfrm>
          <a:prstGeom xmlns:a="http://schemas.openxmlformats.org/drawingml/2006/main" prst="rect">
            <a:avLst/>
          </a:prstGeom>
          <a:solidFill xmlns:a="http://schemas.openxmlformats.org/drawingml/2006/main">
            <a:srgbClr val="20567B"/>
          </a:solidFill>
          <a:ln xmlns:a="http://schemas.openxmlformats.org/drawingml/2006/main" w="9525">
            <a:solidFill>
              <a:srgbClr val="20567B"/>
            </a:solid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7AA6F03-01AD-4470-8796-2B097817A60E}"/>
              </a:ext>
            </a:extLst>
          </p:cNvPr>
          <p:cNvSpPr>
            <a:spLocks xmlns:a="http://schemas.openxmlformats.org/drawingml/2006/main" noGrp="1"/>
          </p:cNvSpPr>
          <p:nvPr/>
        </p:nvSpPr>
        <p:spPr>
          <a:xfrm xmlns:a="http://schemas.openxmlformats.org/drawingml/2006/main">
            <a:off x="542925" y="66675"/>
            <a:ext cx="11239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0:p xmlns:ns0="http://schemas.openxmlformats.org/drawingml/2006/main">
            <ns0:pPr algn="l">
              <ns0:defRPr sz="2700" b="1">
                <ns0:solidFill>
                  <ns0:srgbClr val="FFFFFF"/>
                </ns0:solidFill>
                <ns0:latin typeface="Arial"/>
                <ns0:ea typeface="Arial"/>
                <ns0:cs typeface="Arial"/>
              </ns0:defRPr>
            </ns0:pPr>
            <ns0:r>
              <ns0:rPr sz="2700" b="1">
                <ns0:solidFill>
                  <ns0:srgbClr val="FFFFFF"/>
                </ns0:solidFill>
                <ns0:latin typeface="Arial"/>
                <ns0:ea typeface="Arial"/>
                <ns0:cs typeface="Arial"/>
              </ns0:rPr>
              <ns0:t>E12: đối chứng sau tinh chỉnh siêu tham số (v1)</ns0:t>
            </ns0:r>
          </ns0:p>
        </p:txBody>
      </p:sp>
      <p:sp>
        <p:nvSpPr>
          <p:cNvPr id="3" name="">
            <a:extLst xmlns:a="http://schemas.openxmlformats.org/drawingml/2006/main">
              <a:ext uri="{FF2B5EF4-FFF2-40B4-BE49-F238E27FC236}">
                <a16:creationId xmlns:a16="http://schemas.microsoft.com/office/drawing/2014/main" id="{7A886837-19E4-4A12-A449-BD80AD58E63B}"/>
              </a:ext>
            </a:extLst>
          </p:cNvPr>
          <p:cNvSpPr>
            <a:spLocks xmlns:a="http://schemas.openxmlformats.org/drawingml/2006/main" noGrp="1"/>
          </p:cNvSpPr>
          <p:nvPr/>
        </p:nvSpPr>
        <p:spPr>
          <a:xfrm xmlns:a="http://schemas.openxmlformats.org/drawingml/2006/main">
            <a:off x="11144250" y="6400800"/>
            <a:ext cx="333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1:p xmlns:ns1="http://schemas.openxmlformats.org/drawingml/2006/main">
            <ns1:pPr algn="l">
              <ns1:defRPr sz="1200" b="1">
                <ns1:solidFill>
                  <ns1:srgbClr val="20567B"/>
                </ns1:solidFill>
                <ns1:latin typeface="Arial"/>
                <ns1:ea typeface="Arial"/>
                <ns1:cs typeface="Arial"/>
              </ns1:defRPr>
            </ns1:pPr>
            <ns1:r>
              <ns1:rPr sz="1200" b="1">
                <ns1:solidFill>
                  <ns1:srgbClr val="20567B"/>
                </ns1:solidFill>
                <ns1:latin typeface="Arial"/>
                <ns1:ea typeface="Arial"/>
                <ns1:cs typeface="Arial"/>
              </ns1:rPr>
              <ns1:t>14</ns1:t>
            </ns1:r>
          </ns1: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818d77d60bb4cff"/>
          <a:stretch xmlns:a="http://schemas.openxmlformats.org/drawingml/2006/main"/>
        </p:blipFill>
        <p:spPr>
          <a:xfrm xmlns:a="http://schemas.openxmlformats.org/drawingml/2006/main">
            <a:off x="11696700" y="6384974"/>
            <a:ext cx="285750" cy="260252"/>
          </a:xfrm>
          <a:prstGeom xmlns:a="http://schemas.openxmlformats.org/drawingml/2006/main" prst="rect">
            <a:avLst/>
          </a:prstGeom>
        </p:spPr>
      </p:pic>
      <p:graphicFrame>
        <p:nvGraphicFramePr>
          <p:cNvPr id="12" name=""/>
          <p:cNvGraphicFramePr/>
          <p:nvPr/>
        </p:nvGraphicFramePr>
        <p:xfrm>
          <a:off xmlns:a="http://schemas.openxmlformats.org/drawingml/2006/main" x="533400" y="1438275"/>
          <a:ext xmlns:a="http://schemas.openxmlformats.org/drawingml/2006/main" cx="11125200" cy="3790950"/>
        </p:xfrm>
        <a:graphic xmlns:a="http://schemas.openxmlformats.org/drawingml/2006/main">
          <a:graphicData uri="http://schemas.openxmlformats.org/drawingml/2006/table">
            <a:tbl>
              <a:tblPr/>
              <a:tblGrid>
                <a:gridCol w="2286000"/>
                <a:gridCol w="3238500"/>
                <a:gridCol w="3238500"/>
                <a:gridCol w="2362200"/>
              </a:tblGrid>
              <a:tr h="421217">
                <a:tc>
                  <a:txBody>
                    <a:bodyPr/>
                    <a:lstStyle/>
                    <a:p>
                      <a:pPr algn="l"/>
                      <a:r>
                        <a:rPr sz="1650" b="1">
                          <a:solidFill>
                            <a:srgbClr val="FFFFFF"/>
                          </a:solidFill>
                          <a:latin typeface="Arial"/>
                          <a:ea typeface="Arial"/>
                          <a:cs typeface="Arial"/>
                        </a:rPr>
                        <a:t>Bộ / nhãn</a:t>
                      </a:r>
                    </a:p>
                  </a:txBody>
                  <a:tcPr marL="91440" marR="91440" marT="45720" marB="45720" anchor="ctr">
                    <a:solidFill>
                      <a:srgbClr val="20567B"/>
                    </a:solidFill>
                  </a:tcPr>
                </a:tc>
                <a:tc>
                  <a:txBody>
                    <a:bodyPr/>
                    <a:lstStyle/>
                    <a:p>
                      <a:pPr algn="l"/>
                      <a:r>
                        <a:rPr sz="1650" b="1">
                          <a:solidFill>
                            <a:srgbClr val="FFFFFF"/>
                          </a:solidFill>
                          <a:latin typeface="Arial"/>
                          <a:ea typeface="Arial"/>
                          <a:cs typeface="Arial"/>
                        </a:rPr>
                        <a:t>MLP: TB ± SD</a:t>
                      </a:r>
                    </a:p>
                  </a:txBody>
                  <a:tcPr marL="91440" marR="91440" marT="45720" marB="45720" anchor="ctr">
                    <a:solidFill>
                      <a:srgbClr val="20567B"/>
                    </a:solidFill>
                  </a:tcPr>
                </a:tc>
                <a:tc>
                  <a:txBody>
                    <a:bodyPr/>
                    <a:lstStyle/>
                    <a:p>
                      <a:pPr algn="l"/>
                      <a:r>
                        <a:rPr sz="1650" b="1">
                          <a:solidFill>
                            <a:srgbClr val="FFFFFF"/>
                          </a:solidFill>
                          <a:latin typeface="Arial"/>
                          <a:ea typeface="Arial"/>
                          <a:cs typeface="Arial"/>
                        </a:rPr>
                        <a:t>PINN: TB ± SD</a:t>
                      </a:r>
                    </a:p>
                  </a:txBody>
                  <a:tcPr marL="91440" marR="91440" marT="45720" marB="45720" anchor="ctr">
                    <a:solidFill>
                      <a:srgbClr val="20567B"/>
                    </a:solidFill>
                  </a:tcPr>
                </a:tc>
                <a:tc>
                  <a:txBody>
                    <a:bodyPr/>
                    <a:lstStyle/>
                    <a:p>
                      <a:pPr algn="l"/>
                      <a:r>
                        <a:rPr sz="1650" b="1">
                          <a:solidFill>
                            <a:srgbClr val="FFFFFF"/>
                          </a:solidFill>
                          <a:latin typeface="Arial"/>
                          <a:ea typeface="Arial"/>
                          <a:cs typeface="Arial"/>
                        </a:rPr>
                        <a:t>PINN / MLP</a:t>
                      </a:r>
                    </a:p>
                  </a:txBody>
                  <a:tcPr marL="91440" marR="91440" marT="45720" marB="45720" anchor="ctr">
                    <a:solidFill>
                      <a:srgbClr val="20567B"/>
                    </a:solidFill>
                  </a:tcPr>
                </a:tc>
              </a:tr>
              <a:tr h="421217">
                <a:tc>
                  <a:txBody>
                    <a:bodyPr/>
                    <a:lstStyle/>
                    <a:p>
                      <a:pPr algn="l"/>
                      <a:r>
                        <a:rPr sz="1650" b="0">
                          <a:solidFill>
                            <a:srgbClr val="163047"/>
                          </a:solidFill>
                          <a:latin typeface="Arial"/>
                          <a:ea typeface="Arial"/>
                          <a:cs typeface="Arial"/>
                        </a:rPr>
                        <a:t>HUST / 30%</a:t>
                      </a:r>
                    </a:p>
                  </a:txBody>
                  <a:tcPr marL="91440" marR="91440" marT="45720" marB="45720" anchor="ctr">
                    <a:solidFill>
                      <a:srgbClr val="EAF3F7"/>
                    </a:solidFill>
                  </a:tcPr>
                </a:tc>
                <a:tc>
                  <a:txBody>
                    <a:bodyPr/>
                    <a:lstStyle/>
                    <a:p>
                      <a:pPr algn="l"/>
                      <a:r>
                        <a:rPr sz="1650" b="0">
                          <a:solidFill>
                            <a:srgbClr val="163047"/>
                          </a:solidFill>
                          <a:latin typeface="Arial"/>
                          <a:ea typeface="Arial"/>
                          <a:cs typeface="Arial"/>
                        </a:rPr>
                        <a:t>0.0193 ± 0.0016</a:t>
                      </a:r>
                    </a:p>
                  </a:txBody>
                  <a:tcPr marL="91440" marR="91440" marT="45720" marB="45720" anchor="ctr">
                    <a:solidFill>
                      <a:srgbClr val="EAF3F7"/>
                    </a:solidFill>
                  </a:tcPr>
                </a:tc>
                <a:tc>
                  <a:txBody>
                    <a:bodyPr/>
                    <a:lstStyle/>
                    <a:p>
                      <a:pPr algn="l"/>
                      <a:r>
                        <a:rPr sz="1650" b="0">
                          <a:solidFill>
                            <a:srgbClr val="163047"/>
                          </a:solidFill>
                          <a:latin typeface="Arial"/>
                          <a:ea typeface="Arial"/>
                          <a:cs typeface="Arial"/>
                        </a:rPr>
                        <a:t>0.0173 ± 0.0026</a:t>
                      </a:r>
                    </a:p>
                  </a:txBody>
                  <a:tcPr marL="91440" marR="91440" marT="45720" marB="45720" anchor="ctr">
                    <a:solidFill>
                      <a:srgbClr val="EAF3F7"/>
                    </a:solidFill>
                  </a:tcPr>
                </a:tc>
                <a:tc>
                  <a:txBody>
                    <a:bodyPr/>
                    <a:lstStyle/>
                    <a:p>
                      <a:pPr algn="l"/>
                      <a:r>
                        <a:rPr sz="1650" b="0">
                          <a:solidFill>
                            <a:srgbClr val="163047"/>
                          </a:solidFill>
                          <a:latin typeface="Arial"/>
                          <a:ea typeface="Arial"/>
                          <a:cs typeface="Arial"/>
                        </a:rPr>
                        <a:t>0.895</a:t>
                      </a:r>
                    </a:p>
                  </a:txBody>
                  <a:tcPr marL="91440" marR="91440" marT="45720" marB="45720" anchor="ctr">
                    <a:solidFill>
                      <a:srgbClr val="EAF3F7"/>
                    </a:solidFill>
                  </a:tcPr>
                </a:tc>
              </a:tr>
              <a:tr h="421217">
                <a:tc>
                  <a:txBody>
                    <a:bodyPr/>
                    <a:lstStyle/>
                    <a:p>
                      <a:pPr algn="l"/>
                      <a:r>
                        <a:rPr sz="1650" b="0">
                          <a:solidFill>
                            <a:srgbClr val="163047"/>
                          </a:solidFill>
                          <a:latin typeface="Arial"/>
                          <a:ea typeface="Arial"/>
                          <a:cs typeface="Arial"/>
                        </a:rPr>
                        <a:t>HUST / 70%</a:t>
                      </a:r>
                    </a:p>
                  </a:txBody>
                  <a:tcPr marL="91440" marR="91440" marT="45720" marB="45720" anchor="ctr">
                    <a:solidFill>
                      <a:srgbClr val="FFFFFF"/>
                    </a:solidFill>
                  </a:tcPr>
                </a:tc>
                <a:tc>
                  <a:txBody>
                    <a:bodyPr/>
                    <a:lstStyle/>
                    <a:p>
                      <a:pPr algn="l"/>
                      <a:r>
                        <a:rPr sz="1650" b="0">
                          <a:solidFill>
                            <a:srgbClr val="163047"/>
                          </a:solidFill>
                          <a:latin typeface="Arial"/>
                          <a:ea typeface="Arial"/>
                          <a:cs typeface="Arial"/>
                        </a:rPr>
                        <a:t>0.0152 ± 0.0007</a:t>
                      </a:r>
                    </a:p>
                  </a:txBody>
                  <a:tcPr marL="91440" marR="91440" marT="45720" marB="45720" anchor="ctr">
                    <a:solidFill>
                      <a:srgbClr val="FFFFFF"/>
                    </a:solidFill>
                  </a:tcPr>
                </a:tc>
                <a:tc>
                  <a:txBody>
                    <a:bodyPr/>
                    <a:lstStyle/>
                    <a:p>
                      <a:pPr algn="l"/>
                      <a:r>
                        <a:rPr sz="1650" b="0">
                          <a:solidFill>
                            <a:srgbClr val="163047"/>
                          </a:solidFill>
                          <a:latin typeface="Arial"/>
                          <a:ea typeface="Arial"/>
                          <a:cs typeface="Arial"/>
                        </a:rPr>
                        <a:t>0.0132 ± 0.0021</a:t>
                      </a:r>
                    </a:p>
                  </a:txBody>
                  <a:tcPr marL="91440" marR="91440" marT="45720" marB="45720" anchor="ctr">
                    <a:solidFill>
                      <a:srgbClr val="FFFFFF"/>
                    </a:solidFill>
                  </a:tcPr>
                </a:tc>
                <a:tc>
                  <a:txBody>
                    <a:bodyPr/>
                    <a:lstStyle/>
                    <a:p>
                      <a:pPr algn="l"/>
                      <a:r>
                        <a:rPr sz="1650" b="0">
                          <a:solidFill>
                            <a:srgbClr val="163047"/>
                          </a:solidFill>
                          <a:latin typeface="Arial"/>
                          <a:ea typeface="Arial"/>
                          <a:cs typeface="Arial"/>
                        </a:rPr>
                        <a:t>0.866</a:t>
                      </a:r>
                    </a:p>
                  </a:txBody>
                  <a:tcPr marL="91440" marR="91440" marT="45720" marB="45720" anchor="ctr">
                    <a:solidFill>
                      <a:srgbClr val="FFFFFF"/>
                    </a:solidFill>
                  </a:tcPr>
                </a:tc>
              </a:tr>
              <a:tr h="421217">
                <a:tc>
                  <a:txBody>
                    <a:bodyPr/>
                    <a:lstStyle/>
                    <a:p>
                      <a:pPr algn="l"/>
                      <a:r>
                        <a:rPr sz="1650" b="0">
                          <a:solidFill>
                            <a:srgbClr val="163047"/>
                          </a:solidFill>
                          <a:latin typeface="Arial"/>
                          <a:ea typeface="Arial"/>
                          <a:cs typeface="Arial"/>
                        </a:rPr>
                        <a:t>MIT / 30%</a:t>
                      </a:r>
                    </a:p>
                  </a:txBody>
                  <a:tcPr marL="91440" marR="91440" marT="45720" marB="45720" anchor="ctr">
                    <a:solidFill>
                      <a:srgbClr val="EAF3F7"/>
                    </a:solidFill>
                  </a:tcPr>
                </a:tc>
                <a:tc>
                  <a:txBody>
                    <a:bodyPr/>
                    <a:lstStyle/>
                    <a:p>
                      <a:pPr algn="l"/>
                      <a:r>
                        <a:rPr sz="1650" b="0">
                          <a:solidFill>
                            <a:srgbClr val="163047"/>
                          </a:solidFill>
                          <a:latin typeface="Arial"/>
                          <a:ea typeface="Arial"/>
                          <a:cs typeface="Arial"/>
                        </a:rPr>
                        <a:t>0.0048 ± 0.0014</a:t>
                      </a:r>
                    </a:p>
                  </a:txBody>
                  <a:tcPr marL="91440" marR="91440" marT="45720" marB="45720" anchor="ctr">
                    <a:solidFill>
                      <a:srgbClr val="EAF3F7"/>
                    </a:solidFill>
                  </a:tcPr>
                </a:tc>
                <a:tc>
                  <a:txBody>
                    <a:bodyPr/>
                    <a:lstStyle/>
                    <a:p>
                      <a:pPr algn="l"/>
                      <a:r>
                        <a:rPr sz="1650" b="0">
                          <a:solidFill>
                            <a:srgbClr val="163047"/>
                          </a:solidFill>
                          <a:latin typeface="Arial"/>
                          <a:ea typeface="Arial"/>
                          <a:cs typeface="Arial"/>
                        </a:rPr>
                        <a:t>0.0039 ± 0.0008</a:t>
                      </a:r>
                    </a:p>
                  </a:txBody>
                  <a:tcPr marL="91440" marR="91440" marT="45720" marB="45720" anchor="ctr">
                    <a:solidFill>
                      <a:srgbClr val="EAF3F7"/>
                    </a:solidFill>
                  </a:tcPr>
                </a:tc>
                <a:tc>
                  <a:txBody>
                    <a:bodyPr/>
                    <a:lstStyle/>
                    <a:p>
                      <a:pPr algn="l"/>
                      <a:r>
                        <a:rPr sz="1650" b="0">
                          <a:solidFill>
                            <a:srgbClr val="163047"/>
                          </a:solidFill>
                          <a:latin typeface="Arial"/>
                          <a:ea typeface="Arial"/>
                          <a:cs typeface="Arial"/>
                        </a:rPr>
                        <a:t>0.811</a:t>
                      </a:r>
                    </a:p>
                  </a:txBody>
                  <a:tcPr marL="91440" marR="91440" marT="45720" marB="45720" anchor="ctr">
                    <a:solidFill>
                      <a:srgbClr val="EAF3F7"/>
                    </a:solidFill>
                  </a:tcPr>
                </a:tc>
              </a:tr>
              <a:tr h="421217">
                <a:tc>
                  <a:txBody>
                    <a:bodyPr/>
                    <a:lstStyle/>
                    <a:p>
                      <a:pPr algn="l"/>
                      <a:r>
                        <a:rPr sz="1650" b="0">
                          <a:solidFill>
                            <a:srgbClr val="163047"/>
                          </a:solidFill>
                          <a:latin typeface="Arial"/>
                          <a:ea typeface="Arial"/>
                          <a:cs typeface="Arial"/>
                        </a:rPr>
                        <a:t>MIT / 70%</a:t>
                      </a:r>
                    </a:p>
                  </a:txBody>
                  <a:tcPr marL="91440" marR="91440" marT="45720" marB="45720" anchor="ctr">
                    <a:solidFill>
                      <a:srgbClr val="FFFFFF"/>
                    </a:solidFill>
                  </a:tcPr>
                </a:tc>
                <a:tc>
                  <a:txBody>
                    <a:bodyPr/>
                    <a:lstStyle/>
                    <a:p>
                      <a:pPr algn="l"/>
                      <a:r>
                        <a:rPr sz="1650" b="0">
                          <a:solidFill>
                            <a:srgbClr val="163047"/>
                          </a:solidFill>
                          <a:latin typeface="Arial"/>
                          <a:ea typeface="Arial"/>
                          <a:cs typeface="Arial"/>
                        </a:rPr>
                        <a:t>0.0062 ± 0.0005</a:t>
                      </a:r>
                    </a:p>
                  </a:txBody>
                  <a:tcPr marL="91440" marR="91440" marT="45720" marB="45720" anchor="ctr">
                    <a:solidFill>
                      <a:srgbClr val="FFFFFF"/>
                    </a:solidFill>
                  </a:tcPr>
                </a:tc>
                <a:tc>
                  <a:txBody>
                    <a:bodyPr/>
                    <a:lstStyle/>
                    <a:p>
                      <a:pPr algn="l"/>
                      <a:r>
                        <a:rPr sz="1650" b="0">
                          <a:solidFill>
                            <a:srgbClr val="163047"/>
                          </a:solidFill>
                          <a:latin typeface="Arial"/>
                          <a:ea typeface="Arial"/>
                          <a:cs typeface="Arial"/>
                        </a:rPr>
                        <a:t>0.0047 ± 0.0009</a:t>
                      </a:r>
                    </a:p>
                  </a:txBody>
                  <a:tcPr marL="91440" marR="91440" marT="45720" marB="45720" anchor="ctr">
                    <a:solidFill>
                      <a:srgbClr val="FFFFFF"/>
                    </a:solidFill>
                  </a:tcPr>
                </a:tc>
                <a:tc>
                  <a:txBody>
                    <a:bodyPr/>
                    <a:lstStyle/>
                    <a:p>
                      <a:pPr algn="l"/>
                      <a:r>
                        <a:rPr sz="1650" b="0">
                          <a:solidFill>
                            <a:srgbClr val="163047"/>
                          </a:solidFill>
                          <a:latin typeface="Arial"/>
                          <a:ea typeface="Arial"/>
                          <a:cs typeface="Arial"/>
                        </a:rPr>
                        <a:t>0.755</a:t>
                      </a:r>
                    </a:p>
                  </a:txBody>
                  <a:tcPr marL="91440" marR="91440" marT="45720" marB="45720" anchor="ctr">
                    <a:solidFill>
                      <a:srgbClr val="FFFFFF"/>
                    </a:solidFill>
                  </a:tcPr>
                </a:tc>
              </a:tr>
              <a:tr h="421217">
                <a:tc>
                  <a:txBody>
                    <a:bodyPr/>
                    <a:lstStyle/>
                    <a:p>
                      <a:pPr algn="l"/>
                      <a:r>
                        <a:rPr sz="1650" b="0">
                          <a:solidFill>
                            <a:srgbClr val="163047"/>
                          </a:solidFill>
                          <a:latin typeface="Arial"/>
                          <a:ea typeface="Arial"/>
                          <a:cs typeface="Arial"/>
                        </a:rPr>
                        <a:t>TJU / 30%</a:t>
                      </a:r>
                    </a:p>
                  </a:txBody>
                  <a:tcPr marL="91440" marR="91440" marT="45720" marB="45720" anchor="ctr">
                    <a:solidFill>
                      <a:srgbClr val="EAF3F7"/>
                    </a:solidFill>
                  </a:tcPr>
                </a:tc>
                <a:tc>
                  <a:txBody>
                    <a:bodyPr/>
                    <a:lstStyle/>
                    <a:p>
                      <a:pPr algn="l"/>
                      <a:r>
                        <a:rPr sz="1650" b="0">
                          <a:solidFill>
                            <a:srgbClr val="163047"/>
                          </a:solidFill>
                          <a:latin typeface="Arial"/>
                          <a:ea typeface="Arial"/>
                          <a:cs typeface="Arial"/>
                        </a:rPr>
                        <a:t>0.0086 ± 0.0009</a:t>
                      </a:r>
                    </a:p>
                  </a:txBody>
                  <a:tcPr marL="91440" marR="91440" marT="45720" marB="45720" anchor="ctr">
                    <a:solidFill>
                      <a:srgbClr val="EAF3F7"/>
                    </a:solidFill>
                  </a:tcPr>
                </a:tc>
                <a:tc>
                  <a:txBody>
                    <a:bodyPr/>
                    <a:lstStyle/>
                    <a:p>
                      <a:pPr algn="l"/>
                      <a:r>
                        <a:rPr sz="1650" b="0">
                          <a:solidFill>
                            <a:srgbClr val="163047"/>
                          </a:solidFill>
                          <a:latin typeface="Arial"/>
                          <a:ea typeface="Arial"/>
                          <a:cs typeface="Arial"/>
                        </a:rPr>
                        <a:t>0.0087 ± 0.0010</a:t>
                      </a:r>
                    </a:p>
                  </a:txBody>
                  <a:tcPr marL="91440" marR="91440" marT="45720" marB="45720" anchor="ctr">
                    <a:solidFill>
                      <a:srgbClr val="EAF3F7"/>
                    </a:solidFill>
                  </a:tcPr>
                </a:tc>
                <a:tc>
                  <a:txBody>
                    <a:bodyPr/>
                    <a:lstStyle/>
                    <a:p>
                      <a:pPr algn="l"/>
                      <a:r>
                        <a:rPr sz="1650" b="0">
                          <a:solidFill>
                            <a:srgbClr val="163047"/>
                          </a:solidFill>
                          <a:latin typeface="Arial"/>
                          <a:ea typeface="Arial"/>
                          <a:cs typeface="Arial"/>
                        </a:rPr>
                        <a:t>1.009</a:t>
                      </a:r>
                    </a:p>
                  </a:txBody>
                  <a:tcPr marL="91440" marR="91440" marT="45720" marB="45720" anchor="ctr">
                    <a:solidFill>
                      <a:srgbClr val="EAF3F7"/>
                    </a:solidFill>
                  </a:tcPr>
                </a:tc>
              </a:tr>
              <a:tr h="421217">
                <a:tc>
                  <a:txBody>
                    <a:bodyPr/>
                    <a:lstStyle/>
                    <a:p>
                      <a:pPr algn="l"/>
                      <a:r>
                        <a:rPr sz="1650" b="0">
                          <a:solidFill>
                            <a:srgbClr val="163047"/>
                          </a:solidFill>
                          <a:latin typeface="Arial"/>
                          <a:ea typeface="Arial"/>
                          <a:cs typeface="Arial"/>
                        </a:rPr>
                        <a:t>TJU / 70%</a:t>
                      </a:r>
                    </a:p>
                  </a:txBody>
                  <a:tcPr marL="91440" marR="91440" marT="45720" marB="45720" anchor="ctr">
                    <a:solidFill>
                      <a:srgbClr val="FFFFFF"/>
                    </a:solidFill>
                  </a:tcPr>
                </a:tc>
                <a:tc>
                  <a:txBody>
                    <a:bodyPr/>
                    <a:lstStyle/>
                    <a:p>
                      <a:pPr algn="l"/>
                      <a:r>
                        <a:rPr sz="1650" b="0">
                          <a:solidFill>
                            <a:srgbClr val="163047"/>
                          </a:solidFill>
                          <a:latin typeface="Arial"/>
                          <a:ea typeface="Arial"/>
                          <a:cs typeface="Arial"/>
                        </a:rPr>
                        <a:t>0.0086 ± 0.0003</a:t>
                      </a:r>
                    </a:p>
                  </a:txBody>
                  <a:tcPr marL="91440" marR="91440" marT="45720" marB="45720" anchor="ctr">
                    <a:solidFill>
                      <a:srgbClr val="FFFFFF"/>
                    </a:solidFill>
                  </a:tcPr>
                </a:tc>
                <a:tc>
                  <a:txBody>
                    <a:bodyPr/>
                    <a:lstStyle/>
                    <a:p>
                      <a:pPr algn="l"/>
                      <a:r>
                        <a:rPr sz="1650" b="0">
                          <a:solidFill>
                            <a:srgbClr val="163047"/>
                          </a:solidFill>
                          <a:latin typeface="Arial"/>
                          <a:ea typeface="Arial"/>
                          <a:cs typeface="Arial"/>
                        </a:rPr>
                        <a:t>0.0082 ± 0.0007</a:t>
                      </a:r>
                    </a:p>
                  </a:txBody>
                  <a:tcPr marL="91440" marR="91440" marT="45720" marB="45720" anchor="ctr">
                    <a:solidFill>
                      <a:srgbClr val="FFFFFF"/>
                    </a:solidFill>
                  </a:tcPr>
                </a:tc>
                <a:tc>
                  <a:txBody>
                    <a:bodyPr/>
                    <a:lstStyle/>
                    <a:p>
                      <a:pPr algn="l"/>
                      <a:r>
                        <a:rPr sz="1650" b="0">
                          <a:solidFill>
                            <a:srgbClr val="163047"/>
                          </a:solidFill>
                          <a:latin typeface="Arial"/>
                          <a:ea typeface="Arial"/>
                          <a:cs typeface="Arial"/>
                        </a:rPr>
                        <a:t>0.952</a:t>
                      </a:r>
                    </a:p>
                  </a:txBody>
                  <a:tcPr marL="91440" marR="91440" marT="45720" marB="45720" anchor="ctr">
                    <a:solidFill>
                      <a:srgbClr val="FFFFFF"/>
                    </a:solidFill>
                  </a:tcPr>
                </a:tc>
              </a:tr>
              <a:tr h="421217">
                <a:tc>
                  <a:txBody>
                    <a:bodyPr/>
                    <a:lstStyle/>
                    <a:p>
                      <a:pPr algn="l"/>
                      <a:r>
                        <a:rPr sz="1650" b="0">
                          <a:solidFill>
                            <a:srgbClr val="163047"/>
                          </a:solidFill>
                          <a:latin typeface="Arial"/>
                          <a:ea typeface="Arial"/>
                          <a:cs typeface="Arial"/>
                        </a:rPr>
                        <a:t>XJTU / 30%</a:t>
                      </a:r>
                    </a:p>
                  </a:txBody>
                  <a:tcPr marL="91440" marR="91440" marT="45720" marB="45720" anchor="ctr">
                    <a:solidFill>
                      <a:srgbClr val="EAF3F7"/>
                    </a:solidFill>
                  </a:tcPr>
                </a:tc>
                <a:tc>
                  <a:txBody>
                    <a:bodyPr/>
                    <a:lstStyle/>
                    <a:p>
                      <a:pPr algn="l"/>
                      <a:r>
                        <a:rPr sz="1650" b="0">
                          <a:solidFill>
                            <a:srgbClr val="163047"/>
                          </a:solidFill>
                          <a:latin typeface="Arial"/>
                          <a:ea typeface="Arial"/>
                          <a:cs typeface="Arial"/>
                        </a:rPr>
                        <a:t>0.0114 ± 0.0015</a:t>
                      </a:r>
                    </a:p>
                  </a:txBody>
                  <a:tcPr marL="91440" marR="91440" marT="45720" marB="45720" anchor="ctr">
                    <a:solidFill>
                      <a:srgbClr val="EAF3F7"/>
                    </a:solidFill>
                  </a:tcPr>
                </a:tc>
                <a:tc>
                  <a:txBody>
                    <a:bodyPr/>
                    <a:lstStyle/>
                    <a:p>
                      <a:pPr algn="l"/>
                      <a:r>
                        <a:rPr sz="1650" b="0">
                          <a:solidFill>
                            <a:srgbClr val="163047"/>
                          </a:solidFill>
                          <a:latin typeface="Arial"/>
                          <a:ea typeface="Arial"/>
                          <a:cs typeface="Arial"/>
                        </a:rPr>
                        <a:t>0.0103 ± 0.0008</a:t>
                      </a:r>
                    </a:p>
                  </a:txBody>
                  <a:tcPr marL="91440" marR="91440" marT="45720" marB="45720" anchor="ctr">
                    <a:solidFill>
                      <a:srgbClr val="EAF3F7"/>
                    </a:solidFill>
                  </a:tcPr>
                </a:tc>
                <a:tc>
                  <a:txBody>
                    <a:bodyPr/>
                    <a:lstStyle/>
                    <a:p>
                      <a:pPr algn="l"/>
                      <a:r>
                        <a:rPr sz="1650" b="0">
                          <a:solidFill>
                            <a:srgbClr val="163047"/>
                          </a:solidFill>
                          <a:latin typeface="Arial"/>
                          <a:ea typeface="Arial"/>
                          <a:cs typeface="Arial"/>
                        </a:rPr>
                        <a:t>0.904</a:t>
                      </a:r>
                    </a:p>
                  </a:txBody>
                  <a:tcPr marL="91440" marR="91440" marT="45720" marB="45720" anchor="ctr">
                    <a:solidFill>
                      <a:srgbClr val="EAF3F7"/>
                    </a:solidFill>
                  </a:tcPr>
                </a:tc>
              </a:tr>
              <a:tr h="421217">
                <a:tc>
                  <a:txBody>
                    <a:bodyPr/>
                    <a:lstStyle/>
                    <a:p>
                      <a:pPr algn="l"/>
                      <a:r>
                        <a:rPr sz="1650" b="0">
                          <a:solidFill>
                            <a:srgbClr val="163047"/>
                          </a:solidFill>
                          <a:latin typeface="Arial"/>
                          <a:ea typeface="Arial"/>
                          <a:cs typeface="Arial"/>
                        </a:rPr>
                        <a:t>XJTU / 70%</a:t>
                      </a:r>
                    </a:p>
                  </a:txBody>
                  <a:tcPr marL="91440" marR="91440" marT="45720" marB="45720" anchor="ctr">
                    <a:solidFill>
                      <a:srgbClr val="FFFFFF"/>
                    </a:solidFill>
                  </a:tcPr>
                </a:tc>
                <a:tc>
                  <a:txBody>
                    <a:bodyPr/>
                    <a:lstStyle/>
                    <a:p>
                      <a:pPr algn="l"/>
                      <a:r>
                        <a:rPr sz="1650" b="0">
                          <a:solidFill>
                            <a:srgbClr val="163047"/>
                          </a:solidFill>
                          <a:latin typeface="Arial"/>
                          <a:ea typeface="Arial"/>
                          <a:cs typeface="Arial"/>
                        </a:rPr>
                        <a:t>0.0091 ± 0.0003</a:t>
                      </a:r>
                    </a:p>
                  </a:txBody>
                  <a:tcPr marL="91440" marR="91440" marT="45720" marB="45720" anchor="ctr">
                    <a:solidFill>
                      <a:srgbClr val="FFFFFF"/>
                    </a:solidFill>
                  </a:tcPr>
                </a:tc>
                <a:tc>
                  <a:txBody>
                    <a:bodyPr/>
                    <a:lstStyle/>
                    <a:p>
                      <a:pPr algn="l"/>
                      <a:r>
                        <a:rPr sz="1650" b="0">
                          <a:solidFill>
                            <a:srgbClr val="163047"/>
                          </a:solidFill>
                          <a:latin typeface="Arial"/>
                          <a:ea typeface="Arial"/>
                          <a:cs typeface="Arial"/>
                        </a:rPr>
                        <a:t>0.0090 ± 0.0001</a:t>
                      </a:r>
                    </a:p>
                  </a:txBody>
                  <a:tcPr marL="91440" marR="91440" marT="45720" marB="45720" anchor="ctr">
                    <a:solidFill>
                      <a:srgbClr val="FFFFFF"/>
                    </a:solidFill>
                  </a:tcPr>
                </a:tc>
                <a:tc>
                  <a:txBody>
                    <a:bodyPr/>
                    <a:lstStyle/>
                    <a:p>
                      <a:pPr algn="l"/>
                      <a:r>
                        <a:rPr sz="1650" b="0">
                          <a:solidFill>
                            <a:srgbClr val="163047"/>
                          </a:solidFill>
                          <a:latin typeface="Arial"/>
                          <a:ea typeface="Arial"/>
                          <a:cs typeface="Arial"/>
                        </a:rPr>
                        <a:t>0.989</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3FE6454-0A99-468E-A897-21D00F262591}"/>
              </a:ext>
            </a:extLst>
          </p:cNvPr>
          <p:cNvSpPr>
            <a:spLocks xmlns:a="http://schemas.openxmlformats.org/drawingml/2006/main" noGrp="1"/>
          </p:cNvSpPr>
          <p:nvPr/>
        </p:nvSpPr>
        <p:spPr>
          <a:xfrm xmlns:a="http://schemas.openxmlformats.org/drawingml/2006/main">
            <a:off x="619125" y="54292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1">
                <a:solidFill>
                  <a:srgbClr val="20567B"/>
                </a:solidFill>
                <a:latin typeface="Arial"/>
                <a:ea typeface="Arial"/>
                <a:cs typeface="Arial"/>
              </a:defRPr>
            </a:pPr>
            <a:r>
              <a:rPr sz="2025" b="1">
                <a:solidFill>
                  <a:srgbClr val="20567B"/>
                </a:solidFill>
                <a:latin typeface="Arial"/>
                <a:ea typeface="Arial"/>
                <a:cs typeface="Arial"/>
              </a:rPr>
              <a:t>PINN có MAE trung bình thấp hơn ở 7/8 cấu hình</a:t>
            </a:r>
          </a:p>
        </p:txBody>
      </p:sp>
      <p:sp>
        <p:nvSpPr>
          <p:cNvPr id="7" name="">
            <a:extLst xmlns:a="http://schemas.openxmlformats.org/drawingml/2006/main">
              <a:ext uri="{FF2B5EF4-FFF2-40B4-BE49-F238E27FC236}">
                <a16:creationId xmlns:a16="http://schemas.microsoft.com/office/drawing/2014/main" id="{AF761B33-C536-4D62-9CBF-889982BE7937}"/>
              </a:ext>
            </a:extLst>
          </p:cNvPr>
          <p:cNvSpPr>
            <a:spLocks xmlns:a="http://schemas.openxmlformats.org/drawingml/2006/main" noGrp="1"/>
          </p:cNvSpPr>
          <p:nvPr/>
        </p:nvSpPr>
        <p:spPr>
          <a:xfrm xmlns:a="http://schemas.openxmlformats.org/drawingml/2006/main">
            <a:off x="619125" y="6105525"/>
            <a:ext cx="1071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526778"/>
                </a:solidFill>
                <a:latin typeface="Arial"/>
                <a:ea typeface="Arial"/>
                <a:cs typeface="Arial"/>
              </a:defRPr>
            </a:pPr>
            <a:r>
              <a:rPr sz="1275" b="0">
                <a:solidFill>
                  <a:srgbClr val="526778"/>
                </a:solidFill>
                <a:latin typeface="Arial"/>
                <a:ea typeface="Arial"/>
                <a:cs typeface="Arial"/>
              </a:rPr>
              <a:t>Kết quả 3 seed. Chưa kiểm soát toàn bộ ngân sách tìm kiếm siêu tham số giữa hai mô hình.</a:t>
            </a:r>
          </a:p>
        </p:txBody>
      </p:sp>
    </p:spTree>
    <p:extLst>
      <p:ext uri="{BB962C8B-B14F-4D97-AF65-F5344CB8AC3E}">
        <p14:creationId xmlns:p14="http://schemas.microsoft.com/office/powerpoint/2010/main" val="151077396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AB52BC5-EB6F-4605-9D1D-89CCF5FA7B9C}"/>
              </a:ext>
            </a:extLst>
          </p:cNvPr>
          <p:cNvSpPr>
            <a:spLocks xmlns:a="http://schemas.openxmlformats.org/drawingml/2006/main" noGrp="1"/>
          </p:cNvSpPr>
          <p:nvPr/>
        </p:nvSpPr>
        <p:spPr>
          <a:xfrm xmlns:a="http://schemas.openxmlformats.org/drawingml/2006/main">
            <a:off x="0" y="0"/>
            <a:ext cx="12192000" cy="952500"/>
          </a:xfrm>
          <a:prstGeom xmlns:a="http://schemas.openxmlformats.org/drawingml/2006/main" prst="rect">
            <a:avLst/>
          </a:prstGeom>
          <a:solidFill xmlns:a="http://schemas.openxmlformats.org/drawingml/2006/main">
            <a:srgbClr val="20567B"/>
          </a:solidFill>
          <a:ln xmlns:a="http://schemas.openxmlformats.org/drawingml/2006/main" w="9525">
            <a:solidFill>
              <a:srgbClr val="20567B"/>
            </a:solid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073AF03-C9E6-4508-91D6-F85326A3FC5F}"/>
              </a:ext>
            </a:extLst>
          </p:cNvPr>
          <p:cNvSpPr>
            <a:spLocks xmlns:a="http://schemas.openxmlformats.org/drawingml/2006/main" noGrp="1"/>
          </p:cNvSpPr>
          <p:nvPr/>
        </p:nvSpPr>
        <p:spPr>
          <a:xfrm xmlns:a="http://schemas.openxmlformats.org/drawingml/2006/main">
            <a:off x="542925" y="66675"/>
            <a:ext cx="11239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0:p xmlns:ns0="http://schemas.openxmlformats.org/drawingml/2006/main">
            <ns0:pPr algn="l">
              <ns0:defRPr sz="2700" b="1">
                <ns0:solidFill>
                  <ns0:srgbClr val="FFFFFF"/>
                </ns0:solidFill>
                <ns0:latin typeface="Arial"/>
                <ns0:ea typeface="Arial"/>
                <ns0:cs typeface="Arial"/>
              </ns0:defRPr>
            </ns0:pPr>
            <ns0:r>
              <ns0:rPr sz="2700" b="1">
                <ns0:solidFill>
                  <ns0:srgbClr val="FFFFFF"/>
                </ns0:solidFill>
                <ns0:latin typeface="Arial"/>
                <ns0:ea typeface="Arial"/>
                <ns0:cs typeface="Arial"/>
              </ns0:rPr>
              <ns0:t>E5: chuyển miền với đặc trưng đích không nhãn (v1)</ns0:t>
            </ns0:r>
          </ns0:p>
        </p:txBody>
      </p:sp>
      <p:sp>
        <p:nvSpPr>
          <p:cNvPr id="3" name="">
            <a:extLst xmlns:a="http://schemas.openxmlformats.org/drawingml/2006/main">
              <a:ext uri="{FF2B5EF4-FFF2-40B4-BE49-F238E27FC236}">
                <a16:creationId xmlns:a16="http://schemas.microsoft.com/office/drawing/2014/main" id="{46CEBDFD-D672-4D14-9470-AC32E64AC86E}"/>
              </a:ext>
            </a:extLst>
          </p:cNvPr>
          <p:cNvSpPr>
            <a:spLocks xmlns:a="http://schemas.openxmlformats.org/drawingml/2006/main" noGrp="1"/>
          </p:cNvSpPr>
          <p:nvPr/>
        </p:nvSpPr>
        <p:spPr>
          <a:xfrm xmlns:a="http://schemas.openxmlformats.org/drawingml/2006/main">
            <a:off x="11144250" y="6400800"/>
            <a:ext cx="333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1:p xmlns:ns1="http://schemas.openxmlformats.org/drawingml/2006/main">
            <ns1:pPr algn="l">
              <ns1:defRPr sz="1200" b="1">
                <ns1:solidFill>
                  <ns1:srgbClr val="20567B"/>
                </ns1:solidFill>
                <ns1:latin typeface="Arial"/>
                <ns1:ea typeface="Arial"/>
                <ns1:cs typeface="Arial"/>
              </ns1:defRPr>
            </ns1:pPr>
            <ns1:r>
              <ns1:rPr sz="1200" b="1">
                <ns1:solidFill>
                  <ns1:srgbClr val="20567B"/>
                </ns1:solidFill>
                <ns1:latin typeface="Arial"/>
                <ns1:ea typeface="Arial"/>
                <ns1:cs typeface="Arial"/>
              </ns1:rPr>
              <ns1:t>15</ns1:t>
            </ns1:r>
          </ns1: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eee4d67164f4813"/>
          <a:stretch xmlns:a="http://schemas.openxmlformats.org/drawingml/2006/main"/>
        </p:blipFill>
        <p:spPr>
          <a:xfrm xmlns:a="http://schemas.openxmlformats.org/drawingml/2006/main">
            <a:off x="11696700" y="6384974"/>
            <a:ext cx="285750" cy="260252"/>
          </a:xfrm>
          <a:prstGeom xmlns:a="http://schemas.openxmlformats.org/drawingml/2006/main" prst="rect">
            <a:avLst/>
          </a:prstGeom>
        </p:spPr>
      </p:pic>
      <p:graphicFrame>
        <p:nvGraphicFramePr>
          <p:cNvPr id="13" name=""/>
          <p:cNvGraphicFramePr/>
          <p:nvPr/>
        </p:nvGraphicFramePr>
        <p:xfrm>
          <a:off xmlns:a="http://schemas.openxmlformats.org/drawingml/2006/main" x="533400" y="1533525"/>
          <a:ext xmlns:a="http://schemas.openxmlformats.org/drawingml/2006/main" cx="11125200" cy="2857500"/>
        </p:xfrm>
        <a:graphic xmlns:a="http://schemas.openxmlformats.org/drawingml/2006/main">
          <a:graphicData uri="http://schemas.openxmlformats.org/drawingml/2006/table">
            <a:tbl>
              <a:tblPr/>
              <a:tblGrid>
                <a:gridCol w="4286250"/>
                <a:gridCol w="3419475"/>
                <a:gridCol w="3419475"/>
              </a:tblGrid>
              <a:tr h="571500">
                <a:tc>
                  <a:txBody>
                    <a:bodyPr/>
                    <a:lstStyle/>
                    <a:p>
                      <a:pPr algn="l"/>
                      <a:r>
                        <a:rPr sz="1875" b="1">
                          <a:solidFill>
                            <a:srgbClr val="FFFFFF"/>
                          </a:solidFill>
                          <a:latin typeface="Arial"/>
                          <a:ea typeface="Arial"/>
                          <a:cs typeface="Arial"/>
                        </a:rPr>
                        <a:t>Nguồn / Đích</a:t>
                      </a:r>
                    </a:p>
                  </a:txBody>
                  <a:tcPr marL="91440" marR="91440" marT="45720" marB="45720" anchor="ctr">
                    <a:solidFill>
                      <a:srgbClr val="20567B"/>
                    </a:solidFill>
                  </a:tcPr>
                </a:tc>
                <a:tc>
                  <a:txBody>
                    <a:bodyPr/>
                    <a:lstStyle/>
                    <a:p>
                      <a:pPr algn="l"/>
                      <a:r>
                        <a:rPr sz="1875" b="1">
                          <a:solidFill>
                            <a:srgbClr val="FFFFFF"/>
                          </a:solidFill>
                          <a:latin typeface="Arial"/>
                          <a:ea typeface="Arial"/>
                          <a:cs typeface="Arial"/>
                        </a:rPr>
                        <a:t>MLP, k = 0</a:t>
                      </a:r>
                    </a:p>
                  </a:txBody>
                  <a:tcPr marL="91440" marR="91440" marT="45720" marB="45720" anchor="ctr">
                    <a:solidFill>
                      <a:srgbClr val="20567B"/>
                    </a:solidFill>
                  </a:tcPr>
                </a:tc>
                <a:tc>
                  <a:txBody>
                    <a:bodyPr/>
                    <a:lstStyle/>
                    <a:p>
                      <a:pPr algn="l"/>
                      <a:r>
                        <a:rPr sz="1875" b="1">
                          <a:solidFill>
                            <a:srgbClr val="FFFFFF"/>
                          </a:solidFill>
                          <a:latin typeface="Arial"/>
                          <a:ea typeface="Arial"/>
                          <a:cs typeface="Arial"/>
                        </a:rPr>
                        <a:t>PINN, k = 0</a:t>
                      </a:r>
                    </a:p>
                  </a:txBody>
                  <a:tcPr marL="91440" marR="91440" marT="45720" marB="45720" anchor="ctr">
                    <a:solidFill>
                      <a:srgbClr val="20567B"/>
                    </a:solidFill>
                  </a:tcPr>
                </a:tc>
              </a:tr>
              <a:tr h="571500">
                <a:tc>
                  <a:txBody>
                    <a:bodyPr/>
                    <a:lstStyle/>
                    <a:p>
                      <a:pPr algn="l"/>
                      <a:r>
                        <a:rPr sz="1875" b="0">
                          <a:solidFill>
                            <a:srgbClr val="163047"/>
                          </a:solidFill>
                          <a:latin typeface="Arial"/>
                          <a:ea typeface="Arial"/>
                          <a:cs typeface="Arial"/>
                        </a:rPr>
                        <a:t>HUST → MIT</a:t>
                      </a:r>
                    </a:p>
                  </a:txBody>
                  <a:tcPr marL="91440" marR="91440" marT="45720" marB="45720" anchor="ctr">
                    <a:solidFill>
                      <a:srgbClr val="EAF3F7"/>
                    </a:solidFill>
                  </a:tcPr>
                </a:tc>
                <a:tc>
                  <a:txBody>
                    <a:bodyPr/>
                    <a:lstStyle/>
                    <a:p>
                      <a:pPr algn="l"/>
                      <a:r>
                        <a:rPr sz="1875" b="0">
                          <a:solidFill>
                            <a:srgbClr val="163047"/>
                          </a:solidFill>
                          <a:latin typeface="Arial"/>
                          <a:ea typeface="Arial"/>
                          <a:cs typeface="Arial"/>
                        </a:rPr>
                        <a:t>0.36868</a:t>
                      </a:r>
                    </a:p>
                  </a:txBody>
                  <a:tcPr marL="91440" marR="91440" marT="45720" marB="45720" anchor="ctr">
                    <a:solidFill>
                      <a:srgbClr val="EAF3F7"/>
                    </a:solidFill>
                  </a:tcPr>
                </a:tc>
                <a:tc>
                  <a:txBody>
                    <a:bodyPr/>
                    <a:lstStyle/>
                    <a:p>
                      <a:pPr algn="l"/>
                      <a:r>
                        <a:rPr sz="1875" b="0">
                          <a:solidFill>
                            <a:srgbClr val="163047"/>
                          </a:solidFill>
                          <a:latin typeface="Arial"/>
                          <a:ea typeface="Arial"/>
                          <a:cs typeface="Arial"/>
                        </a:rPr>
                        <a:t>0.02745</a:t>
                      </a:r>
                    </a:p>
                  </a:txBody>
                  <a:tcPr marL="91440" marR="91440" marT="45720" marB="45720" anchor="ctr">
                    <a:solidFill>
                      <a:srgbClr val="EAF3F7"/>
                    </a:solidFill>
                  </a:tcPr>
                </a:tc>
              </a:tr>
              <a:tr h="571500">
                <a:tc>
                  <a:txBody>
                    <a:bodyPr/>
                    <a:lstStyle/>
                    <a:p>
                      <a:pPr algn="l"/>
                      <a:r>
                        <a:rPr sz="1875" b="0">
                          <a:solidFill>
                            <a:srgbClr val="163047"/>
                          </a:solidFill>
                          <a:latin typeface="Arial"/>
                          <a:ea typeface="Arial"/>
                          <a:cs typeface="Arial"/>
                        </a:rPr>
                        <a:t>MIT → HUST</a:t>
                      </a:r>
                    </a:p>
                  </a:txBody>
                  <a:tcPr marL="91440" marR="91440" marT="45720" marB="45720" anchor="ctr">
                    <a:solidFill>
                      <a:srgbClr val="FFFFFF"/>
                    </a:solidFill>
                  </a:tcPr>
                </a:tc>
                <a:tc>
                  <a:txBody>
                    <a:bodyPr/>
                    <a:lstStyle/>
                    <a:p>
                      <a:pPr algn="l"/>
                      <a:r>
                        <a:rPr sz="1875" b="0">
                          <a:solidFill>
                            <a:srgbClr val="163047"/>
                          </a:solidFill>
                          <a:latin typeface="Arial"/>
                          <a:ea typeface="Arial"/>
                          <a:cs typeface="Arial"/>
                        </a:rPr>
                        <a:t>0.06173</a:t>
                      </a:r>
                    </a:p>
                  </a:txBody>
                  <a:tcPr marL="91440" marR="91440" marT="45720" marB="45720" anchor="ctr">
                    <a:solidFill>
                      <a:srgbClr val="FFFFFF"/>
                    </a:solidFill>
                  </a:tcPr>
                </a:tc>
                <a:tc>
                  <a:txBody>
                    <a:bodyPr/>
                    <a:lstStyle/>
                    <a:p>
                      <a:pPr algn="l"/>
                      <a:r>
                        <a:rPr sz="1875" b="0">
                          <a:solidFill>
                            <a:srgbClr val="163047"/>
                          </a:solidFill>
                          <a:latin typeface="Arial"/>
                          <a:ea typeface="Arial"/>
                          <a:cs typeface="Arial"/>
                        </a:rPr>
                        <a:t>0.05882</a:t>
                      </a:r>
                    </a:p>
                  </a:txBody>
                  <a:tcPr marL="91440" marR="91440" marT="45720" marB="45720" anchor="ctr">
                    <a:solidFill>
                      <a:srgbClr val="FFFFFF"/>
                    </a:solidFill>
                  </a:tcPr>
                </a:tc>
              </a:tr>
              <a:tr h="571500">
                <a:tc>
                  <a:txBody>
                    <a:bodyPr/>
                    <a:lstStyle/>
                    <a:p>
                      <a:pPr algn="l"/>
                      <a:r>
                        <a:rPr sz="1875" b="0">
                          <a:solidFill>
                            <a:srgbClr val="163047"/>
                          </a:solidFill>
                          <a:latin typeface="Arial"/>
                          <a:ea typeface="Arial"/>
                          <a:cs typeface="Arial"/>
                        </a:rPr>
                        <a:t>TJU → XJTU</a:t>
                      </a:r>
                    </a:p>
                  </a:txBody>
                  <a:tcPr marL="91440" marR="91440" marT="45720" marB="45720" anchor="ctr">
                    <a:solidFill>
                      <a:srgbClr val="EAF3F7"/>
                    </a:solidFill>
                  </a:tcPr>
                </a:tc>
                <a:tc>
                  <a:txBody>
                    <a:bodyPr/>
                    <a:lstStyle/>
                    <a:p>
                      <a:pPr algn="l"/>
                      <a:r>
                        <a:rPr sz="1875" b="0">
                          <a:solidFill>
                            <a:srgbClr val="163047"/>
                          </a:solidFill>
                          <a:latin typeface="Arial"/>
                          <a:ea typeface="Arial"/>
                          <a:cs typeface="Arial"/>
                        </a:rPr>
                        <a:t>0.32884</a:t>
                      </a:r>
                    </a:p>
                  </a:txBody>
                  <a:tcPr marL="91440" marR="91440" marT="45720" marB="45720" anchor="ctr">
                    <a:solidFill>
                      <a:srgbClr val="EAF3F7"/>
                    </a:solidFill>
                  </a:tcPr>
                </a:tc>
                <a:tc>
                  <a:txBody>
                    <a:bodyPr/>
                    <a:lstStyle/>
                    <a:p>
                      <a:pPr algn="l"/>
                      <a:r>
                        <a:rPr sz="1875" b="0">
                          <a:solidFill>
                            <a:srgbClr val="163047"/>
                          </a:solidFill>
                          <a:latin typeface="Arial"/>
                          <a:ea typeface="Arial"/>
                          <a:cs typeface="Arial"/>
                        </a:rPr>
                        <a:t>0.10276</a:t>
                      </a:r>
                    </a:p>
                  </a:txBody>
                  <a:tcPr marL="91440" marR="91440" marT="45720" marB="45720" anchor="ctr">
                    <a:solidFill>
                      <a:srgbClr val="EAF3F7"/>
                    </a:solidFill>
                  </a:tcPr>
                </a:tc>
              </a:tr>
              <a:tr h="571500">
                <a:tc>
                  <a:txBody>
                    <a:bodyPr/>
                    <a:lstStyle/>
                    <a:p>
                      <a:pPr algn="l"/>
                      <a:r>
                        <a:rPr sz="1875" b="0">
                          <a:solidFill>
                            <a:srgbClr val="163047"/>
                          </a:solidFill>
                          <a:latin typeface="Arial"/>
                          <a:ea typeface="Arial"/>
                          <a:cs typeface="Arial"/>
                        </a:rPr>
                        <a:t>XJTU → TJU</a:t>
                      </a:r>
                    </a:p>
                  </a:txBody>
                  <a:tcPr marL="91440" marR="91440" marT="45720" marB="45720" anchor="ctr">
                    <a:solidFill>
                      <a:srgbClr val="FFFFFF"/>
                    </a:solidFill>
                  </a:tcPr>
                </a:tc>
                <a:tc>
                  <a:txBody>
                    <a:bodyPr/>
                    <a:lstStyle/>
                    <a:p>
                      <a:pPr algn="l"/>
                      <a:r>
                        <a:rPr sz="1875" b="0">
                          <a:solidFill>
                            <a:srgbClr val="163047"/>
                          </a:solidFill>
                          <a:latin typeface="Arial"/>
                          <a:ea typeface="Arial"/>
                          <a:cs typeface="Arial"/>
                        </a:rPr>
                        <a:t>2.94410</a:t>
                      </a:r>
                    </a:p>
                  </a:txBody>
                  <a:tcPr marL="91440" marR="91440" marT="45720" marB="45720" anchor="ctr">
                    <a:solidFill>
                      <a:srgbClr val="FFFFFF"/>
                    </a:solidFill>
                  </a:tcPr>
                </a:tc>
                <a:tc>
                  <a:txBody>
                    <a:bodyPr/>
                    <a:lstStyle/>
                    <a:p>
                      <a:pPr algn="l"/>
                      <a:r>
                        <a:rPr sz="1875" b="0">
                          <a:solidFill>
                            <a:srgbClr val="163047"/>
                          </a:solidFill>
                          <a:latin typeface="Arial"/>
                          <a:ea typeface="Arial"/>
                          <a:cs typeface="Arial"/>
                        </a:rPr>
                        <a:t>0.04061</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2B9CC5E-65EA-4A55-83E4-7CD59603BE9B}"/>
              </a:ext>
            </a:extLst>
          </p:cNvPr>
          <p:cNvSpPr>
            <a:spLocks xmlns:a="http://schemas.openxmlformats.org/drawingml/2006/main" noGrp="1"/>
          </p:cNvSpPr>
          <p:nvPr/>
        </p:nvSpPr>
        <p:spPr>
          <a:xfrm xmlns:a="http://schemas.openxmlformats.org/drawingml/2006/main">
            <a:off x="619125" y="46958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75" b="1">
                <a:solidFill>
                  <a:srgbClr val="A64D2B"/>
                </a:solidFill>
                <a:latin typeface="Arial"/>
                <a:ea typeface="Arial"/>
                <a:cs typeface="Arial"/>
              </a:defRPr>
            </a:pPr>
            <a:r>
              <a:rPr sz="2175" b="1">
                <a:solidFill>
                  <a:srgbClr val="A64D2B"/>
                </a:solidFill>
                <a:latin typeface="Arial"/>
                <a:ea typeface="Arial"/>
                <a:cs typeface="Arial"/>
              </a:rPr>
              <a:t>Chuẩn hoá khác nhau đang gây nhiễu phép so</a:t>
            </a:r>
          </a:p>
        </p:txBody>
      </p:sp>
      <p:sp>
        <p:nvSpPr>
          <p:cNvPr id="7" name="">
            <a:extLst xmlns:a="http://schemas.openxmlformats.org/drawingml/2006/main">
              <a:ext uri="{FF2B5EF4-FFF2-40B4-BE49-F238E27FC236}">
                <a16:creationId xmlns:a16="http://schemas.microsoft.com/office/drawing/2014/main" id="{2546F58A-2DB8-4985-BE68-E8307029EAF5}"/>
              </a:ext>
            </a:extLst>
          </p:cNvPr>
          <p:cNvSpPr>
            <a:spLocks xmlns:a="http://schemas.openxmlformats.org/drawingml/2006/main" noGrp="1"/>
          </p:cNvSpPr>
          <p:nvPr/>
        </p:nvSpPr>
        <p:spPr>
          <a:xfrm xmlns:a="http://schemas.openxmlformats.org/drawingml/2006/main">
            <a:off x="619125" y="5324475"/>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63047"/>
                </a:solidFill>
                <a:latin typeface="Arial"/>
                <a:ea typeface="Arial"/>
                <a:cs typeface="Arial"/>
              </a:defRPr>
            </a:pPr>
            <a:r>
              <a:rPr sz="1800" b="0">
                <a:solidFill>
                  <a:srgbClr val="163047"/>
                </a:solidFill>
                <a:latin typeface="Arial"/>
                <a:ea typeface="Arial"/>
                <a:cs typeface="Arial"/>
              </a:rPr>
              <a:t>Với k = 3, PINN tốt hơn ở 3/4 cặp. TJU → XJTU vẫn kém MLP.</a:t>
            </a:r>
          </a:p>
        </p:txBody>
      </p:sp>
      <p:sp>
        <p:nvSpPr>
          <p:cNvPr id="8" name="">
            <a:extLst xmlns:a="http://schemas.openxmlformats.org/drawingml/2006/main">
              <a:ext uri="{FF2B5EF4-FFF2-40B4-BE49-F238E27FC236}">
                <a16:creationId xmlns:a16="http://schemas.microsoft.com/office/drawing/2014/main" id="{121B7009-9C90-4DDF-A957-FA5700A79988}"/>
              </a:ext>
            </a:extLst>
          </p:cNvPr>
          <p:cNvSpPr>
            <a:spLocks xmlns:a="http://schemas.openxmlformats.org/drawingml/2006/main" noGrp="1"/>
          </p:cNvSpPr>
          <p:nvPr/>
        </p:nvSpPr>
        <p:spPr>
          <a:xfrm xmlns:a="http://schemas.openxmlformats.org/drawingml/2006/main">
            <a:off x="619125" y="6105525"/>
            <a:ext cx="1071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526778"/>
                </a:solidFill>
                <a:latin typeface="Arial"/>
                <a:ea typeface="Arial"/>
                <a:cs typeface="Arial"/>
              </a:defRPr>
            </a:pPr>
            <a:r>
              <a:rPr sz="1275" b="0">
                <a:solidFill>
                  <a:srgbClr val="526778"/>
                </a:solidFill>
                <a:latin typeface="Arial"/>
                <a:ea typeface="Arial"/>
                <a:cs typeface="Arial"/>
              </a:rPr>
              <a:t>MAE gộp hàng, 3 seed. Cần đối chứng cùng normalizer trước khi quy lợi ích cho vật lý.</a:t>
            </a:r>
          </a:p>
        </p:txBody>
      </p:sp>
    </p:spTree>
    <p:extLst>
      <p:ext uri="{BB962C8B-B14F-4D97-AF65-F5344CB8AC3E}">
        <p14:creationId xmlns:p14="http://schemas.microsoft.com/office/powerpoint/2010/main" val="168042721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167E617-EB36-44DE-BB56-FE8C0A0B7231}"/>
              </a:ext>
            </a:extLst>
          </p:cNvPr>
          <p:cNvSpPr>
            <a:spLocks xmlns:a="http://schemas.openxmlformats.org/drawingml/2006/main" noGrp="1"/>
          </p:cNvSpPr>
          <p:nvPr/>
        </p:nvSpPr>
        <p:spPr>
          <a:xfrm xmlns:a="http://schemas.openxmlformats.org/drawingml/2006/main">
            <a:off x="0" y="0"/>
            <a:ext cx="12192000" cy="952500"/>
          </a:xfrm>
          <a:prstGeom xmlns:a="http://schemas.openxmlformats.org/drawingml/2006/main" prst="rect">
            <a:avLst/>
          </a:prstGeom>
          <a:solidFill xmlns:a="http://schemas.openxmlformats.org/drawingml/2006/main">
            <a:srgbClr val="20567B"/>
          </a:solidFill>
          <a:ln xmlns:a="http://schemas.openxmlformats.org/drawingml/2006/main" w="9525">
            <a:solidFill>
              <a:srgbClr val="20567B"/>
            </a:solid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0B72729-B4A6-4FAB-B6E1-7ABA665C0FEE}"/>
              </a:ext>
            </a:extLst>
          </p:cNvPr>
          <p:cNvSpPr>
            <a:spLocks xmlns:a="http://schemas.openxmlformats.org/drawingml/2006/main" noGrp="1"/>
          </p:cNvSpPr>
          <p:nvPr/>
        </p:nvSpPr>
        <p:spPr>
          <a:xfrm xmlns:a="http://schemas.openxmlformats.org/drawingml/2006/main">
            <a:off x="542925" y="66675"/>
            <a:ext cx="11239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0:p xmlns:ns0="http://schemas.openxmlformats.org/drawingml/2006/main">
            <ns0:pPr algn="l">
              <ns0:defRPr sz="2700" b="1">
                <ns0:solidFill>
                  <ns0:srgbClr val="FFFFFF"/>
                </ns0:solidFill>
                <ns0:latin typeface="Arial"/>
                <ns0:ea typeface="Arial"/>
                <ns0:cs typeface="Arial"/>
              </ns0:defRPr>
            </ns0:pPr>
            <ns0:r>
              <ns0:rPr sz="2700" b="1">
                <ns0:solidFill>
                  <ns0:srgbClr val="FFFFFF"/>
                </ns0:solidFill>
                <ns0:latin typeface="Arial"/>
                <ns0:ea typeface="Arial"/>
                <ns0:cs typeface="Arial"/>
              </ns0:rPr>
              <ns0:t>Mã nguồn: năm điểm đã sửa trong pipeline v2</ns0:t>
            </ns0:r>
          </ns0:p>
        </p:txBody>
      </p:sp>
      <p:sp>
        <p:nvSpPr>
          <p:cNvPr id="3" name="">
            <a:extLst xmlns:a="http://schemas.openxmlformats.org/drawingml/2006/main">
              <a:ext uri="{FF2B5EF4-FFF2-40B4-BE49-F238E27FC236}">
                <a16:creationId xmlns:a16="http://schemas.microsoft.com/office/drawing/2014/main" id="{B06562E5-D4AB-4F8E-AFA7-CCEA8D91AA47}"/>
              </a:ext>
            </a:extLst>
          </p:cNvPr>
          <p:cNvSpPr>
            <a:spLocks xmlns:a="http://schemas.openxmlformats.org/drawingml/2006/main" noGrp="1"/>
          </p:cNvSpPr>
          <p:nvPr/>
        </p:nvSpPr>
        <p:spPr>
          <a:xfrm xmlns:a="http://schemas.openxmlformats.org/drawingml/2006/main">
            <a:off x="11144250" y="6400800"/>
            <a:ext cx="333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2:p xmlns:ns2="http://schemas.openxmlformats.org/drawingml/2006/main">
            <ns2:pPr algn="l">
              <ns2:defRPr sz="1200" b="1">
                <ns2:solidFill>
                  <ns2:srgbClr val="20567B"/>
                </ns2:solidFill>
                <ns2:latin typeface="Arial"/>
                <ns2:ea typeface="Arial"/>
                <ns2:cs typeface="Arial"/>
              </ns2:defRPr>
            </ns2:pPr>
            <ns2:r>
              <ns2:rPr sz="1200" b="1">
                <ns2:solidFill>
                  <ns2:srgbClr val="20567B"/>
                </ns2:solidFill>
                <ns2:latin typeface="Arial"/>
                <ns2:ea typeface="Arial"/>
                <ns2:cs typeface="Arial"/>
              </ns2:rPr>
              <ns2:t>16</ns2:t>
            </ns2:r>
          </ns2: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23976f9db50440a"/>
          <a:stretch xmlns:a="http://schemas.openxmlformats.org/drawingml/2006/main"/>
        </p:blipFill>
        <p:spPr>
          <a:xfrm xmlns:a="http://schemas.openxmlformats.org/drawingml/2006/main">
            <a:off x="11696700" y="6384974"/>
            <a:ext cx="285750" cy="260252"/>
          </a:xfrm>
          <a:prstGeom xmlns:a="http://schemas.openxmlformats.org/drawingml/2006/main" prst="rect">
            <a:avLst/>
          </a:prstGeom>
        </p:spPr>
      </p:pic>
      <p:graphicFrame>
        <p:nvGraphicFramePr>
          <p:cNvPr id="11" name=""/>
          <p:cNvGraphicFramePr/>
          <p:nvPr/>
        </p:nvGraphicFramePr>
        <p:xfrm>
          <a:off xmlns:a="http://schemas.openxmlformats.org/drawingml/2006/main" x="533400" y="1504950"/>
          <a:ext xmlns:a="http://schemas.openxmlformats.org/drawingml/2006/main" cx="11128248" cy="3848100"/>
        </p:xfrm>
        <a:graphic xmlns:a="http://schemas.openxmlformats.org/drawingml/2006/main">
          <a:graphicData uri="http://schemas.openxmlformats.org/drawingml/2006/table">
            <a:tbl>
              <a:tblPr/>
              <a:tblGrid>
                <a:gridCol w="2651760"/>
                <a:gridCol w="3291840"/>
                <a:gridCol w="5184648"/>
              </a:tblGrid>
              <a:tr h="641350">
                <a:tc>
                  <a:txBody>
                    <a:bodyPr/>
                    <a:lstStyle/>
                    <a:p>
                      <a:pPr algn="l"/>
                      <a:r>
                        <a:rPr sz="1500" b="1">
                          <a:solidFill>
                            <a:srgbClr val="FFFFFF"/>
                          </a:solidFill>
                          <a:latin typeface="Arial"/>
                          <a:ea typeface="Arial"/>
                          <a:cs typeface="Arial"/>
                        </a:rPr>
                        <a:t>Vị trí</a:t>
                      </a:r>
                    </a:p>
                  </a:txBody>
                  <a:tcPr marL="91440" marR="91440" marT="45720" marB="45720" anchor="ctr">
                    <a:solidFill>
                      <a:srgbClr val="20567B"/>
                    </a:solidFill>
                  </a:tcPr>
                </a:tc>
                <a:tc>
                  <a:txBody>
                    <a:bodyPr/>
                    <a:lstStyle/>
                    <a:p>
                      <a:pPr algn="l"/>
                      <a:r>
                        <a:rPr sz="1500" b="1">
                          <a:solidFill>
                            <a:srgbClr val="FFFFFF"/>
                          </a:solidFill>
                          <a:latin typeface="Arial"/>
                          <a:ea typeface="Arial"/>
                          <a:cs typeface="Arial"/>
                        </a:rPr>
                        <a:t>Phát hiện</a:t>
                      </a:r>
                    </a:p>
                  </a:txBody>
                  <a:tcPr marL="91440" marR="91440" marT="45720" marB="45720" anchor="ctr">
                    <a:solidFill>
                      <a:srgbClr val="20567B"/>
                    </a:solidFill>
                  </a:tcPr>
                </a:tc>
                <a:tc>
                  <a:txBody>
                    <a:bodyPr/>
                    <a:lstStyle/>
                    <a:p>
                      <a:pPr algn="l"/>
                      <a:r>
                        <a:rPr sz="1500" b="1">
                          <a:solidFill>
                            <a:srgbClr val="FFFFFF"/>
                          </a:solidFill>
                          <a:latin typeface="Arial"/>
                          <a:ea typeface="Arial"/>
                          <a:cs typeface="Arial"/>
                        </a:rPr>
                        <a:t>Đã sửa (v2) · kiểm chứng</a:t>
                      </a:r>
                    </a:p>
                  </a:txBody>
                  <a:tcPr marL="91440" marR="91440" marT="45720" marB="45720" anchor="ctr">
                    <a:solidFill>
                      <a:srgbClr val="20567B"/>
                    </a:solidFill>
                  </a:tcPr>
                </a:tc>
              </a:tr>
              <a:tr h="641350">
                <a:tc>
                  <a:txBody>
                    <a:bodyPr/>
                    <a:lstStyle/>
                    <a:p>
                      <a:pPr algn="l"/>
                      <a:r>
                        <a:rPr sz="1500" b="0">
                          <a:solidFill>
                            <a:srgbClr val="163047"/>
                          </a:solidFill>
                          <a:latin typeface="Arial"/>
                          <a:ea typeface="Arial"/>
                          <a:cs typeface="Arial"/>
                        </a:rPr>
                        <a:t>data.py: lọc 3σ</a:t>
                      </a:r>
                    </a:p>
                  </a:txBody>
                  <a:tcPr marL="91440" marR="91440" marT="45720" marB="45720" anchor="ctr">
                    <a:solidFill>
                      <a:srgbClr val="EAF3F7"/>
                    </a:solidFill>
                  </a:tcPr>
                </a:tc>
                <a:tc>
                  <a:txBody>
                    <a:bodyPr/>
                    <a:lstStyle/>
                    <a:p>
                      <a:pPr algn="l"/>
                      <a:r>
                        <a:rPr sz="1500" b="0">
                          <a:solidFill>
                            <a:srgbClr val="163047"/>
                          </a:solidFill>
                          <a:latin typeface="Arial"/>
                          <a:ea typeface="Arial"/>
                          <a:cs typeface="Arial"/>
                        </a:rPr>
                        <a:t>Dùng toàn vòng đời từng cell</a:t>
                      </a:r>
                    </a:p>
                  </a:txBody>
                  <a:tcPr marL="91440" marR="91440" marT="45720" marB="45720" anchor="ctr">
                    <a:solidFill>
                      <a:srgbClr val="EAF3F7"/>
                    </a:solidFill>
                  </a:tcPr>
                </a:tc>
                <a:tc>
                  <a:txBody>
                    <a:bodyPr/>
                    <a:lstStyle/>
                    <a:p>
                      <a:pPr algn="l"/>
                      <a:r>
                        <a:rPr sz="1500" b="0">
                          <a:solidFill>
                            <a:srgbClr val="163047"/>
                          </a:solidFill>
                          <a:latin typeface="Arial"/>
                          <a:ea typeface="Arial"/>
                          <a:cs typeface="Arial"/>
                        </a:rPr>
                        <a:t>Cửa sổ 50 chu kỳ quá khứ · phá tương lai: 0 thay đổi</a:t>
                      </a:r>
                    </a:p>
                  </a:txBody>
                  <a:tcPr marL="91440" marR="91440" marT="45720" marB="45720" anchor="ctr">
                    <a:solidFill>
                      <a:srgbClr val="EAF3F7"/>
                    </a:solidFill>
                  </a:tcPr>
                </a:tc>
              </a:tr>
              <a:tr h="641350">
                <a:tc>
                  <a:txBody>
                    <a:bodyPr/>
                    <a:lstStyle/>
                    <a:p>
                      <a:pPr algn="l"/>
                      <a:r>
                        <a:rPr sz="1500" b="0">
                          <a:solidFill>
                            <a:srgbClr val="163047"/>
                          </a:solidFill>
                          <a:latin typeface="Arial"/>
                          <a:ea typeface="Arial"/>
                          <a:cs typeface="Arial"/>
                        </a:rPr>
                        <a:t>data.py: dropna()</a:t>
                      </a:r>
                    </a:p>
                  </a:txBody>
                  <a:tcPr marL="91440" marR="91440" marT="45720" marB="45720" anchor="ctr">
                    <a:solidFill>
                      <a:srgbClr val="FFFFFF"/>
                    </a:solidFill>
                  </a:tcPr>
                </a:tc>
                <a:tc>
                  <a:txBody>
                    <a:bodyPr/>
                    <a:lstStyle/>
                    <a:p>
                      <a:pPr algn="l"/>
                      <a:r>
                        <a:rPr sz="1500" b="0">
                          <a:solidFill>
                            <a:srgbClr val="163047"/>
                          </a:solidFill>
                          <a:latin typeface="Arial"/>
                          <a:ea typeface="Arial"/>
                          <a:cs typeface="Arial"/>
                        </a:rPr>
                        <a:t>Thiếu capacity làm mất hàng</a:t>
                      </a:r>
                    </a:p>
                  </a:txBody>
                  <a:tcPr marL="91440" marR="91440" marT="45720" marB="45720" anchor="ctr">
                    <a:solidFill>
                      <a:srgbClr val="FFFFFF"/>
                    </a:solidFill>
                  </a:tcPr>
                </a:tc>
                <a:tc>
                  <a:txBody>
                    <a:bodyPr/>
                    <a:lstStyle/>
                    <a:p>
                      <a:pPr algn="l"/>
                      <a:r>
                        <a:rPr sz="1500" b="0">
                          <a:solidFill>
                            <a:srgbClr val="163047"/>
                          </a:solidFill>
                          <a:latin typeface="Arial"/>
                          <a:ea typeface="Arial"/>
                          <a:cs typeface="Arial"/>
                        </a:rPr>
                        <a:t>Chỉ loại khi đặc trưng lỗi · CSV không nhãn nạp đủ</a:t>
                      </a:r>
                    </a:p>
                  </a:txBody>
                  <a:tcPr marL="91440" marR="91440" marT="45720" marB="45720" anchor="ctr">
                    <a:solidFill>
                      <a:srgbClr val="FFFFFF"/>
                    </a:solidFill>
                  </a:tcPr>
                </a:tc>
              </a:tr>
              <a:tr h="641350">
                <a:tc>
                  <a:txBody>
                    <a:bodyPr/>
                    <a:lstStyle/>
                    <a:p>
                      <a:pPr algn="l"/>
                      <a:r>
                        <a:rPr sz="1500" b="0">
                          <a:solidFill>
                            <a:srgbClr val="163047"/>
                          </a:solidFill>
                          <a:latin typeface="Arial"/>
                          <a:ea typeface="Arial"/>
                          <a:cs typeface="Arial"/>
                        </a:rPr>
                        <a:t>train.py: normalizer</a:t>
                      </a:r>
                    </a:p>
                  </a:txBody>
                  <a:tcPr marL="91440" marR="91440" marT="45720" marB="45720" anchor="ctr">
                    <a:solidFill>
                      <a:srgbClr val="EAF3F7"/>
                    </a:solidFill>
                  </a:tcPr>
                </a:tc>
                <a:tc>
                  <a:txBody>
                    <a:bodyPr/>
                    <a:lstStyle/>
                    <a:p>
                      <a:pPr algn="l"/>
                      <a:r>
                        <a:rPr sz="1500" b="0">
                          <a:solidFill>
                            <a:srgbClr val="163047"/>
                          </a:solidFill>
                          <a:latin typeface="Arial"/>
                          <a:ea typeface="Arial"/>
                          <a:cs typeface="Arial"/>
                        </a:rPr>
                        <a:t>MLP và PINN fit trên pool khác</a:t>
                      </a:r>
                    </a:p>
                  </a:txBody>
                  <a:tcPr marL="91440" marR="91440" marT="45720" marB="45720" anchor="ctr">
                    <a:solidFill>
                      <a:srgbClr val="EAF3F7"/>
                    </a:solidFill>
                  </a:tcPr>
                </a:tc>
                <a:tc>
                  <a:txBody>
                    <a:bodyPr/>
                    <a:lstStyle/>
                    <a:p>
                      <a:pPr algn="l"/>
                      <a:r>
                        <a:rPr sz="1500" b="0">
                          <a:solidFill>
                            <a:srgbClr val="163047"/>
                          </a:solidFill>
                          <a:latin typeface="Arial"/>
                          <a:ea typeface="Arial"/>
                          <a:cs typeface="Arial"/>
                        </a:rPr>
                        <a:t>norm_pool=train · mu, sd trùng từng bit</a:t>
                      </a:r>
                    </a:p>
                  </a:txBody>
                  <a:tcPr marL="91440" marR="91440" marT="45720" marB="45720" anchor="ctr">
                    <a:solidFill>
                      <a:srgbClr val="EAF3F7"/>
                    </a:solidFill>
                  </a:tcPr>
                </a:tc>
              </a:tr>
              <a:tr h="641350">
                <a:tc>
                  <a:txBody>
                    <a:bodyPr/>
                    <a:lstStyle/>
                    <a:p>
                      <a:pPr algn="l"/>
                      <a:r>
                        <a:rPr sz="1500" b="0">
                          <a:solidFill>
                            <a:srgbClr val="163047"/>
                          </a:solidFill>
                          <a:latin typeface="Arial"/>
                          <a:ea typeface="Arial"/>
                          <a:cs typeface="Arial"/>
                        </a:rPr>
                        <a:t>data.py: sample_pairs</a:t>
                      </a:r>
                    </a:p>
                  </a:txBody>
                  <a:tcPr marL="91440" marR="91440" marT="45720" marB="45720" anchor="ctr">
                    <a:solidFill>
                      <a:srgbClr val="FFFFFF"/>
                    </a:solidFill>
                  </a:tcPr>
                </a:tc>
                <a:tc>
                  <a:txBody>
                    <a:bodyPr/>
                    <a:lstStyle/>
                    <a:p>
                      <a:pPr algn="l"/>
                      <a:r>
                        <a:rPr sz="1500" b="0">
                          <a:solidFill>
                            <a:srgbClr val="163047"/>
                          </a:solidFill>
                          <a:latin typeface="Arial"/>
                          <a:ea typeface="Arial"/>
                          <a:cs typeface="Arial"/>
                        </a:rPr>
                        <a:t>h là số hàng sau lọc</a:t>
                      </a:r>
                    </a:p>
                  </a:txBody>
                  <a:tcPr marL="91440" marR="91440" marT="45720" marB="45720" anchor="ctr">
                    <a:solidFill>
                      <a:srgbClr val="FFFFFF"/>
                    </a:solidFill>
                  </a:tcPr>
                </a:tc>
                <a:tc>
                  <a:txBody>
                    <a:bodyPr/>
                    <a:lstStyle/>
                    <a:p>
                      <a:pPr algn="l"/>
                      <a:r>
                        <a:rPr sz="1500" b="0">
                          <a:solidFill>
                            <a:srgbClr val="163047"/>
                          </a:solidFill>
                          <a:latin typeface="Arial"/>
                          <a:ea typeface="Arial"/>
                          <a:cs typeface="Arial"/>
                        </a:rPr>
                        <a:t>Theo chu kỳ gốc · v1 lệch ở 27,60 % cặp</a:t>
                      </a:r>
                    </a:p>
                  </a:txBody>
                  <a:tcPr marL="91440" marR="91440" marT="45720" marB="45720" anchor="ctr">
                    <a:solidFill>
                      <a:srgbClr val="FFFFFF"/>
                    </a:solidFill>
                  </a:tcPr>
                </a:tc>
              </a:tr>
              <a:tr h="641350">
                <a:tc>
                  <a:txBody>
                    <a:bodyPr/>
                    <a:lstStyle/>
                    <a:p>
                      <a:pPr algn="l"/>
                      <a:r>
                        <a:rPr sz="1500" b="0">
                          <a:solidFill>
                            <a:srgbClr val="163047"/>
                          </a:solidFill>
                          <a:latin typeface="Arial"/>
                          <a:ea typeface="Arial"/>
                          <a:cs typeface="Arial"/>
                        </a:rPr>
                        <a:t>metrics.py: EOL</a:t>
                      </a:r>
                    </a:p>
                  </a:txBody>
                  <a:tcPr marL="91440" marR="91440" marT="45720" marB="45720" anchor="ctr">
                    <a:solidFill>
                      <a:srgbClr val="EAF3F7"/>
                    </a:solidFill>
                  </a:tcPr>
                </a:tc>
                <a:tc>
                  <a:txBody>
                    <a:bodyPr/>
                    <a:lstStyle/>
                    <a:p>
                      <a:pPr algn="l"/>
                      <a:r>
                        <a:rPr sz="1500" b="0">
                          <a:solidFill>
                            <a:srgbClr val="163047"/>
                          </a:solidFill>
                          <a:latin typeface="Arial"/>
                          <a:ea typeface="Arial"/>
                          <a:cs typeface="Arial"/>
                        </a:rPr>
                        <a:t>Chỉ số hàng, chưa kiểm duyệt</a:t>
                      </a:r>
                    </a:p>
                  </a:txBody>
                  <a:tcPr marL="91440" marR="91440" marT="45720" marB="45720" anchor="ctr">
                    <a:solidFill>
                      <a:srgbClr val="EAF3F7"/>
                    </a:solidFill>
                  </a:tcPr>
                </a:tc>
                <a:tc>
                  <a:txBody>
                    <a:bodyPr/>
                    <a:lstStyle/>
                    <a:p>
                      <a:pPr algn="l"/>
                      <a:r>
                        <a:rPr sz="1500" b="0">
                          <a:solidFill>
                            <a:srgbClr val="163047"/>
                          </a:solidFill>
                          <a:latin typeface="Arial"/>
                          <a:ea typeface="Arial"/>
                          <a:cs typeface="Arial"/>
                        </a:rPr>
                        <a:t>Theo chu kỳ · tách bỏ sót / báo giả</a:t>
                      </a:r>
                    </a:p>
                  </a:txBody>
                  <a:tcPr marL="91440" marR="91440" marT="45720" marB="45720" anchor="ctr">
                    <a:solidFill>
                      <a:srgbClr val="EAF3F7"/>
                    </a:solidFill>
                  </a:tcPr>
                </a:tc>
              </a:tr>
            </a:tbl>
          </a:graphicData>
        </a:graphic>
      </p:graphicFrame>
      <p:sp>
        <p:nvSpPr>
          <p:cNvPr id="6" name="">
            <a:extLst xmlns:a="http://schemas.openxmlformats.org/drawingml/2006/main">
              <a:ext uri="{FF2B5EF4-FFF2-40B4-BE49-F238E27FC236}">
                <a16:creationId xmlns:a16="http://schemas.microsoft.com/office/drawing/2014/main" id="{9C993959-BCF1-49EC-A135-B8AC22185A0C}"/>
              </a:ext>
            </a:extLst>
          </p:cNvPr>
          <p:cNvSpPr>
            <a:spLocks xmlns:a="http://schemas.openxmlformats.org/drawingml/2006/main" noGrp="1"/>
          </p:cNvSpPr>
          <p:nvPr/>
        </p:nvSpPr>
        <p:spPr>
          <a:xfrm xmlns:a="http://schemas.openxmlformats.org/drawingml/2006/main">
            <a:off x="619125" y="6105525"/>
            <a:ext cx="1071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1:p xmlns:ns1="http://schemas.openxmlformats.org/drawingml/2006/main">
            <ns1:pPr algn="l">
              <ns1:defRPr sz="1275" b="0">
                <ns1:solidFill>
                  <ns1:srgbClr val="526778"/>
                </ns1:solidFill>
                <ns1:latin typeface="Arial"/>
                <ns1:ea typeface="Arial"/>
                <ns1:cs typeface="Arial"/>
              </ns1:defRPr>
            </ns1:pPr>
            <ns1:r>
              <ns1:rPr sz="1275" b="0">
                <ns1:solidFill>
                  <ns1:srgbClr val="526778"/>
                </ns1:solidFill>
                <ns1:latin typeface="Arial"/>
                <ns1:ea typeface="Arial"/>
                <ns1:cs typeface="Arial"/>
              </ns1:rPr>
              <ns1:t>verify_pipeline.py: 21/21 phép kiểm đạt. v1 vẫn là mặc định và tái lập từng bit log cũ (đã kiểm trên XJTU, TJU).</ns1:t>
            </ns1:r>
          </ns1:p>
        </p:txBody>
      </p:sp>
    </p:spTree>
    <p:extLst>
      <p:ext uri="{BB962C8B-B14F-4D97-AF65-F5344CB8AC3E}">
        <p14:creationId xmlns:p14="http://schemas.microsoft.com/office/powerpoint/2010/main" val="147235544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26DA19B-FF80-44EB-B72A-54E5BD2D9B29}"/>
              </a:ext>
            </a:extLst>
          </p:cNvPr>
          <p:cNvSpPr>
            <a:spLocks xmlns:a="http://schemas.openxmlformats.org/drawingml/2006/main" noGrp="1"/>
          </p:cNvSpPr>
          <p:nvPr/>
        </p:nvSpPr>
        <p:spPr>
          <a:xfrm xmlns:a="http://schemas.openxmlformats.org/drawingml/2006/main">
            <a:off x="0" y="0"/>
            <a:ext cx="12192000" cy="952500"/>
          </a:xfrm>
          <a:prstGeom xmlns:a="http://schemas.openxmlformats.org/drawingml/2006/main" prst="rect">
            <a:avLst/>
          </a:prstGeom>
          <a:solidFill xmlns:a="http://schemas.openxmlformats.org/drawingml/2006/main">
            <a:srgbClr val="20567B"/>
          </a:solidFill>
          <a:ln xmlns:a="http://schemas.openxmlformats.org/drawingml/2006/main" w="9525">
            <a:solidFill>
              <a:srgbClr val="20567B"/>
            </a:solidFill>
          </a:ln>
        </p:spPr>
      </p:sp>
      <p:sp>
        <p:nvSpPr>
          <p:cNvPr id="2" name="">
            <a:extLst xmlns:a="http://schemas.openxmlformats.org/drawingml/2006/main">
              <a:ext uri="{FF2B5EF4-FFF2-40B4-BE49-F238E27FC236}">
                <a16:creationId xmlns:a16="http://schemas.microsoft.com/office/drawing/2014/main" id="{F1C61F31-3A52-43F6-BF6F-946EEDC48AB8}"/>
              </a:ext>
            </a:extLst>
          </p:cNvPr>
          <p:cNvSpPr>
            <a:spLocks xmlns:a="http://schemas.openxmlformats.org/drawingml/2006/main" noGrp="1"/>
          </p:cNvSpPr>
          <p:nvPr/>
        </p:nvSpPr>
        <p:spPr>
          <a:xfrm xmlns:a="http://schemas.openxmlformats.org/drawingml/2006/main">
            <a:off x="542925" y="66675"/>
            <a:ext cx="11239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Tính vật lý và giới hạn của chứng minh</a:t>
            </a:r>
          </a:p>
        </p:txBody>
      </p:sp>
      <p:sp>
        <p:nvSpPr>
          <p:cNvPr id="3" name="">
            <a:extLst xmlns:a="http://schemas.openxmlformats.org/drawingml/2006/main">
              <a:ext uri="{FF2B5EF4-FFF2-40B4-BE49-F238E27FC236}">
                <a16:creationId xmlns:a16="http://schemas.microsoft.com/office/drawing/2014/main" id="{C949B897-2860-4625-9634-8A24A8D09DE9}"/>
              </a:ext>
            </a:extLst>
          </p:cNvPr>
          <p:cNvSpPr>
            <a:spLocks xmlns:a="http://schemas.openxmlformats.org/drawingml/2006/main" noGrp="1"/>
          </p:cNvSpPr>
          <p:nvPr/>
        </p:nvSpPr>
        <p:spPr>
          <a:xfrm xmlns:a="http://schemas.openxmlformats.org/drawingml/2006/main">
            <a:off x="11144250" y="6400800"/>
            <a:ext cx="333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0:p xmlns:ns0="http://schemas.openxmlformats.org/drawingml/2006/main">
            <ns0:pPr algn="l">
              <ns0:defRPr sz="1200" b="1">
                <ns0:solidFill>
                  <ns0:srgbClr val="20567B"/>
                </ns0:solidFill>
                <ns0:latin typeface="Arial"/>
                <ns0:ea typeface="Arial"/>
                <ns0:cs typeface="Arial"/>
              </ns0:defRPr>
            </ns0:pPr>
            <ns0:r>
              <ns0:rPr sz="1200" b="1">
                <ns0:solidFill>
                  <ns0:srgbClr val="20567B"/>
                </ns0:solidFill>
                <ns0:latin typeface="Arial"/>
                <ns0:ea typeface="Arial"/>
                <ns0:cs typeface="Arial"/>
              </ns0:rPr>
              <ns0:t>17</ns0:t>
            </ns0:r>
          </ns0: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dc42d25f61448ed"/>
          <a:stretch xmlns:a="http://schemas.openxmlformats.org/drawingml/2006/main"/>
        </p:blipFill>
        <p:spPr>
          <a:xfrm xmlns:a="http://schemas.openxmlformats.org/drawingml/2006/main">
            <a:off x="11696700" y="6384974"/>
            <a:ext cx="285750" cy="26025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67FA7CA-A694-4779-8D0D-262A9BC8CB4C}"/>
              </a:ext>
            </a:extLst>
          </p:cNvPr>
          <p:cNvSpPr>
            <a:spLocks xmlns:a="http://schemas.openxmlformats.org/drawingml/2006/main" noGrp="1"/>
          </p:cNvSpPr>
          <p:nvPr/>
        </p:nvSpPr>
        <p:spPr>
          <a:xfrm xmlns:a="http://schemas.openxmlformats.org/drawingml/2006/main">
            <a:off x="619125" y="15240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1">
                <a:solidFill>
                  <a:srgbClr val="20567B"/>
                </a:solidFill>
                <a:latin typeface="Arial"/>
                <a:ea typeface="Arial"/>
                <a:cs typeface="Arial"/>
              </a:defRPr>
            </a:pPr>
            <a:r>
              <a:rPr sz="2025" b="1">
                <a:solidFill>
                  <a:srgbClr val="20567B"/>
                </a:solidFill>
                <a:latin typeface="Arial"/>
                <a:ea typeface="Arial"/>
                <a:cs typeface="Arial"/>
              </a:rPr>
              <a:t>Tốc độ không âm</a:t>
            </a:r>
          </a:p>
        </p:txBody>
      </p:sp>
      <p:sp>
        <p:nvSpPr>
          <p:cNvPr id="6" name="">
            <a:extLst xmlns:a="http://schemas.openxmlformats.org/drawingml/2006/main">
              <a:ext uri="{FF2B5EF4-FFF2-40B4-BE49-F238E27FC236}">
                <a16:creationId xmlns:a16="http://schemas.microsoft.com/office/drawing/2014/main" id="{1F292E66-D7D5-4B58-B378-DD728B35D0CE}"/>
              </a:ext>
            </a:extLst>
          </p:cNvPr>
          <p:cNvSpPr>
            <a:spLocks xmlns:a="http://schemas.openxmlformats.org/drawingml/2006/main" noGrp="1"/>
          </p:cNvSpPr>
          <p:nvPr/>
        </p:nvSpPr>
        <p:spPr>
          <a:xfrm xmlns:a="http://schemas.openxmlformats.org/drawingml/2006/main">
            <a:off x="619125" y="190500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63047"/>
                </a:solidFill>
                <a:latin typeface="Arial"/>
                <a:ea typeface="Arial"/>
                <a:cs typeface="Arial"/>
              </a:defRPr>
            </a:pPr>
            <a:r>
              <a:rPr sz="1800" b="0">
                <a:solidFill>
                  <a:srgbClr val="163047"/>
                </a:solidFill>
                <a:latin typeface="Arial"/>
                <a:ea typeface="Arial"/>
                <a:cs typeface="Arial"/>
              </a:rPr>
              <a:t>r ≥ 0 không tự bảo đảm mạng nghiệm Fφ giảm theo quỹ đạo.</a:t>
            </a:r>
          </a:p>
        </p:txBody>
      </p:sp>
      <p:sp>
        <p:nvSpPr>
          <p:cNvPr id="7" name="">
            <a:extLst xmlns:a="http://schemas.openxmlformats.org/drawingml/2006/main">
              <a:ext uri="{FF2B5EF4-FFF2-40B4-BE49-F238E27FC236}">
                <a16:creationId xmlns:a16="http://schemas.microsoft.com/office/drawing/2014/main" id="{32C6ACE0-CC5C-4381-A6C8-6E7E5C968D91}"/>
              </a:ext>
            </a:extLst>
          </p:cNvPr>
          <p:cNvSpPr>
            <a:spLocks xmlns:a="http://schemas.openxmlformats.org/drawingml/2006/main" noGrp="1"/>
          </p:cNvSpPr>
          <p:nvPr/>
        </p:nvSpPr>
        <p:spPr>
          <a:xfrm xmlns:a="http://schemas.openxmlformats.org/drawingml/2006/main">
            <a:off x="619125" y="28575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1">
                <a:solidFill>
                  <a:srgbClr val="20567B"/>
                </a:solidFill>
                <a:latin typeface="Arial"/>
                <a:ea typeface="Arial"/>
                <a:cs typeface="Arial"/>
              </a:defRPr>
            </a:pPr>
            <a:r>
              <a:rPr sz="2025" b="1">
                <a:solidFill>
                  <a:srgbClr val="20567B"/>
                </a:solidFill>
                <a:latin typeface="Arial"/>
                <a:ea typeface="Arial"/>
                <a:cs typeface="Arial"/>
              </a:rPr>
              <a:t>Đơn điệu theo thời gian</a:t>
            </a:r>
          </a:p>
        </p:txBody>
      </p:sp>
      <p:sp>
        <p:nvSpPr>
          <p:cNvPr id="8" name="">
            <a:extLst xmlns:a="http://schemas.openxmlformats.org/drawingml/2006/main">
              <a:ext uri="{FF2B5EF4-FFF2-40B4-BE49-F238E27FC236}">
                <a16:creationId xmlns:a16="http://schemas.microsoft.com/office/drawing/2014/main" id="{5CBF70E9-A1B1-47FD-A355-8B6A17A1D10C}"/>
              </a:ext>
            </a:extLst>
          </p:cNvPr>
          <p:cNvSpPr>
            <a:spLocks xmlns:a="http://schemas.openxmlformats.org/drawingml/2006/main" noGrp="1"/>
          </p:cNvSpPr>
          <p:nvPr/>
        </p:nvSpPr>
        <p:spPr>
          <a:xfrm xmlns:a="http://schemas.openxmlformats.org/drawingml/2006/main">
            <a:off x="619125" y="323850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63047"/>
                </a:solidFill>
                <a:latin typeface="Arial"/>
                <a:ea typeface="Arial"/>
                <a:cs typeface="Arial"/>
              </a:defRPr>
            </a:pPr>
            <a:r>
              <a:rPr sz="1800" b="0">
                <a:solidFill>
                  <a:srgbClr val="163047"/>
                </a:solidFill>
                <a:latin typeface="Arial"/>
                <a:ea typeface="Arial"/>
                <a:cs typeface="Arial"/>
              </a:rPr>
              <a:t>∂u/∂t ≤ 0 khi giữ x cố định. Dọc cell, x cũng thay đổi theo chu kỳ.</a:t>
            </a:r>
          </a:p>
        </p:txBody>
      </p:sp>
      <p:sp>
        <p:nvSpPr>
          <p:cNvPr id="9" name="">
            <a:extLst xmlns:a="http://schemas.openxmlformats.org/drawingml/2006/main">
              <a:ext uri="{FF2B5EF4-FFF2-40B4-BE49-F238E27FC236}">
                <a16:creationId xmlns:a16="http://schemas.microsoft.com/office/drawing/2014/main" id="{8A5ADF98-201D-406C-8D72-7172CDEB9B2E}"/>
              </a:ext>
            </a:extLst>
          </p:cNvPr>
          <p:cNvSpPr>
            <a:spLocks xmlns:a="http://schemas.openxmlformats.org/drawingml/2006/main" noGrp="1"/>
          </p:cNvSpPr>
          <p:nvPr/>
        </p:nvSpPr>
        <p:spPr>
          <a:xfrm xmlns:a="http://schemas.openxmlformats.org/drawingml/2006/main">
            <a:off x="619125" y="41910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1">
                <a:solidFill>
                  <a:srgbClr val="20567B"/>
                </a:solidFill>
                <a:latin typeface="Arial"/>
                <a:ea typeface="Arial"/>
                <a:cs typeface="Arial"/>
              </a:defRPr>
            </a:pPr>
            <a:r>
              <a:rPr sz="2025" b="1">
                <a:solidFill>
                  <a:srgbClr val="20567B"/>
                </a:solidFill>
                <a:latin typeface="Arial"/>
                <a:ea typeface="Arial"/>
                <a:cs typeface="Arial"/>
              </a:rPr>
              <a:t>Hệ số Arrhenius</a:t>
            </a:r>
          </a:p>
        </p:txBody>
      </p:sp>
      <p:sp>
        <p:nvSpPr>
          <p:cNvPr id="10" name="">
            <a:extLst xmlns:a="http://schemas.openxmlformats.org/drawingml/2006/main">
              <a:ext uri="{FF2B5EF4-FFF2-40B4-BE49-F238E27FC236}">
                <a16:creationId xmlns:a16="http://schemas.microsoft.com/office/drawing/2014/main" id="{64B4CA7A-05E7-43A5-AC56-17552F4FBC99}"/>
              </a:ext>
            </a:extLst>
          </p:cNvPr>
          <p:cNvSpPr>
            <a:spLocks xmlns:a="http://schemas.openxmlformats.org/drawingml/2006/main" noGrp="1"/>
          </p:cNvSpPr>
          <p:nvPr/>
        </p:nvSpPr>
        <p:spPr>
          <a:xfrm xmlns:a="http://schemas.openxmlformats.org/drawingml/2006/main">
            <a:off x="619125" y="457200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63047"/>
                </a:solidFill>
                <a:latin typeface="Arial"/>
                <a:ea typeface="Arial"/>
                <a:cs typeface="Arial"/>
              </a:defRPr>
            </a:pPr>
            <a:r>
              <a:rPr sz="1800" b="0">
                <a:solidFill>
                  <a:srgbClr val="163047"/>
                </a:solidFill>
                <a:latin typeface="Arial"/>
                <a:ea typeface="Arial"/>
                <a:cs typeface="Arial"/>
              </a:rPr>
              <a:t>Một nhiệt độ không đủ tách Ea khỏi k(x). T = Tref mới có gradient Ea bằng 0.</a:t>
            </a:r>
          </a:p>
        </p:txBody>
      </p:sp>
      <p:sp>
        <p:nvSpPr>
          <p:cNvPr id="11" name="">
            <a:extLst xmlns:a="http://schemas.openxmlformats.org/drawingml/2006/main">
              <a:ext uri="{FF2B5EF4-FFF2-40B4-BE49-F238E27FC236}">
                <a16:creationId xmlns:a16="http://schemas.microsoft.com/office/drawing/2014/main" id="{7054D61F-44E1-45F3-8ACC-0A6B549284E3}"/>
              </a:ext>
            </a:extLst>
          </p:cNvPr>
          <p:cNvSpPr>
            <a:spLocks xmlns:a="http://schemas.openxmlformats.org/drawingml/2006/main" noGrp="1"/>
          </p:cNvSpPr>
          <p:nvPr/>
        </p:nvSpPr>
        <p:spPr>
          <a:xfrm xmlns:a="http://schemas.openxmlformats.org/drawingml/2006/main">
            <a:off x="619125" y="6105525"/>
            <a:ext cx="1071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526778"/>
                </a:solidFill>
                <a:latin typeface="Arial"/>
                <a:ea typeface="Arial"/>
                <a:cs typeface="Arial"/>
              </a:defRPr>
            </a:pPr>
            <a:r>
              <a:rPr sz="1275" b="0">
                <a:solidFill>
                  <a:srgbClr val="526778"/>
                </a:solidFill>
                <a:latin typeface="Arial"/>
                <a:ea typeface="Arial"/>
                <a:cs typeface="Arial"/>
              </a:rPr>
              <a:t>Autograd theo t và sai phân dọc quỹ đạo là hai ràng buộc khác nhau, cần ablation riêng.</a:t>
            </a:r>
          </a:p>
        </p:txBody>
      </p:sp>
    </p:spTree>
    <p:extLst>
      <p:ext uri="{BB962C8B-B14F-4D97-AF65-F5344CB8AC3E}">
        <p14:creationId xmlns:p14="http://schemas.microsoft.com/office/powerpoint/2010/main" val="180227407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2DD91DF-1BC8-4F4E-9AB0-2B55DB203359}"/>
              </a:ext>
            </a:extLst>
          </p:cNvPr>
          <p:cNvSpPr>
            <a:spLocks xmlns:a="http://schemas.openxmlformats.org/drawingml/2006/main" noGrp="1"/>
          </p:cNvSpPr>
          <p:nvPr/>
        </p:nvSpPr>
        <p:spPr>
          <a:xfrm xmlns:a="http://schemas.openxmlformats.org/drawingml/2006/main">
            <a:off x="0" y="0"/>
            <a:ext cx="12192000" cy="952500"/>
          </a:xfrm>
          <a:prstGeom xmlns:a="http://schemas.openxmlformats.org/drawingml/2006/main" prst="rect">
            <a:avLst/>
          </a:prstGeom>
          <a:solidFill xmlns:a="http://schemas.openxmlformats.org/drawingml/2006/main">
            <a:srgbClr val="20567B"/>
          </a:solidFill>
          <a:ln xmlns:a="http://schemas.openxmlformats.org/drawingml/2006/main" w="9525">
            <a:solidFill>
              <a:srgbClr val="20567B"/>
            </a:solid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93E37DA-E3BE-4B30-851A-78B8357C043D}"/>
              </a:ext>
            </a:extLst>
          </p:cNvPr>
          <p:cNvSpPr>
            <a:spLocks xmlns:a="http://schemas.openxmlformats.org/drawingml/2006/main" noGrp="1"/>
          </p:cNvSpPr>
          <p:nvPr/>
        </p:nvSpPr>
        <p:spPr>
          <a:xfrm xmlns:a="http://schemas.openxmlformats.org/drawingml/2006/main">
            <a:off x="542925" y="66675"/>
            <a:ext cx="11239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0:p xmlns:ns0="http://schemas.openxmlformats.org/drawingml/2006/main">
            <ns0:pPr algn="l">
              <ns0:defRPr sz="2700" b="1">
                <ns0:solidFill>
                  <ns0:srgbClr val="FFFFFF"/>
                </ns0:solidFill>
                <ns0:latin typeface="Arial"/>
                <ns0:ea typeface="Arial"/>
                <ns0:cs typeface="Arial"/>
              </ns0:defRPr>
            </ns0:pPr>
            <ns0:r>
              <ns0:rPr sz="2700" b="1">
                <ns0:solidFill>
                  <ns0:srgbClr val="FFFFFF"/>
                </ns0:solidFill>
                <ns0:latin typeface="Arial"/>
                <ns0:ea typeface="Arial"/>
                <ns0:cs typeface="Arial"/>
              </ns0:rPr>
              <ns0:t>Khung kết quả: đã chạy đủ trong E13</ns0:t>
            </ns0:r>
          </ns0:p>
        </p:txBody>
      </p:sp>
      <p:sp>
        <p:nvSpPr>
          <p:cNvPr id="3" name="">
            <a:extLst xmlns:a="http://schemas.openxmlformats.org/drawingml/2006/main">
              <a:ext uri="{FF2B5EF4-FFF2-40B4-BE49-F238E27FC236}">
                <a16:creationId xmlns:a16="http://schemas.microsoft.com/office/drawing/2014/main" id="{8C9AE867-B456-4135-B8DB-629FD7A4BC8E}"/>
              </a:ext>
            </a:extLst>
          </p:cNvPr>
          <p:cNvSpPr>
            <a:spLocks xmlns:a="http://schemas.openxmlformats.org/drawingml/2006/main" noGrp="1"/>
          </p:cNvSpPr>
          <p:nvPr/>
        </p:nvSpPr>
        <p:spPr>
          <a:xfrm xmlns:a="http://schemas.openxmlformats.org/drawingml/2006/main">
            <a:off x="11144250" y="6400800"/>
            <a:ext cx="333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3:p xmlns:ns3="http://schemas.openxmlformats.org/drawingml/2006/main">
            <ns3:pPr algn="l">
              <ns3:defRPr sz="1200" b="1">
                <ns3:solidFill>
                  <ns3:srgbClr val="20567B"/>
                </ns3:solidFill>
                <ns3:latin typeface="Arial"/>
                <ns3:ea typeface="Arial"/>
                <ns3:cs typeface="Arial"/>
              </ns3:defRPr>
            </ns3:pPr>
            <ns3:r>
              <ns3:rPr sz="1200" b="1">
                <ns3:solidFill>
                  <ns3:srgbClr val="20567B"/>
                </ns3:solidFill>
                <ns3:latin typeface="Arial"/>
                <ns3:ea typeface="Arial"/>
                <ns3:cs typeface="Arial"/>
              </ns3:rPr>
              <ns3:t>18</ns3:t>
            </ns3:r>
          </ns3: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49deedc8b9c4300"/>
          <a:stretch xmlns:a="http://schemas.openxmlformats.org/drawingml/2006/main"/>
        </p:blipFill>
        <p:spPr>
          <a:xfrm xmlns:a="http://schemas.openxmlformats.org/drawingml/2006/main">
            <a:off x="11696700" y="6384974"/>
            <a:ext cx="285750" cy="260252"/>
          </a:xfrm>
          <a:prstGeom xmlns:a="http://schemas.openxmlformats.org/drawingml/2006/main" prst="rect">
            <a:avLst/>
          </a:prstGeom>
        </p:spPr>
      </p:pic>
      <p:graphicFrame>
        <p:nvGraphicFramePr>
          <p:cNvPr id="12" name=""/>
          <p:cNvGraphicFramePr/>
          <p:nvPr/>
        </p:nvGraphicFramePr>
        <p:xfrm>
          <a:off xmlns:a="http://schemas.openxmlformats.org/drawingml/2006/main" x="533400" y="1457325"/>
          <a:ext xmlns:a="http://schemas.openxmlformats.org/drawingml/2006/main" cx="11128248" cy="3686178"/>
        </p:xfrm>
        <a:graphic xmlns:a="http://schemas.openxmlformats.org/drawingml/2006/main">
          <a:graphicData uri="http://schemas.openxmlformats.org/drawingml/2006/table">
            <a:tbl>
              <a:tblPr/>
              <a:tblGrid>
                <a:gridCol w="2834640"/>
                <a:gridCol w="3291840"/>
                <a:gridCol w="5001768"/>
              </a:tblGrid>
              <a:tr h="614363">
                <a:tc>
                  <a:txBody>
                    <a:bodyPr/>
                    <a:lstStyle/>
                    <a:p>
                      <a:pPr algn="l"/>
                      <a:r>
                        <a:rPr sz="1500" b="1">
                          <a:solidFill>
                            <a:srgbClr val="FFFFFF"/>
                          </a:solidFill>
                          <a:latin typeface="Arial"/>
                          <a:ea typeface="Arial"/>
                          <a:cs typeface="Arial"/>
                        </a:rPr>
                        <a:t>Đối chứng sau sửa</a:t>
                      </a:r>
                    </a:p>
                  </a:txBody>
                  <a:tcPr marL="91440" marR="91440" marT="45720" marB="45720" anchor="ctr">
                    <a:solidFill>
                      <a:srgbClr val="20567B"/>
                    </a:solidFill>
                  </a:tcPr>
                </a:tc>
                <a:tc>
                  <a:txBody>
                    <a:bodyPr/>
                    <a:lstStyle/>
                    <a:p>
                      <a:pPr algn="l"/>
                      <a:r>
                        <a:rPr sz="1500" b="1">
                          <a:solidFill>
                            <a:srgbClr val="FFFFFF"/>
                          </a:solidFill>
                          <a:latin typeface="Arial"/>
                          <a:ea typeface="Arial"/>
                          <a:cs typeface="Arial"/>
                        </a:rPr>
                        <a:t>Mục đích</a:t>
                      </a:r>
                    </a:p>
                  </a:txBody>
                  <a:tcPr marL="91440" marR="91440" marT="45720" marB="45720" anchor="ctr">
                    <a:solidFill>
                      <a:srgbClr val="20567B"/>
                    </a:solidFill>
                  </a:tcPr>
                </a:tc>
                <a:tc>
                  <a:txBody>
                    <a:bodyPr/>
                    <a:lstStyle/>
                    <a:p>
                      <a:pPr algn="l"/>
                      <a:r>
                        <a:rPr sz="1500" b="1">
                          <a:solidFill>
                            <a:srgbClr val="FFFFFF"/>
                          </a:solidFill>
                          <a:latin typeface="Arial"/>
                          <a:ea typeface="Arial"/>
                          <a:cs typeface="Arial"/>
                        </a:rPr>
                        <a:t>Tỉ số MAE theo cell · XJTU / TJU / MIT / HUST</a:t>
                      </a:r>
                    </a:p>
                  </a:txBody>
                  <a:tcPr marL="91440" marR="91440" marT="45720" marB="45720" anchor="ctr">
                    <a:solidFill>
                      <a:srgbClr val="20567B"/>
                    </a:solidFill>
                  </a:tcPr>
                </a:tc>
              </a:tr>
              <a:tr h="614363">
                <a:tc>
                  <a:txBody>
                    <a:bodyPr/>
                    <a:lstStyle/>
                    <a:p>
                      <a:pPr algn="l"/>
                      <a:r>
                        <a:rPr sz="1500" b="0">
                          <a:solidFill>
                            <a:srgbClr val="163047"/>
                          </a:solidFill>
                          <a:latin typeface="Arial"/>
                          <a:ea typeface="Arial"/>
                          <a:cs typeface="Arial"/>
                        </a:rPr>
                        <a:t>MLP, cùng normalizer</a:t>
                      </a:r>
                    </a:p>
                  </a:txBody>
                  <a:tcPr marL="91440" marR="91440" marT="45720" marB="45720" anchor="ctr">
                    <a:solidFill>
                      <a:srgbClr val="EAF3F7"/>
                    </a:solidFill>
                  </a:tcPr>
                </a:tc>
                <a:tc>
                  <a:txBody>
                    <a:bodyPr/>
                    <a:lstStyle/>
                    <a:p>
                      <a:pPr algn="l"/>
                      <a:r>
                        <a:rPr sz="1500" b="0">
                          <a:solidFill>
                            <a:srgbClr val="163047"/>
                          </a:solidFill>
                          <a:latin typeface="Arial"/>
                          <a:ea typeface="Arial"/>
                          <a:cs typeface="Arial"/>
                        </a:rPr>
                        <a:t>Mốc so sánh công bằng</a:t>
                      </a:r>
                    </a:p>
                  </a:txBody>
                  <a:tcPr marL="91440" marR="91440" marT="45720" marB="45720" anchor="ctr">
                    <a:solidFill>
                      <a:srgbClr val="EAF3F7"/>
                    </a:solidFill>
                  </a:tcPr>
                </a:tc>
                <a:tc>
                  <a:txBody>
                    <a:bodyPr/>
                    <a:lstStyle/>
                    <a:p>
                      <a:pPr algn="l"/>
                      <a:r>
                        <a:rPr sz="1500" b="0">
                          <a:solidFill>
                            <a:srgbClr val="163047"/>
                          </a:solidFill>
                          <a:latin typeface="Arial"/>
                          <a:ea typeface="Arial"/>
                          <a:cs typeface="Arial"/>
                        </a:rPr>
                        <a:t>1 / 1 / 1 / 1 (mốc)</a:t>
                      </a:r>
                    </a:p>
                  </a:txBody>
                  <a:tcPr marL="91440" marR="91440" marT="45720" marB="45720" anchor="ctr">
                    <a:solidFill>
                      <a:srgbClr val="EAF3F7"/>
                    </a:solidFill>
                  </a:tcPr>
                </a:tc>
              </a:tr>
              <a:tr h="614363">
                <a:tc>
                  <a:txBody>
                    <a:bodyPr/>
                    <a:lstStyle/>
                    <a:p>
                      <a:pPr algn="l"/>
                      <a:r>
                        <a:rPr sz="1500" b="0">
                          <a:solidFill>
                            <a:srgbClr val="163047"/>
                          </a:solidFill>
                          <a:latin typeface="Arial"/>
                          <a:ea typeface="Arial"/>
                          <a:cs typeface="Arial"/>
                        </a:rPr>
                        <a:t>PINN-sup</a:t>
                      </a:r>
                    </a:p>
                  </a:txBody>
                  <a:tcPr marL="91440" marR="91440" marT="45720" marB="45720" anchor="ctr">
                    <a:solidFill>
                      <a:srgbClr val="FFFFFF"/>
                    </a:solidFill>
                  </a:tcPr>
                </a:tc>
                <a:tc>
                  <a:txBody>
                    <a:bodyPr/>
                    <a:lstStyle/>
                    <a:p>
                      <a:pPr algn="l"/>
                      <a:r>
                        <a:rPr sz="1500" b="0">
                          <a:solidFill>
                            <a:srgbClr val="163047"/>
                          </a:solidFill>
                          <a:latin typeface="Arial"/>
                          <a:ea typeface="Arial"/>
                          <a:cs typeface="Arial"/>
                        </a:rPr>
                        <a:t>Tách tác dụng regularization</a:t>
                      </a:r>
                    </a:p>
                  </a:txBody>
                  <a:tcPr marL="91440" marR="91440" marT="45720" marB="45720" anchor="ctr">
                    <a:solidFill>
                      <a:srgbClr val="FFFFFF"/>
                    </a:solidFill>
                  </a:tcPr>
                </a:tc>
                <a:tc>
                  <a:txBody>
                    <a:bodyPr/>
                    <a:lstStyle/>
                    <a:p>
                      <a:pPr algn="l"/>
                      <a:r>
                        <a:rPr sz="1500" b="0">
                          <a:solidFill>
                            <a:srgbClr val="163047"/>
                          </a:solidFill>
                          <a:latin typeface="Arial"/>
                          <a:ea typeface="Arial"/>
                          <a:cs typeface="Arial"/>
                        </a:rPr>
                        <a:t>0,912 / 0,942* / 0,791* / 0,900*</a:t>
                      </a:r>
                    </a:p>
                  </a:txBody>
                  <a:tcPr marL="91440" marR="91440" marT="45720" marB="45720" anchor="ctr">
                    <a:solidFill>
                      <a:srgbClr val="FFFFFF"/>
                    </a:solidFill>
                  </a:tcPr>
                </a:tc>
              </a:tr>
              <a:tr h="614363">
                <a:tc>
                  <a:txBody>
                    <a:bodyPr/>
                    <a:lstStyle/>
                    <a:p>
                      <a:pPr algn="l"/>
                      <a:r>
                        <a:rPr sz="1500" b="0">
                          <a:solidFill>
                            <a:srgbClr val="163047"/>
                          </a:solidFill>
                          <a:latin typeface="Arial"/>
                          <a:ea typeface="Arial"/>
                          <a:cs typeface="Arial"/>
                        </a:rPr>
                        <a:t>PINN-semi</a:t>
                      </a:r>
                    </a:p>
                  </a:txBody>
                  <a:tcPr marL="91440" marR="91440" marT="45720" marB="45720" anchor="ctr">
                    <a:solidFill>
                      <a:srgbClr val="EAF3F7"/>
                    </a:solidFill>
                  </a:tcPr>
                </a:tc>
                <a:tc>
                  <a:txBody>
                    <a:bodyPr/>
                    <a:lstStyle/>
                    <a:p>
                      <a:pPr algn="l"/>
                      <a:r>
                        <a:rPr sz="1500" b="0">
                          <a:solidFill>
                            <a:srgbClr val="163047"/>
                          </a:solidFill>
                          <a:latin typeface="Arial"/>
                          <a:ea typeface="Arial"/>
                          <a:cs typeface="Arial"/>
                        </a:rPr>
                        <a:t>Đo ích lợi cell không nhãn</a:t>
                      </a:r>
                    </a:p>
                  </a:txBody>
                  <a:tcPr marL="91440" marR="91440" marT="45720" marB="45720" anchor="ctr">
                    <a:solidFill>
                      <a:srgbClr val="EAF3F7"/>
                    </a:solidFill>
                  </a:tcPr>
                </a:tc>
                <a:tc>
                  <a:txBody>
                    <a:bodyPr/>
                    <a:lstStyle/>
                    <a:p>
                      <a:pPr algn="l"/>
                      <a:r>
                        <a:rPr sz="1500" b="0">
                          <a:solidFill>
                            <a:srgbClr val="163047"/>
                          </a:solidFill>
                          <a:latin typeface="Arial"/>
                          <a:ea typeface="Arial"/>
                          <a:cs typeface="Arial"/>
                        </a:rPr>
                        <a:t>0,843* / 0,958* / 0,758* / 0,874*</a:t>
                      </a:r>
                    </a:p>
                  </a:txBody>
                  <a:tcPr marL="91440" marR="91440" marT="45720" marB="45720" anchor="ctr">
                    <a:solidFill>
                      <a:srgbClr val="EAF3F7"/>
                    </a:solidFill>
                  </a:tcPr>
                </a:tc>
              </a:tr>
              <a:tr h="614363">
                <a:tc>
                  <a:txBody>
                    <a:bodyPr/>
                    <a:lstStyle/>
                    <a:p>
                      <a:pPr algn="l"/>
                      <a:r>
                        <a:rPr sz="1500" b="0">
                          <a:solidFill>
                            <a:srgbClr val="163047"/>
                          </a:solidFill>
                          <a:latin typeface="Arial"/>
                          <a:ea typeface="Arial"/>
                          <a:cs typeface="Arial"/>
                        </a:rPr>
                        <a:t>Chỉ loss đơn điệu</a:t>
                      </a:r>
                    </a:p>
                  </a:txBody>
                  <a:tcPr marL="91440" marR="91440" marT="45720" marB="45720" anchor="ctr">
                    <a:solidFill>
                      <a:srgbClr val="FFFFFF"/>
                    </a:solidFill>
                  </a:tcPr>
                </a:tc>
                <a:tc>
                  <a:txBody>
                    <a:bodyPr/>
                    <a:lstStyle/>
                    <a:p>
                      <a:pPr algn="l"/>
                      <a:r>
                        <a:rPr sz="1500" b="0">
                          <a:solidFill>
                            <a:srgbClr val="163047"/>
                          </a:solidFill>
                          <a:latin typeface="Arial"/>
                          <a:ea typeface="Arial"/>
                          <a:cs typeface="Arial"/>
                        </a:rPr>
                        <a:t>Tách ích lợi của ODE</a:t>
                      </a:r>
                    </a:p>
                  </a:txBody>
                  <a:tcPr marL="91440" marR="91440" marT="45720" marB="45720" anchor="ctr">
                    <a:solidFill>
                      <a:srgbClr val="FFFFFF"/>
                    </a:solidFill>
                  </a:tcPr>
                </a:tc>
                <a:tc>
                  <a:txBody>
                    <a:bodyPr/>
                    <a:lstStyle/>
                    <a:p>
                      <a:pPr algn="l"/>
                      <a:r>
                        <a:rPr sz="1500" b="0">
                          <a:solidFill>
                            <a:srgbClr val="163047"/>
                          </a:solidFill>
                          <a:latin typeface="Arial"/>
                          <a:ea typeface="Arial"/>
                          <a:cs typeface="Arial"/>
                        </a:rPr>
                        <a:t>1,051 / 1,014 / 1,112 / 1,006 (so PINN-semi)</a:t>
                      </a:r>
                    </a:p>
                  </a:txBody>
                  <a:tcPr marL="91440" marR="91440" marT="45720" marB="45720" anchor="ctr">
                    <a:solidFill>
                      <a:srgbClr val="FFFFFF"/>
                    </a:solidFill>
                  </a:tcPr>
                </a:tc>
              </a:tr>
              <a:tr h="614363">
                <a:tc>
                  <a:txBody>
                    <a:bodyPr/>
                    <a:lstStyle/>
                    <a:p>
                      <a:pPr algn="l"/>
                      <a:r>
                        <a:rPr sz="1500" b="0">
                          <a:solidFill>
                            <a:srgbClr val="163047"/>
                          </a:solidFill>
                          <a:latin typeface="Arial"/>
                          <a:ea typeface="Arial"/>
                          <a:cs typeface="Arial"/>
                        </a:rPr>
                        <a:t>PINN 30% / MLP 70%</a:t>
                      </a:r>
                    </a:p>
                  </a:txBody>
                  <a:tcPr marL="91440" marR="91440" marT="45720" marB="45720" anchor="ctr">
                    <a:solidFill>
                      <a:srgbClr val="EAF3F7"/>
                    </a:solidFill>
                  </a:tcPr>
                </a:tc>
                <a:tc>
                  <a:txBody>
                    <a:bodyPr/>
                    <a:lstStyle/>
                    <a:p>
                      <a:pPr algn="l"/>
                      <a:r>
                        <a:rPr sz="1500" b="0">
                          <a:solidFill>
                            <a:srgbClr val="163047"/>
                          </a:solidFill>
                          <a:latin typeface="Arial"/>
                          <a:ea typeface="Arial"/>
                          <a:cs typeface="Arial"/>
                        </a:rPr>
                        <a:t>Kiểm chứng tiết kiệm nhãn</a:t>
                      </a:r>
                    </a:p>
                  </a:txBody>
                  <a:tcPr marL="91440" marR="91440" marT="45720" marB="45720" anchor="ctr">
                    <a:solidFill>
                      <a:srgbClr val="EAF3F7"/>
                    </a:solidFill>
                  </a:tcPr>
                </a:tc>
                <a:tc>
                  <a:txBody>
                    <a:bodyPr/>
                    <a:lstStyle/>
                    <a:p>
                      <a:pPr algn="l"/>
                      <a:r>
                        <a:rPr sz="1500" b="0">
                          <a:solidFill>
                            <a:srgbClr val="163047"/>
                          </a:solidFill>
                          <a:latin typeface="Arial"/>
                          <a:ea typeface="Arial"/>
                          <a:cs typeface="Arial"/>
                        </a:rPr>
                        <a:t>1,055 / 1,126 / 0,901* / 1,021*</a:t>
                      </a:r>
                    </a:p>
                  </a:txBody>
                  <a:tcPr marL="91440" marR="91440" marT="45720" marB="45720" anchor="ctr">
                    <a:solidFill>
                      <a:srgbClr val="EAF3F7"/>
                    </a:solidFill>
                  </a:tcPr>
                </a:tc>
              </a:tr>
            </a:tbl>
          </a:graphicData>
        </a:graphic>
      </p:graphicFrame>
      <p:sp>
        <p:nvSpPr>
          <p:cNvPr id="6" name="">
            <a:extLst xmlns:a="http://schemas.openxmlformats.org/drawingml/2006/main">
              <a:ext uri="{FF2B5EF4-FFF2-40B4-BE49-F238E27FC236}">
                <a16:creationId xmlns:a16="http://schemas.microsoft.com/office/drawing/2014/main" id="{BE061075-2C77-4E3D-A428-C263D575BBC5}"/>
              </a:ext>
            </a:extLst>
          </p:cNvPr>
          <p:cNvSpPr>
            <a:spLocks xmlns:a="http://schemas.openxmlformats.org/drawingml/2006/main" noGrp="1"/>
          </p:cNvSpPr>
          <p:nvPr/>
        </p:nvSpPr>
        <p:spPr>
          <a:xfrm xmlns:a="http://schemas.openxmlformats.org/drawingml/2006/main">
            <a:off x="619125" y="53816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1:p xmlns:ns1="http://schemas.openxmlformats.org/drawingml/2006/main">
            <ns1:pPr algn="l">
              <ns1:defRPr sz="1950" b="1">
                <ns1:solidFill>
                  <ns1:srgbClr val="20567B"/>
                </ns1:solidFill>
                <ns1:latin typeface="Arial"/>
                <ns1:ea typeface="Arial"/>
                <ns1:cs typeface="Arial"/>
              </ns1:defRPr>
            </ns1:pPr>
            <ns1:r>
              <ns1:rPr sz="1950" b="1">
                <ns1:solidFill>
                  <ns1:srgbClr val="20567B"/>
                </ns1:solidFill>
                <ns1:latin typeface="Arial"/>
                <ns1:ea typeface="Arial"/>
                <ns1:cs typeface="Arial"/>
              </ns1:rPr>
              <ns1:t>Tỉ số &lt; 1: sai số thấp hơn MLP 30 % (hàng cuối: so với MLP 70 %). * = p Holm &lt; 0,05.</ns1:t>
            </ns1:r>
          </ns1:p>
        </p:txBody>
      </p:sp>
      <p:sp>
        <p:nvSpPr>
          <p:cNvPr id="7" name="">
            <a:extLst xmlns:a="http://schemas.openxmlformats.org/drawingml/2006/main">
              <a:ext uri="{FF2B5EF4-FFF2-40B4-BE49-F238E27FC236}">
                <a16:creationId xmlns:a16="http://schemas.microsoft.com/office/drawing/2014/main" id="{FE87EB31-9DAF-4A34-A06D-4F9989BF6B1E}"/>
              </a:ext>
            </a:extLst>
          </p:cNvPr>
          <p:cNvSpPr>
            <a:spLocks xmlns:a="http://schemas.openxmlformats.org/drawingml/2006/main" noGrp="1"/>
          </p:cNvSpPr>
          <p:nvPr/>
        </p:nvSpPr>
        <p:spPr>
          <a:xfrm xmlns:a="http://schemas.openxmlformats.org/drawingml/2006/main">
            <a:off x="619125" y="6105525"/>
            <a:ext cx="1071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2:p xmlns:ns2="http://schemas.openxmlformats.org/drawingml/2006/main">
            <ns2:pPr algn="l">
              <ns2:defRPr sz="1275" b="0">
                <ns2:solidFill>
                  <ns2:srgbClr val="526778"/>
                </ns2:solidFill>
                <ns2:latin typeface="Arial"/>
                <ns2:ea typeface="Arial"/>
                <ns2:cs typeface="Arial"/>
              </ns2:defRPr>
            </ns2:pPr>
            <ns2:r>
              <ns2:rPr sz="1275" b="0">
                <ns2:solidFill>
                  <ns2:srgbClr val="526778"/>
                </ns2:solidFill>
                <ns2:latin typeface="Arial"/>
                <ns2:ea typeface="Arial"/>
                <ns2:cs typeface="Arial"/>
              </ns2:rPr>
              <ns2:t>Kiểm định chéo 5 fold × 5 lần lặp theo cell, cùng split, normalizer, nhãn và ngân sách lựa chọn. Chi tiết ở các slide sau.</ns2:t>
            </ns2:r>
          </ns2:p>
        </p:txBody>
      </p:sp>
    </p:spTree>
    <p:extLst>
      <p:ext uri="{BB962C8B-B14F-4D97-AF65-F5344CB8AC3E}">
        <p14:creationId xmlns:p14="http://schemas.microsoft.com/office/powerpoint/2010/main" val="68904093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86C3B8E-C83D-4504-9F83-94DD31F02E6F}"/>
              </a:ext>
            </a:extLst>
          </p:cNvPr>
          <p:cNvSpPr>
            <a:spLocks xmlns:a="http://schemas.openxmlformats.org/drawingml/2006/main" noGrp="1"/>
          </p:cNvSpPr>
          <p:nvPr/>
        </p:nvSpPr>
        <p:spPr>
          <a:xfrm xmlns:a="http://schemas.openxmlformats.org/drawingml/2006/main">
            <a:off x="0" y="0"/>
            <a:ext cx="12192000" cy="952500"/>
          </a:xfrm>
          <a:prstGeom xmlns:a="http://schemas.openxmlformats.org/drawingml/2006/main" prst="rect">
            <a:avLst/>
          </a:prstGeom>
          <a:solidFill xmlns:a="http://schemas.openxmlformats.org/drawingml/2006/main">
            <a:srgbClr val="20567B"/>
          </a:solidFill>
          <a:ln xmlns:a="http://schemas.openxmlformats.org/drawingml/2006/main" w="9525">
            <a:solidFill>
              <a:srgbClr val="20567B"/>
            </a:solidFill>
          </a:ln>
        </p:spPr>
      </p:sp>
      <p:sp>
        <p:nvSpPr>
          <p:cNvPr id="2" name="">
            <a:extLst xmlns:a="http://schemas.openxmlformats.org/drawingml/2006/main">
              <a:ext uri="{FF2B5EF4-FFF2-40B4-BE49-F238E27FC236}">
                <a16:creationId xmlns:a16="http://schemas.microsoft.com/office/drawing/2014/main" id="{F1DF1C68-E201-4400-815D-6E17B35DE36E}"/>
              </a:ext>
            </a:extLst>
          </p:cNvPr>
          <p:cNvSpPr>
            <a:spLocks xmlns:a="http://schemas.openxmlformats.org/drawingml/2006/main" noGrp="1"/>
          </p:cNvSpPr>
          <p:nvPr/>
        </p:nvSpPr>
        <p:spPr>
          <a:xfrm xmlns:a="http://schemas.openxmlformats.org/drawingml/2006/main">
            <a:off x="542925" y="66675"/>
            <a:ext cx="11239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Công việc cho tuần tiếp theo</a:t>
            </a:r>
          </a:p>
        </p:txBody>
      </p:sp>
      <p:sp>
        <p:nvSpPr>
          <p:cNvPr id="3" name="">
            <a:extLst xmlns:a="http://schemas.openxmlformats.org/drawingml/2006/main">
              <a:ext uri="{FF2B5EF4-FFF2-40B4-BE49-F238E27FC236}">
                <a16:creationId xmlns:a16="http://schemas.microsoft.com/office/drawing/2014/main" id="{5CEC55A3-B78B-460A-B379-C94C50816657}"/>
              </a:ext>
            </a:extLst>
          </p:cNvPr>
          <p:cNvSpPr>
            <a:spLocks xmlns:a="http://schemas.openxmlformats.org/drawingml/2006/main" noGrp="1"/>
          </p:cNvSpPr>
          <p:nvPr/>
        </p:nvSpPr>
        <p:spPr>
          <a:xfrm xmlns:a="http://schemas.openxmlformats.org/drawingml/2006/main">
            <a:off x="11144250" y="6400800"/>
            <a:ext cx="333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1:p xmlns:ns1="http://schemas.openxmlformats.org/drawingml/2006/main">
            <ns1:pPr algn="l">
              <ns1:defRPr sz="1200" b="1">
                <ns1:solidFill>
                  <ns1:srgbClr val="20567B"/>
                </ns1:solidFill>
                <ns1:latin typeface="Arial"/>
                <ns1:ea typeface="Arial"/>
                <ns1:cs typeface="Arial"/>
              </ns1:defRPr>
            </ns1:pPr>
            <ns1:r>
              <ns1:rPr sz="1200" b="1">
                <ns1:solidFill>
                  <ns1:srgbClr val="20567B"/>
                </ns1:solidFill>
                <ns1:latin typeface="Arial"/>
                <ns1:ea typeface="Arial"/>
                <ns1:cs typeface="Arial"/>
              </ns1:rPr>
              <ns1:t>29</ns1:t>
            </ns1:r>
          </ns1: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e772653f8e2463b"/>
          <a:stretch xmlns:a="http://schemas.openxmlformats.org/drawingml/2006/main"/>
        </p:blipFill>
        <p:spPr>
          <a:xfrm xmlns:a="http://schemas.openxmlformats.org/drawingml/2006/main">
            <a:off x="11696700" y="6384974"/>
            <a:ext cx="285750" cy="260252"/>
          </a:xfrm>
          <a:prstGeom xmlns:a="http://schemas.openxmlformats.org/drawingml/2006/main" prst="rect">
            <a:avLst/>
          </a:prstGeom>
        </p:spPr>
      </p:pic>
      <p:graphicFrame>
        <p:nvGraphicFramePr>
          <p:cNvPr id="11" name=""/>
          <p:cNvGraphicFramePr/>
          <p:nvPr/>
        </p:nvGraphicFramePr>
        <p:xfrm>
          <a:off xmlns:a="http://schemas.openxmlformats.org/drawingml/2006/main" x="533400" y="1495425"/>
          <a:ext xmlns:a="http://schemas.openxmlformats.org/drawingml/2006/main" cx="11125200" cy="3429000"/>
        </p:xfrm>
        <a:graphic xmlns:a="http://schemas.openxmlformats.org/drawingml/2006/main">
          <a:graphicData uri="http://schemas.openxmlformats.org/drawingml/2006/table">
            <a:tbl>
              <a:tblPr/>
              <a:tblGrid>
                <a:gridCol w="2190750"/>
                <a:gridCol w="5334000"/>
                <a:gridCol w="3600450"/>
              </a:tblGrid>
              <a:tr h="685800">
                <a:tc>
                  <a:txBody>
                    <a:bodyPr/>
                    <a:lstStyle/>
                    <a:p>
                      <a:pPr algn="l"/>
                      <a:r>
                        <a:rPr sz="1800" b="1">
                          <a:solidFill>
                            <a:srgbClr val="FFFFFF"/>
                          </a:solidFill>
                          <a:latin typeface="Arial"/>
                          <a:ea typeface="Arial"/>
                          <a:cs typeface="Arial"/>
                        </a:rPr>
                        <a:t>Thời gian</a:t>
                      </a:r>
                    </a:p>
                  </a:txBody>
                  <a:tcPr marL="91440" marR="91440" marT="45720" marB="45720" anchor="ctr">
                    <a:solidFill>
                      <a:srgbClr val="20567B"/>
                    </a:solidFill>
                  </a:tcPr>
                </a:tc>
                <a:tc>
                  <a:txBody>
                    <a:bodyPr/>
                    <a:lstStyle/>
                    <a:p>
                      <a:pPr algn="l"/>
                      <a:r>
                        <a:rPr sz="1800" b="1">
                          <a:solidFill>
                            <a:srgbClr val="FFFFFF"/>
                          </a:solidFill>
                          <a:latin typeface="Arial"/>
                          <a:ea typeface="Arial"/>
                          <a:cs typeface="Arial"/>
                        </a:rPr>
                        <a:t>Ưu tiên</a:t>
                      </a:r>
                    </a:p>
                  </a:txBody>
                  <a:tcPr marL="91440" marR="91440" marT="45720" marB="45720" anchor="ctr">
                    <a:solidFill>
                      <a:srgbClr val="20567B"/>
                    </a:solidFill>
                  </a:tcPr>
                </a:tc>
                <a:tc>
                  <a:txBody>
                    <a:bodyPr/>
                    <a:lstStyle/>
                    <a:p>
                      <a:pPr algn="l"/>
                      <a:r>
                        <a:rPr sz="1800" b="1">
                          <a:solidFill>
                            <a:srgbClr val="FFFFFF"/>
                          </a:solidFill>
                          <a:latin typeface="Arial"/>
                          <a:ea typeface="Arial"/>
                          <a:cs typeface="Arial"/>
                        </a:rPr>
                        <a:t>Sản phẩm</a:t>
                      </a:r>
                    </a:p>
                  </a:txBody>
                  <a:tcPr marL="91440" marR="91440" marT="45720" marB="45720" anchor="ctr">
                    <a:solidFill>
                      <a:srgbClr val="20567B"/>
                    </a:solidFill>
                  </a:tcPr>
                </a:tc>
              </a:tr>
              <a:tr h="685800">
                <a:tc>
                  <a:txBody>
                    <a:bodyPr/>
                    <a:lstStyle/>
                    <a:p>
                      <a:pPr algn="l"/>
                      <a:r>
                        <a:rPr sz="1800" b="0">
                          <a:solidFill>
                            <a:srgbClr val="163047"/>
                          </a:solidFill>
                          <a:latin typeface="Arial"/>
                          <a:ea typeface="Arial"/>
                          <a:cs typeface="Arial"/>
                        </a:rPr>
                        <a:t>Tuần 1</a:t>
                      </a:r>
                    </a:p>
                  </a:txBody>
                  <a:tcPr marL="91440" marR="91440" marT="45720" marB="45720" anchor="ctr">
                    <a:solidFill>
                      <a:srgbClr val="EAF3F7"/>
                    </a:solidFill>
                  </a:tcPr>
                </a:tc>
                <a:tc>
                  <a:txBody>
                    <a:bodyPr/>
                    <a:lstStyle/>
                    <a:p>
                      <a:pPr algn="l"/>
                      <a:r>
                        <a:rPr sz="1800" b="0">
                          <a:solidFill>
                            <a:srgbClr val="163047"/>
                          </a:solidFill>
                          <a:latin typeface="Arial"/>
                          <a:ea typeface="Arial"/>
                          <a:cs typeface="Arial"/>
                        </a:rPr>
                        <a:t>Viết chương kết quả từ E13 (mục 10c báo cáo LaTeX)</a:t>
                      </a:r>
                    </a:p>
                  </a:txBody>
                  <a:tcPr marL="91440" marR="91440" marT="45720" marB="45720" anchor="ctr">
                    <a:solidFill>
                      <a:srgbClr val="EAF3F7"/>
                    </a:solidFill>
                  </a:tcPr>
                </a:tc>
                <a:tc>
                  <a:txBody>
                    <a:bodyPr/>
                    <a:lstStyle/>
                    <a:p>
                      <a:pPr algn="l"/>
                      <a:r>
                        <a:rPr sz="1800" b="0">
                          <a:solidFill>
                            <a:srgbClr val="163047"/>
                          </a:solidFill>
                          <a:latin typeface="Arial"/>
                          <a:ea typeface="Arial"/>
                          <a:cs typeface="Arial"/>
                        </a:rPr>
                        <a:t>Báo cáo có số sinh tự động</a:t>
                      </a:r>
                    </a:p>
                  </a:txBody>
                  <a:tcPr marL="91440" marR="91440" marT="45720" marB="45720" anchor="ctr">
                    <a:solidFill>
                      <a:srgbClr val="EAF3F7"/>
                    </a:solidFill>
                  </a:tcPr>
                </a:tc>
              </a:tr>
              <a:tr h="685800">
                <a:tc>
                  <a:txBody>
                    <a:bodyPr/>
                    <a:lstStyle/>
                    <a:p>
                      <a:pPr algn="l"/>
                      <a:r>
                        <a:rPr sz="1800" b="0">
                          <a:solidFill>
                            <a:srgbClr val="163047"/>
                          </a:solidFill>
                          <a:latin typeface="Arial"/>
                          <a:ea typeface="Arial"/>
                          <a:cs typeface="Arial"/>
                        </a:rPr>
                        <a:t>Tuần 1</a:t>
                      </a:r>
                    </a:p>
                  </a:txBody>
                  <a:tcPr marL="91440" marR="91440" marT="45720" marB="45720" anchor="ctr">
                    <a:solidFill>
                      <a:srgbClr val="FFFFFF"/>
                    </a:solidFill>
                  </a:tcPr>
                </a:tc>
                <a:tc>
                  <a:txBody>
                    <a:bodyPr/>
                    <a:lstStyle/>
                    <a:p>
                      <a:pPr algn="l"/>
                      <a:r>
                        <a:rPr sz="1800" b="0">
                          <a:solidFill>
                            <a:srgbClr val="163047"/>
                          </a:solidFill>
                          <a:latin typeface="Arial"/>
                          <a:ea typeface="Arial"/>
                          <a:cs typeface="Arial"/>
                        </a:rPr>
                        <a:t>Đối chứng mạnh hơn: GPR, XGBoost trên cùng CV</a:t>
                      </a:r>
                    </a:p>
                  </a:txBody>
                  <a:tcPr marL="91440" marR="91440" marT="45720" marB="45720" anchor="ctr">
                    <a:solidFill>
                      <a:srgbClr val="FFFFFF"/>
                    </a:solidFill>
                  </a:tcPr>
                </a:tc>
                <a:tc>
                  <a:txBody>
                    <a:bodyPr/>
                    <a:lstStyle/>
                    <a:p>
                      <a:pPr algn="l"/>
                      <a:r>
                        <a:rPr sz="1800" b="0">
                          <a:solidFill>
                            <a:srgbClr val="163047"/>
                          </a:solidFill>
                          <a:latin typeface="Arial"/>
                          <a:ea typeface="Arial"/>
                          <a:cs typeface="Arial"/>
                        </a:rPr>
                        <a:t>Bảng so sánh mở rộng</a:t>
                      </a:r>
                    </a:p>
                  </a:txBody>
                  <a:tcPr marL="91440" marR="91440" marT="45720" marB="45720" anchor="ctr">
                    <a:solidFill>
                      <a:srgbClr val="FFFFFF"/>
                    </a:solidFill>
                  </a:tcPr>
                </a:tc>
              </a:tr>
              <a:tr h="685800">
                <a:tc>
                  <a:txBody>
                    <a:bodyPr/>
                    <a:lstStyle/>
                    <a:p>
                      <a:pPr algn="l"/>
                      <a:r>
                        <a:rPr sz="1800" b="0">
                          <a:solidFill>
                            <a:srgbClr val="163047"/>
                          </a:solidFill>
                          <a:latin typeface="Arial"/>
                          <a:ea typeface="Arial"/>
                          <a:cs typeface="Arial"/>
                        </a:rPr>
                        <a:t>Tuần 2</a:t>
                      </a:r>
                    </a:p>
                  </a:txBody>
                  <a:tcPr marL="91440" marR="91440" marT="45720" marB="45720" anchor="ctr">
                    <a:solidFill>
                      <a:srgbClr val="EAF3F7"/>
                    </a:solidFill>
                  </a:tcPr>
                </a:tc>
                <a:tc>
                  <a:txBody>
                    <a:bodyPr/>
                    <a:lstStyle/>
                    <a:p>
                      <a:pPr algn="l"/>
                      <a:r>
                        <a:rPr sz="1800" b="0">
                          <a:solidFill>
                            <a:srgbClr val="163047"/>
                          </a:solidFill>
                          <a:latin typeface="Arial"/>
                          <a:ea typeface="Arial"/>
                          <a:cs typeface="Arial"/>
                        </a:rPr>
                        <a:t>Ước lượng bất định (ensemble / conformal)</a:t>
                      </a:r>
                    </a:p>
                  </a:txBody>
                  <a:tcPr marL="91440" marR="91440" marT="45720" marB="45720" anchor="ctr">
                    <a:solidFill>
                      <a:srgbClr val="EAF3F7"/>
                    </a:solidFill>
                  </a:tcPr>
                </a:tc>
                <a:tc>
                  <a:txBody>
                    <a:bodyPr/>
                    <a:lstStyle/>
                    <a:p>
                      <a:pPr algn="l"/>
                      <a:r>
                        <a:rPr sz="1800" b="0">
                          <a:solidFill>
                            <a:srgbClr val="163047"/>
                          </a:solidFill>
                          <a:latin typeface="Arial"/>
                          <a:ea typeface="Arial"/>
                          <a:cs typeface="Arial"/>
                        </a:rPr>
                        <a:t>Khoảng tin cậy cho SOH</a:t>
                      </a:r>
                    </a:p>
                  </a:txBody>
                  <a:tcPr marL="91440" marR="91440" marT="45720" marB="45720" anchor="ctr">
                    <a:solidFill>
                      <a:srgbClr val="EAF3F7"/>
                    </a:solidFill>
                  </a:tcPr>
                </a:tc>
              </a:tr>
              <a:tr h="685800">
                <a:tc>
                  <a:txBody>
                    <a:bodyPr/>
                    <a:lstStyle/>
                    <a:p>
                      <a:pPr algn="l"/>
                      <a:r>
                        <a:rPr sz="1800" b="0">
                          <a:solidFill>
                            <a:srgbClr val="163047"/>
                          </a:solidFill>
                          <a:latin typeface="Arial"/>
                          <a:ea typeface="Arial"/>
                          <a:cs typeface="Arial"/>
                        </a:rPr>
                        <a:t>Tuần 2</a:t>
                      </a:r>
                    </a:p>
                  </a:txBody>
                  <a:tcPr marL="91440" marR="91440" marT="45720" marB="45720" anchor="ctr">
                    <a:solidFill>
                      <a:srgbClr val="FFFFFF"/>
                    </a:solidFill>
                  </a:tcPr>
                </a:tc>
                <a:tc>
                  <a:txBody>
                    <a:bodyPr/>
                    <a:lstStyle/>
                    <a:p>
                      <a:pPr algn="l"/>
                      <a:r>
                        <a:rPr sz="1800" b="0">
                          <a:solidFill>
                            <a:srgbClr val="163047"/>
                          </a:solidFill>
                          <a:latin typeface="Arial"/>
                          <a:ea typeface="Arial"/>
                          <a:cs typeface="Arial"/>
                        </a:rPr>
                        <a:t>Hoàn thiện demo và slide bảo vệ</a:t>
                      </a:r>
                    </a:p>
                  </a:txBody>
                  <a:tcPr marL="91440" marR="91440" marT="45720" marB="45720" anchor="ctr">
                    <a:solidFill>
                      <a:srgbClr val="FFFFFF"/>
                    </a:solidFill>
                  </a:tcPr>
                </a:tc>
                <a:tc>
                  <a:txBody>
                    <a:bodyPr/>
                    <a:lstStyle/>
                    <a:p>
                      <a:pPr algn="l"/>
                      <a:r>
                        <a:rPr sz="1800" b="0">
                          <a:solidFill>
                            <a:srgbClr val="163047"/>
                          </a:solidFill>
                          <a:latin typeface="Arial"/>
                          <a:ea typeface="Arial"/>
                          <a:cs typeface="Arial"/>
                        </a:rPr>
                        <a:t>Demo 4 bộ + slide</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8D0D313A-1175-4809-99C5-0838E270F44E}"/>
              </a:ext>
            </a:extLst>
          </p:cNvPr>
          <p:cNvSpPr>
            <a:spLocks xmlns:a="http://schemas.openxmlformats.org/drawingml/2006/main" noGrp="1"/>
          </p:cNvSpPr>
          <p:nvPr/>
        </p:nvSpPr>
        <p:spPr>
          <a:xfrm xmlns:a="http://schemas.openxmlformats.org/drawingml/2006/main">
            <a:off x="619125" y="5295900"/>
            <a:ext cx="1076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0:p xmlns:ns0="http://schemas.openxmlformats.org/drawingml/2006/main">
            <ns0:pPr algn="l">
              <ns0:defRPr sz="2175" b="1">
                <ns0:solidFill>
                  <ns0:srgbClr val="20567B"/>
                </ns0:solidFill>
                <ns0:latin typeface="Arial"/>
                <ns0:ea typeface="Arial"/>
                <ns0:cs typeface="Arial"/>
              </ns0:defRPr>
            </ns0:pPr>
            <ns0:r>
              <ns0:rPr sz="2175" b="1">
                <ns0:solidFill>
                  <ns0:srgbClr val="20567B"/>
                </ns0:solidFill>
                <ns0:latin typeface="Arial"/>
                <ns0:ea typeface="Arial"/>
                <ns0:cs typeface="Arial"/>
              </ns0:rPr>
              <ns0:t>Giữ nguyên giao thức E13 cho mọi đối chứng mới</ns0:t>
            </ns0:r>
          </ns0:p>
        </p:txBody>
      </p:sp>
    </p:spTree>
    <p:extLst>
      <p:ext uri="{BB962C8B-B14F-4D97-AF65-F5344CB8AC3E}">
        <p14:creationId xmlns:p14="http://schemas.microsoft.com/office/powerpoint/2010/main" val="70296495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0297E0E-C07A-4359-9358-91484D5C7337}"/>
              </a:ext>
            </a:extLst>
          </p:cNvPr>
          <p:cNvSpPr>
            <a:spLocks xmlns:a="http://schemas.openxmlformats.org/drawingml/2006/main" noGrp="1"/>
          </p:cNvSpPr>
          <p:nvPr/>
        </p:nvSpPr>
        <p:spPr>
          <a:xfrm xmlns:a="http://schemas.openxmlformats.org/drawingml/2006/main">
            <a:off x="0" y="0"/>
            <a:ext cx="12192000" cy="952500"/>
          </a:xfrm>
          <a:prstGeom xmlns:a="http://schemas.openxmlformats.org/drawingml/2006/main" prst="rect">
            <a:avLst/>
          </a:prstGeom>
          <a:solidFill xmlns:a="http://schemas.openxmlformats.org/drawingml/2006/main">
            <a:srgbClr val="20567B"/>
          </a:solidFill>
          <a:ln xmlns:a="http://schemas.openxmlformats.org/drawingml/2006/main" w="9525">
            <a:solidFill>
              <a:srgbClr val="20567B"/>
            </a:solidFill>
          </a:ln>
        </p:spPr>
      </p:sp>
      <p:sp>
        <p:nvSpPr>
          <p:cNvPr id="2" name="">
            <a:extLst xmlns:a="http://schemas.openxmlformats.org/drawingml/2006/main">
              <a:ext uri="{FF2B5EF4-FFF2-40B4-BE49-F238E27FC236}">
                <a16:creationId xmlns:a16="http://schemas.microsoft.com/office/drawing/2014/main" id="{9A2D9382-F86D-4126-B9BB-95C8B89264C1}"/>
              </a:ext>
            </a:extLst>
          </p:cNvPr>
          <p:cNvSpPr>
            <a:spLocks xmlns:a="http://schemas.openxmlformats.org/drawingml/2006/main" noGrp="1"/>
          </p:cNvSpPr>
          <p:nvPr/>
        </p:nvSpPr>
        <p:spPr>
          <a:xfrm xmlns:a="http://schemas.openxmlformats.org/drawingml/2006/main">
            <a:off x="542925" y="66675"/>
            <a:ext cx="11239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Kết luận và nội dung xin góp ý</a:t>
            </a:r>
          </a:p>
        </p:txBody>
      </p:sp>
      <p:sp>
        <p:nvSpPr>
          <p:cNvPr id="3" name="">
            <a:extLst xmlns:a="http://schemas.openxmlformats.org/drawingml/2006/main">
              <a:ext uri="{FF2B5EF4-FFF2-40B4-BE49-F238E27FC236}">
                <a16:creationId xmlns:a16="http://schemas.microsoft.com/office/drawing/2014/main" id="{AA641C62-2E32-428C-9505-FF803BE0CA07}"/>
              </a:ext>
            </a:extLst>
          </p:cNvPr>
          <p:cNvSpPr>
            <a:spLocks xmlns:a="http://schemas.openxmlformats.org/drawingml/2006/main" noGrp="1"/>
          </p:cNvSpPr>
          <p:nvPr/>
        </p:nvSpPr>
        <p:spPr>
          <a:xfrm xmlns:a="http://schemas.openxmlformats.org/drawingml/2006/main">
            <a:off x="11144250" y="6400800"/>
            <a:ext cx="333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7:p xmlns:ns7="http://schemas.openxmlformats.org/drawingml/2006/main">
            <ns7:pPr algn="l">
              <ns7:defRPr sz="1200" b="1">
                <ns7:solidFill>
                  <ns7:srgbClr val="20567B"/>
                </ns7:solidFill>
                <ns7:latin typeface="Arial"/>
                <ns7:ea typeface="Arial"/>
                <ns7:cs typeface="Arial"/>
              </ns7:defRPr>
            </ns7:pPr>
            <ns7:r>
              <ns7:rPr sz="1200" b="1">
                <ns7:solidFill>
                  <ns7:srgbClr val="20567B"/>
                </ns7:solidFill>
                <ns7:latin typeface="Arial"/>
                <ns7:ea typeface="Arial"/>
                <ns7:cs typeface="Arial"/>
              </ns7:rPr>
              <ns7:t>30</ns7:t>
            </ns7:r>
          </ns7: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65fa5fd4c474f73"/>
          <a:stretch xmlns:a="http://schemas.openxmlformats.org/drawingml/2006/main"/>
        </p:blipFill>
        <p:spPr>
          <a:xfrm xmlns:a="http://schemas.openxmlformats.org/drawingml/2006/main">
            <a:off x="11696700" y="6384974"/>
            <a:ext cx="285750" cy="26025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70F37B9-FF8F-4570-80BE-1AB3AA0DD9BB}"/>
              </a:ext>
            </a:extLst>
          </p:cNvPr>
          <p:cNvSpPr>
            <a:spLocks xmlns:a="http://schemas.openxmlformats.org/drawingml/2006/main" noGrp="1"/>
          </p:cNvSpPr>
          <p:nvPr/>
        </p:nvSpPr>
        <p:spPr>
          <a:xfrm xmlns:a="http://schemas.openxmlformats.org/drawingml/2006/main">
            <a:off x="619125" y="159067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0:p xmlns:ns0="http://schemas.openxmlformats.org/drawingml/2006/main">
            <ns0:pPr algn="l">
              <ns0:defRPr sz="2025" b="1">
                <ns0:solidFill>
                  <ns0:srgbClr val="20567B"/>
                </ns0:solidFill>
                <ns0:latin typeface="Arial"/>
                <ns0:ea typeface="Arial"/>
                <ns0:cs typeface="Arial"/>
              </ns0:defRPr>
            </ns0:pPr>
            <ns0:r>
              <ns0:rPr sz="2025" b="1">
                <ns0:solidFill>
                  <ns0:srgbClr val="20567B"/>
                </ns0:solidFill>
                <ns0:latin typeface="Arial"/>
                <ns0:ea typeface="Arial"/>
                <ns0:cs typeface="Arial"/>
              </ns0:rPr>
              <ns0:t>Câu hỏi 1 · cùng lượng nhãn</ns0:t>
            </ns0:r>
          </ns0:p>
        </p:txBody>
      </p:sp>
      <p:sp>
        <p:nvSpPr>
          <p:cNvPr id="6" name="">
            <a:extLst xmlns:a="http://schemas.openxmlformats.org/drawingml/2006/main">
              <a:ext uri="{FF2B5EF4-FFF2-40B4-BE49-F238E27FC236}">
                <a16:creationId xmlns:a16="http://schemas.microsoft.com/office/drawing/2014/main" id="{BF4ABEF4-B3DA-4B60-B47D-1CB05E2DC130}"/>
              </a:ext>
            </a:extLst>
          </p:cNvPr>
          <p:cNvSpPr>
            <a:spLocks xmlns:a="http://schemas.openxmlformats.org/drawingml/2006/main" noGrp="1"/>
          </p:cNvSpPr>
          <p:nvPr/>
        </p:nvSpPr>
        <p:spPr>
          <a:xfrm xmlns:a="http://schemas.openxmlformats.org/drawingml/2006/main">
            <a:off x="619125" y="1971675"/>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1:p xmlns:ns1="http://schemas.openxmlformats.org/drawingml/2006/main">
            <ns1:pPr algn="l">
              <ns1:defRPr sz="1600" b="0">
                <ns1:solidFill>
                  <ns1:srgbClr val="163047"/>
                </ns1:solidFill>
                <ns1:latin typeface="Arial"/>
                <ns1:ea typeface="Arial"/>
                <ns1:cs typeface="Arial"/>
              </ns1:defRPr>
            </ns1:pPr>
            <ns1:r>
              <ns1:rPr sz="1600" b="0">
                <ns1:solidFill>
                  <ns1:srgbClr val="163047"/>
                </ns1:solidFill>
                <ns1:latin typeface="Arial"/>
                <ns1:ea typeface="Arial"/>
                <ns1:cs typeface="Arial"/>
              </ns1:rPr>
              <ns1:t>H1 (cùng 30 % nhãn): PINN-semi có MAE theo cell thấp hơn MLP, có ý nghĩa sau hiệu chỉnh Holm, trên 4/4 bộ (XJTU, TJU, MIT, HUST).</ns1:t>
            </ns1:r>
          </ns1:p>
        </p:txBody>
      </p:sp>
      <p:sp>
        <p:nvSpPr>
          <p:cNvPr id="7" name="">
            <a:extLst xmlns:a="http://schemas.openxmlformats.org/drawingml/2006/main">
              <a:ext uri="{FF2B5EF4-FFF2-40B4-BE49-F238E27FC236}">
                <a16:creationId xmlns:a16="http://schemas.microsoft.com/office/drawing/2014/main" id="{6584AA57-7253-4DFF-8AA6-92F72943FBA4}"/>
              </a:ext>
            </a:extLst>
          </p:cNvPr>
          <p:cNvSpPr>
            <a:spLocks xmlns:a="http://schemas.openxmlformats.org/drawingml/2006/main" noGrp="1"/>
          </p:cNvSpPr>
          <p:nvPr/>
        </p:nvSpPr>
        <p:spPr>
          <a:xfrm xmlns:a="http://schemas.openxmlformats.org/drawingml/2006/main">
            <a:off x="619125" y="29527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2:p xmlns:ns2="http://schemas.openxmlformats.org/drawingml/2006/main">
            <ns2:pPr algn="l">
              <ns2:defRPr sz="2025" b="1">
                <ns2:solidFill>
                  <ns2:srgbClr val="20567B"/>
                </ns2:solidFill>
                <ns2:latin typeface="Arial"/>
                <ns2:ea typeface="Arial"/>
                <ns2:cs typeface="Arial"/>
              </ns2:defRPr>
            </ns2:pPr>
            <ns2:r>
              <ns2:rPr sz="2025" b="1">
                <ns2:solidFill>
                  <ns2:srgbClr val="20567B"/>
                </ns2:solidFill>
                <ns2:latin typeface="Arial"/>
                <ns2:ea typeface="Arial"/>
                <ns2:cs typeface="Arial"/>
              </ns2:rPr>
              <ns2:t>Câu hỏi 2 · tiết kiệm nhãn</ns2:t>
            </ns2:r>
          </ns2:p>
        </p:txBody>
      </p:sp>
      <p:sp>
        <p:nvSpPr>
          <p:cNvPr id="8" name="">
            <a:extLst xmlns:a="http://schemas.openxmlformats.org/drawingml/2006/main">
              <a:ext uri="{FF2B5EF4-FFF2-40B4-BE49-F238E27FC236}">
                <a16:creationId xmlns:a16="http://schemas.microsoft.com/office/drawing/2014/main" id="{1702B11C-0CE4-402E-A7D8-D30A3FDA25D9}"/>
              </a:ext>
            </a:extLst>
          </p:cNvPr>
          <p:cNvSpPr>
            <a:spLocks xmlns:a="http://schemas.openxmlformats.org/drawingml/2006/main" noGrp="1"/>
          </p:cNvSpPr>
          <p:nvPr/>
        </p:nvSpPr>
        <p:spPr>
          <a:xfrm xmlns:a="http://schemas.openxmlformats.org/drawingml/2006/main">
            <a:off x="619125" y="333375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3:p xmlns:ns3="http://schemas.openxmlformats.org/drawingml/2006/main">
            <ns3:pPr algn="l">
              <ns3:defRPr sz="1600" b="0">
                <ns3:solidFill>
                  <ns3:srgbClr val="163047"/>
                </ns3:solidFill>
                <ns3:latin typeface="Arial"/>
                <ns3:ea typeface="Arial"/>
                <ns3:cs typeface="Arial"/>
              </ns3:defRPr>
            </ns3:pPr>
            <ns3:r>
              <ns3:rPr sz="1600" b="0">
                <ns3:solidFill>
                  <ns3:srgbClr val="163047"/>
                </ns3:solidFill>
                <ns3:latin typeface="Arial"/>
                <ns3:ea typeface="Arial"/>
                <ns3:cs typeface="Arial"/>
              </ns3:rPr>
              <ns3:t>H2 (PINN-semi 30 % so với MLP 70 %, biên 10 %): không kém hơn trên 2/4 bộ (MIT, HUST).</ns3:t>
            </ns3:r>
          </ns3:p>
        </p:txBody>
      </p:sp>
      <p:sp>
        <p:nvSpPr>
          <p:cNvPr id="9" name="">
            <a:extLst xmlns:a="http://schemas.openxmlformats.org/drawingml/2006/main">
              <a:ext uri="{FF2B5EF4-FFF2-40B4-BE49-F238E27FC236}">
                <a16:creationId xmlns:a16="http://schemas.microsoft.com/office/drawing/2014/main" id="{AB258ABB-D9A1-4E33-BC7C-634BD5AFFB45}"/>
              </a:ext>
            </a:extLst>
          </p:cNvPr>
          <p:cNvSpPr>
            <a:spLocks xmlns:a="http://schemas.openxmlformats.org/drawingml/2006/main" noGrp="1"/>
          </p:cNvSpPr>
          <p:nvPr/>
        </p:nvSpPr>
        <p:spPr>
          <a:xfrm xmlns:a="http://schemas.openxmlformats.org/drawingml/2006/main">
            <a:off x="619125" y="431482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4:p xmlns:ns4="http://schemas.openxmlformats.org/drawingml/2006/main">
            <ns4:pPr algn="l">
              <ns4:defRPr sz="2025" b="1">
                <ns4:solidFill>
                  <ns4:srgbClr val="20567B"/>
                </ns4:solidFill>
                <ns4:latin typeface="Arial"/>
                <ns4:ea typeface="Arial"/>
                <ns4:cs typeface="Arial"/>
              </ns4:defRPr>
            </ns4:pPr>
            <ns4:r>
              <ns4:rPr sz="2025" b="1">
                <ns4:solidFill>
                  <ns4:srgbClr val="20567B"/>
                </ns4:solidFill>
                <ns4:latin typeface="Arial"/>
                <ns4:ea typeface="Arial"/>
                <ns4:cs typeface="Arial"/>
              </ns4:rPr>
              <ns4:t>Độ vững của kết luận</ns4:t>
            </ns4:r>
          </ns4:p>
        </p:txBody>
      </p:sp>
      <p:sp>
        <p:nvSpPr>
          <p:cNvPr id="10" name="">
            <a:extLst xmlns:a="http://schemas.openxmlformats.org/drawingml/2006/main">
              <a:ext uri="{FF2B5EF4-FFF2-40B4-BE49-F238E27FC236}">
                <a16:creationId xmlns:a16="http://schemas.microsoft.com/office/drawing/2014/main" id="{A6AF07D3-DDDB-421B-B087-F9E3D90BC348}"/>
              </a:ext>
            </a:extLst>
          </p:cNvPr>
          <p:cNvSpPr>
            <a:spLocks xmlns:a="http://schemas.openxmlformats.org/drawingml/2006/main" noGrp="1"/>
          </p:cNvSpPr>
          <p:nvPr/>
        </p:nvSpPr>
        <p:spPr>
          <a:xfrm xmlns:a="http://schemas.openxmlformats.org/drawingml/2006/main">
            <a:off x="619125" y="4695825"/>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5:p xmlns:ns5="http://schemas.openxmlformats.org/drawingml/2006/main">
            <ns5:pPr algn="l">
              <ns5:defRPr sz="1600" b="0">
                <ns5:solidFill>
                  <ns5:srgbClr val="163047"/>
                </ns5:solidFill>
                <ns5:latin typeface="Arial"/>
                <ns5:ea typeface="Arial"/>
                <ns5:cs typeface="Arial"/>
              </ns5:defRPr>
            </ns5:pPr>
            <ns5:r>
              <ns5:rPr sz="1600" b="0">
                <ns5:solidFill>
                  <ns5:srgbClr val="163047"/>
                </ns5:solidFill>
                <ns5:latin typeface="Arial"/>
                <ns5:ea typeface="Arial"/>
                <ns5:cs typeface="Arial"/>
              </ns5:rPr>
              <ns5:t>Phép t hiệu chỉnh ở mức fold (bảo thủ hơn, tính cả biến thiên do huấn luyện lại) chỉ xác nhận 1/4 bộ (MIT) — kết luận phụ thuộc đơn vị phân tích, nên phát biểu mạnh chỉ dành cho các bộ qua cả hai phép kiểm.</ns5:t>
            </ns5:r>
          </ns5:p>
        </p:txBody>
      </p:sp>
      <p:sp>
        <p:nvSpPr>
          <p:cNvPr id="11" name="">
            <a:extLst xmlns:a="http://schemas.openxmlformats.org/drawingml/2006/main">
              <a:ext uri="{FF2B5EF4-FFF2-40B4-BE49-F238E27FC236}">
                <a16:creationId xmlns:a16="http://schemas.microsoft.com/office/drawing/2014/main" id="{350EFF1A-358C-4FB7-A2D8-963B603601DB}"/>
              </a:ext>
            </a:extLst>
          </p:cNvPr>
          <p:cNvSpPr>
            <a:spLocks xmlns:a="http://schemas.openxmlformats.org/drawingml/2006/main" noGrp="1"/>
          </p:cNvSpPr>
          <p:nvPr/>
        </p:nvSpPr>
        <p:spPr>
          <a:xfrm xmlns:a="http://schemas.openxmlformats.org/drawingml/2006/main">
            <a:off x="619125" y="6105525"/>
            <a:ext cx="1071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6:p xmlns:ns6="http://schemas.openxmlformats.org/drawingml/2006/main">
            <ns6:pPr algn="l">
              <ns6:defRPr sz="1275" b="0">
                <ns6:solidFill>
                  <ns6:srgbClr val="526778"/>
                </ns6:solidFill>
                <ns6:latin typeface="Arial"/>
                <ns6:ea typeface="Arial"/>
                <ns6:cs typeface="Arial"/>
              </ns6:defRPr>
            </ns6:pPr>
            <ns6:r>
              <ns6:rPr sz="1275" b="0">
                <ns6:solidFill>
                  <ns6:srgbClr val="526778"/>
                </ns6:solidFill>
                <ns6:latin typeface="Arial"/>
                <ns6:ea typeface="Arial"/>
                <ns6:cs typeface="Arial"/>
              </ns6:rPr>
              <ns6:t>Kết luận đi theo quy tắc quyết định ấn định trước; p lớn không được hiểu là tương đương.</ns6:t>
            </ns6:r>
          </ns6:p>
        </p:txBody>
      </p:sp>
    </p:spTree>
    <p:extLst>
      <p:ext uri="{BB962C8B-B14F-4D97-AF65-F5344CB8AC3E}">
        <p14:creationId xmlns:p14="http://schemas.microsoft.com/office/powerpoint/2010/main" val="150286405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718861A-13FE-4C00-AA5C-7E82D1296E0C}"/>
              </a:ext>
            </a:extLst>
          </p:cNvPr>
          <p:cNvSpPr>
            <a:spLocks xmlns:a="http://schemas.openxmlformats.org/drawingml/2006/main" noGrp="1"/>
          </p:cNvSpPr>
          <p:nvPr/>
        </p:nvSpPr>
        <p:spPr>
          <a:xfrm xmlns:a="http://schemas.openxmlformats.org/drawingml/2006/main">
            <a:off x="0" y="0"/>
            <a:ext cx="12192000" cy="952500"/>
          </a:xfrm>
          <a:prstGeom xmlns:a="http://schemas.openxmlformats.org/drawingml/2006/main" prst="rect">
            <a:avLst/>
          </a:prstGeom>
          <a:solidFill xmlns:a="http://schemas.openxmlformats.org/drawingml/2006/main">
            <a:srgbClr val="20567B"/>
          </a:solidFill>
          <a:ln xmlns:a="http://schemas.openxmlformats.org/drawingml/2006/main" w="9525">
            <a:solidFill>
              <a:srgbClr val="20567B"/>
            </a:solidFill>
          </a:ln>
        </p:spPr>
      </p:sp>
      <p:sp>
        <p:nvSpPr>
          <p:cNvPr id="2" name="">
            <a:extLst xmlns:a="http://schemas.openxmlformats.org/drawingml/2006/main">
              <a:ext uri="{FF2B5EF4-FFF2-40B4-BE49-F238E27FC236}">
                <a16:creationId xmlns:a16="http://schemas.microsoft.com/office/drawing/2014/main" id="{807D9F89-0B78-43F1-B678-77EE6DCA7497}"/>
              </a:ext>
            </a:extLst>
          </p:cNvPr>
          <p:cNvSpPr>
            <a:spLocks xmlns:a="http://schemas.openxmlformats.org/drawingml/2006/main" noGrp="1"/>
          </p:cNvSpPr>
          <p:nvPr/>
        </p:nvSpPr>
        <p:spPr>
          <a:xfrm xmlns:a="http://schemas.openxmlformats.org/drawingml/2006/main">
            <a:off x="542925" y="66675"/>
            <a:ext cx="11239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Phụ lục: hàm mất mát đúng theo code</a:t>
            </a:r>
          </a:p>
        </p:txBody>
      </p:sp>
      <p:sp>
        <p:nvSpPr>
          <p:cNvPr id="3" name="">
            <a:extLst xmlns:a="http://schemas.openxmlformats.org/drawingml/2006/main">
              <a:ext uri="{FF2B5EF4-FFF2-40B4-BE49-F238E27FC236}">
                <a16:creationId xmlns:a16="http://schemas.microsoft.com/office/drawing/2014/main" id="{AF36056D-2B67-4EBB-8927-D4F3A7512916}"/>
              </a:ext>
            </a:extLst>
          </p:cNvPr>
          <p:cNvSpPr>
            <a:spLocks xmlns:a="http://schemas.openxmlformats.org/drawingml/2006/main" noGrp="1"/>
          </p:cNvSpPr>
          <p:nvPr/>
        </p:nvSpPr>
        <p:spPr>
          <a:xfrm xmlns:a="http://schemas.openxmlformats.org/drawingml/2006/main">
            <a:off x="11144250" y="6400800"/>
            <a:ext cx="333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0:p xmlns:ns0="http://schemas.openxmlformats.org/drawingml/2006/main">
            <ns0:pPr algn="l">
              <ns0:defRPr sz="1200" b="1">
                <ns0:solidFill>
                  <ns0:srgbClr val="20567B"/>
                </ns0:solidFill>
                <ns0:latin typeface="Arial"/>
                <ns0:ea typeface="Arial"/>
                <ns0:cs typeface="Arial"/>
              </ns0:defRPr>
            </ns0:pPr>
            <ns0:r>
              <ns0:rPr sz="1200" b="1">
                <ns0:solidFill>
                  <ns0:srgbClr val="20567B"/>
                </ns0:solidFill>
                <ns0:latin typeface="Arial"/>
                <ns0:ea typeface="Arial"/>
                <ns0:cs typeface="Arial"/>
              </ns0:rPr>
              <ns0:t>31</ns0:t>
            </ns0:r>
          </ns0: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7079feee7454879"/>
          <a:stretch xmlns:a="http://schemas.openxmlformats.org/drawingml/2006/main"/>
        </p:blipFill>
        <p:spPr>
          <a:xfrm xmlns:a="http://schemas.openxmlformats.org/drawingml/2006/main">
            <a:off x="11696700" y="6384974"/>
            <a:ext cx="285750" cy="26025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2035E0F-BAC4-4BEA-A201-71E213980FD6}"/>
              </a:ext>
            </a:extLst>
          </p:cNvPr>
          <p:cNvSpPr>
            <a:spLocks xmlns:a="http://schemas.openxmlformats.org/drawingml/2006/main" noGrp="1"/>
          </p:cNvSpPr>
          <p:nvPr/>
        </p:nvSpPr>
        <p:spPr>
          <a:xfrm xmlns:a="http://schemas.openxmlformats.org/drawingml/2006/main">
            <a:off x="619125" y="13716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1">
                <a:solidFill>
                  <a:srgbClr val="20567B"/>
                </a:solidFill>
                <a:latin typeface="Arial"/>
                <a:ea typeface="Arial"/>
                <a:cs typeface="Arial"/>
              </a:defRPr>
            </a:pPr>
            <a:r>
              <a:rPr sz="2025" b="1">
                <a:solidFill>
                  <a:srgbClr val="20567B"/>
                </a:solidFill>
                <a:latin typeface="Arial"/>
                <a:ea typeface="Arial"/>
                <a:cs typeface="Arial"/>
              </a:rPr>
              <a:t>Ldata = mean (u − y)²</a:t>
            </a:r>
          </a:p>
        </p:txBody>
      </p:sp>
      <p:sp>
        <p:nvSpPr>
          <p:cNvPr id="6" name="">
            <a:extLst xmlns:a="http://schemas.openxmlformats.org/drawingml/2006/main">
              <a:ext uri="{FF2B5EF4-FFF2-40B4-BE49-F238E27FC236}">
                <a16:creationId xmlns:a16="http://schemas.microsoft.com/office/drawing/2014/main" id="{4E5D71CE-7ACA-49FD-8CAD-AAC4B6FCDA47}"/>
              </a:ext>
            </a:extLst>
          </p:cNvPr>
          <p:cNvSpPr>
            <a:spLocks xmlns:a="http://schemas.openxmlformats.org/drawingml/2006/main" noGrp="1"/>
          </p:cNvSpPr>
          <p:nvPr/>
        </p:nvSpPr>
        <p:spPr>
          <a:xfrm xmlns:a="http://schemas.openxmlformats.org/drawingml/2006/main">
            <a:off x="619125" y="175260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63047"/>
                </a:solidFill>
                <a:latin typeface="Arial"/>
                <a:ea typeface="Arial"/>
                <a:cs typeface="Arial"/>
              </a:defRPr>
            </a:pPr>
            <a:r>
              <a:rPr sz="1800" b="0">
                <a:solidFill>
                  <a:srgbClr val="163047"/>
                </a:solidFill>
                <a:latin typeface="Arial"/>
                <a:ea typeface="Arial"/>
                <a:cs typeface="Arial"/>
              </a:rPr>
              <a:t>Chỉ dùng nhãn của các cell được chọn.</a:t>
            </a:r>
          </a:p>
        </p:txBody>
      </p:sp>
      <p:sp>
        <p:nvSpPr>
          <p:cNvPr id="7" name="">
            <a:extLst xmlns:a="http://schemas.openxmlformats.org/drawingml/2006/main">
              <a:ext uri="{FF2B5EF4-FFF2-40B4-BE49-F238E27FC236}">
                <a16:creationId xmlns:a16="http://schemas.microsoft.com/office/drawing/2014/main" id="{0BC5806B-4756-4E8F-B72D-EC47D5A40937}"/>
              </a:ext>
            </a:extLst>
          </p:cNvPr>
          <p:cNvSpPr>
            <a:spLocks xmlns:a="http://schemas.openxmlformats.org/drawingml/2006/main" noGrp="1"/>
          </p:cNvSpPr>
          <p:nvPr/>
        </p:nvSpPr>
        <p:spPr>
          <a:xfrm xmlns:a="http://schemas.openxmlformats.org/drawingml/2006/main">
            <a:off x="619125" y="27051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1">
                <a:solidFill>
                  <a:srgbClr val="20567B"/>
                </a:solidFill>
                <a:latin typeface="Arial"/>
                <a:ea typeface="Arial"/>
                <a:cs typeface="Arial"/>
              </a:defRPr>
            </a:pPr>
            <a:r>
              <a:rPr sz="2025" b="1">
                <a:solidFill>
                  <a:srgbClr val="20567B"/>
                </a:solidFill>
                <a:latin typeface="Arial"/>
                <a:ea typeface="Arial"/>
                <a:cs typeface="Arial"/>
              </a:rPr>
              <a:t>Lode = mean [u₂ − u₁ + r₁ Δt]²</a:t>
            </a:r>
          </a:p>
        </p:txBody>
      </p:sp>
      <p:sp>
        <p:nvSpPr>
          <p:cNvPr id="8" name="">
            <a:extLst xmlns:a="http://schemas.openxmlformats.org/drawingml/2006/main">
              <a:ext uri="{FF2B5EF4-FFF2-40B4-BE49-F238E27FC236}">
                <a16:creationId xmlns:a16="http://schemas.microsoft.com/office/drawing/2014/main" id="{1C4BE72D-0C57-4A45-B84F-0A9EAD52AAB7}"/>
              </a:ext>
            </a:extLst>
          </p:cNvPr>
          <p:cNvSpPr>
            <a:spLocks xmlns:a="http://schemas.openxmlformats.org/drawingml/2006/main" noGrp="1"/>
          </p:cNvSpPr>
          <p:nvPr/>
        </p:nvSpPr>
        <p:spPr>
          <a:xfrm xmlns:a="http://schemas.openxmlformats.org/drawingml/2006/main">
            <a:off x="619125" y="308610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63047"/>
                </a:solidFill>
                <a:latin typeface="Arial"/>
                <a:ea typeface="Arial"/>
                <a:cs typeface="Arial"/>
              </a:defRPr>
            </a:pPr>
            <a:r>
              <a:rPr sz="1800" b="0">
                <a:solidFill>
                  <a:srgbClr val="163047"/>
                </a:solidFill>
                <a:latin typeface="Arial"/>
                <a:ea typeface="Arial"/>
                <a:cs typeface="Arial"/>
              </a:rPr>
              <a:t>Bản Euler. TUNED dùng mean (∂u/∂t + r)².</a:t>
            </a:r>
          </a:p>
        </p:txBody>
      </p:sp>
      <p:sp>
        <p:nvSpPr>
          <p:cNvPr id="9" name="">
            <a:extLst xmlns:a="http://schemas.openxmlformats.org/drawingml/2006/main">
              <a:ext uri="{FF2B5EF4-FFF2-40B4-BE49-F238E27FC236}">
                <a16:creationId xmlns:a16="http://schemas.microsoft.com/office/drawing/2014/main" id="{087EF099-C0B0-43E7-95BE-C5CB5D37797D}"/>
              </a:ext>
            </a:extLst>
          </p:cNvPr>
          <p:cNvSpPr>
            <a:spLocks xmlns:a="http://schemas.openxmlformats.org/drawingml/2006/main" noGrp="1"/>
          </p:cNvSpPr>
          <p:nvPr/>
        </p:nvSpPr>
        <p:spPr>
          <a:xfrm xmlns:a="http://schemas.openxmlformats.org/drawingml/2006/main">
            <a:off x="619125" y="40386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1">
                <a:solidFill>
                  <a:srgbClr val="20567B"/>
                </a:solidFill>
                <a:latin typeface="Arial"/>
                <a:ea typeface="Arial"/>
                <a:cs typeface="Arial"/>
              </a:defRPr>
            </a:pPr>
            <a:r>
              <a:rPr sz="2025" b="1">
                <a:solidFill>
                  <a:srgbClr val="20567B"/>
                </a:solidFill>
                <a:latin typeface="Arial"/>
                <a:ea typeface="Arial"/>
                <a:cs typeface="Arial"/>
              </a:rPr>
              <a:t>Lmono = mean ReLU(u₂ − u₁ − 0,002)</a:t>
            </a:r>
          </a:p>
        </p:txBody>
      </p:sp>
      <p:sp>
        <p:nvSpPr>
          <p:cNvPr id="10" name="">
            <a:extLst xmlns:a="http://schemas.openxmlformats.org/drawingml/2006/main">
              <a:ext uri="{FF2B5EF4-FFF2-40B4-BE49-F238E27FC236}">
                <a16:creationId xmlns:a16="http://schemas.microsoft.com/office/drawing/2014/main" id="{48C66F24-8C31-4E86-870D-8AC65F7D46FC}"/>
              </a:ext>
            </a:extLst>
          </p:cNvPr>
          <p:cNvSpPr>
            <a:spLocks xmlns:a="http://schemas.openxmlformats.org/drawingml/2006/main" noGrp="1"/>
          </p:cNvSpPr>
          <p:nvPr/>
        </p:nvSpPr>
        <p:spPr>
          <a:xfrm xmlns:a="http://schemas.openxmlformats.org/drawingml/2006/main">
            <a:off x="619125" y="441960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63047"/>
                </a:solidFill>
                <a:latin typeface="Arial"/>
                <a:ea typeface="Arial"/>
                <a:cs typeface="Arial"/>
              </a:defRPr>
            </a:pPr>
            <a:r>
              <a:rPr sz="1800" b="0">
                <a:solidFill>
                  <a:srgbClr val="163047"/>
                </a:solidFill>
                <a:latin typeface="Arial"/>
                <a:ea typeface="Arial"/>
                <a:cs typeface="Arial"/>
              </a:rPr>
              <a:t>Lrange phạt ngoài [0,4; 1,15], thêm prior [0,85; 1,10] ở đầu cell.</a:t>
            </a:r>
          </a:p>
        </p:txBody>
      </p:sp>
      <p:sp>
        <p:nvSpPr>
          <p:cNvPr id="11" name="">
            <a:extLst xmlns:a="http://schemas.openxmlformats.org/drawingml/2006/main">
              <a:ext uri="{FF2B5EF4-FFF2-40B4-BE49-F238E27FC236}">
                <a16:creationId xmlns:a16="http://schemas.microsoft.com/office/drawing/2014/main" id="{FD423483-2ED5-4D49-B767-3D5365D95763}"/>
              </a:ext>
            </a:extLst>
          </p:cNvPr>
          <p:cNvSpPr>
            <a:spLocks xmlns:a="http://schemas.openxmlformats.org/drawingml/2006/main" noGrp="1"/>
          </p:cNvSpPr>
          <p:nvPr/>
        </p:nvSpPr>
        <p:spPr>
          <a:xfrm xmlns:a="http://schemas.openxmlformats.org/drawingml/2006/main">
            <a:off x="619125" y="55245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75" b="1">
                <a:solidFill>
                  <a:srgbClr val="20567B"/>
                </a:solidFill>
                <a:latin typeface="Arial"/>
                <a:ea typeface="Arial"/>
                <a:cs typeface="Arial"/>
              </a:defRPr>
            </a:pPr>
            <a:r>
              <a:rPr sz="2175" b="1">
                <a:solidFill>
                  <a:srgbClr val="20567B"/>
                </a:solidFill>
                <a:latin typeface="Arial"/>
                <a:ea typeface="Arial"/>
                <a:cs typeface="Arial"/>
              </a:rPr>
              <a:t>L = Ldata + w(s)(αLode + βLmono + γLrange)</a:t>
            </a:r>
          </a:p>
        </p:txBody>
      </p:sp>
    </p:spTree>
    <p:extLst>
      <p:ext uri="{BB962C8B-B14F-4D97-AF65-F5344CB8AC3E}">
        <p14:creationId xmlns:p14="http://schemas.microsoft.com/office/powerpoint/2010/main" val="65490705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75BEE07-093F-4764-BC5D-C9F6576F54B0}"/>
              </a:ext>
            </a:extLst>
          </p:cNvPr>
          <p:cNvSpPr>
            <a:spLocks xmlns:a="http://schemas.openxmlformats.org/drawingml/2006/main" noGrp="1"/>
          </p:cNvSpPr>
          <p:nvPr/>
        </p:nvSpPr>
        <p:spPr>
          <a:xfrm xmlns:a="http://schemas.openxmlformats.org/drawingml/2006/main">
            <a:off x="0" y="0"/>
            <a:ext cx="12192000" cy="952500"/>
          </a:xfrm>
          <a:prstGeom xmlns:a="http://schemas.openxmlformats.org/drawingml/2006/main" prst="rect">
            <a:avLst/>
          </a:prstGeom>
          <a:solidFill xmlns:a="http://schemas.openxmlformats.org/drawingml/2006/main">
            <a:srgbClr val="20567B"/>
          </a:solidFill>
          <a:ln xmlns:a="http://schemas.openxmlformats.org/drawingml/2006/main" w="9525">
            <a:solidFill>
              <a:srgbClr val="20567B"/>
            </a:solidFill>
          </a:ln>
        </p:spPr>
      </p:sp>
      <p:sp>
        <p:nvSpPr>
          <p:cNvPr id="2" name="">
            <a:extLst xmlns:a="http://schemas.openxmlformats.org/drawingml/2006/main">
              <a:ext uri="{FF2B5EF4-FFF2-40B4-BE49-F238E27FC236}">
                <a16:creationId xmlns:a16="http://schemas.microsoft.com/office/drawing/2014/main" id="{077AF1C6-7445-4BE3-BDCE-2310F9AF2F9E}"/>
              </a:ext>
            </a:extLst>
          </p:cNvPr>
          <p:cNvSpPr>
            <a:spLocks xmlns:a="http://schemas.openxmlformats.org/drawingml/2006/main" noGrp="1"/>
          </p:cNvSpPr>
          <p:nvPr/>
        </p:nvSpPr>
        <p:spPr>
          <a:xfrm xmlns:a="http://schemas.openxmlformats.org/drawingml/2006/main">
            <a:off x="542925" y="66675"/>
            <a:ext cx="11239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Phụ lục: nguồn và khả năng tái lập</a:t>
            </a:r>
          </a:p>
        </p:txBody>
      </p:sp>
      <p:sp>
        <p:nvSpPr>
          <p:cNvPr id="3" name="">
            <a:extLst xmlns:a="http://schemas.openxmlformats.org/drawingml/2006/main">
              <a:ext uri="{FF2B5EF4-FFF2-40B4-BE49-F238E27FC236}">
                <a16:creationId xmlns:a16="http://schemas.microsoft.com/office/drawing/2014/main" id="{3EF4B2F0-D741-4D1C-8C36-2684513687E0}"/>
              </a:ext>
            </a:extLst>
          </p:cNvPr>
          <p:cNvSpPr>
            <a:spLocks xmlns:a="http://schemas.openxmlformats.org/drawingml/2006/main" noGrp="1"/>
          </p:cNvSpPr>
          <p:nvPr/>
        </p:nvSpPr>
        <p:spPr>
          <a:xfrm xmlns:a="http://schemas.openxmlformats.org/drawingml/2006/main">
            <a:off x="11144250" y="6400800"/>
            <a:ext cx="333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3:p xmlns:ns3="http://schemas.openxmlformats.org/drawingml/2006/main">
            <ns3:pPr algn="l">
              <ns3:defRPr sz="1200" b="1">
                <ns3:solidFill>
                  <ns3:srgbClr val="20567B"/>
                </ns3:solidFill>
                <ns3:latin typeface="Arial"/>
                <ns3:ea typeface="Arial"/>
                <ns3:cs typeface="Arial"/>
              </ns3:defRPr>
            </ns3:pPr>
            <ns3:r>
              <ns3:rPr sz="1200" b="1">
                <ns3:solidFill>
                  <ns3:srgbClr val="20567B"/>
                </ns3:solidFill>
                <ns3:latin typeface="Arial"/>
                <ns3:ea typeface="Arial"/>
                <ns3:cs typeface="Arial"/>
              </ns3:rPr>
              <ns3:t>32</ns3:t>
            </ns3:r>
          </ns3: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20fc3f7d75c44c2"/>
          <a:stretch xmlns:a="http://schemas.openxmlformats.org/drawingml/2006/main"/>
        </p:blipFill>
        <p:spPr>
          <a:xfrm xmlns:a="http://schemas.openxmlformats.org/drawingml/2006/main">
            <a:off x="11696700" y="6384974"/>
            <a:ext cx="285750" cy="26025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748970B-B2FA-493E-A995-216DCD06F5C5}"/>
              </a:ext>
            </a:extLst>
          </p:cNvPr>
          <p:cNvSpPr>
            <a:spLocks xmlns:a="http://schemas.openxmlformats.org/drawingml/2006/main" noGrp="1"/>
          </p:cNvSpPr>
          <p:nvPr/>
        </p:nvSpPr>
        <p:spPr>
          <a:xfrm xmlns:a="http://schemas.openxmlformats.org/drawingml/2006/main">
            <a:off x="619125" y="14287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1">
                <a:solidFill>
                  <a:srgbClr val="20567B"/>
                </a:solidFill>
                <a:latin typeface="Arial"/>
                <a:ea typeface="Arial"/>
                <a:cs typeface="Arial"/>
              </a:defRPr>
            </a:pPr>
            <a:r>
              <a:rPr sz="2025" b="1">
                <a:solidFill>
                  <a:srgbClr val="20567B"/>
                </a:solidFill>
                <a:latin typeface="Arial"/>
                <a:ea typeface="Arial"/>
                <a:cs typeface="Arial"/>
              </a:rPr>
              <a:t>Dữ liệu và kết quả</a:t>
            </a:r>
          </a:p>
        </p:txBody>
      </p:sp>
      <p:sp>
        <p:nvSpPr>
          <p:cNvPr id="6" name="">
            <a:extLst xmlns:a="http://schemas.openxmlformats.org/drawingml/2006/main">
              <a:ext uri="{FF2B5EF4-FFF2-40B4-BE49-F238E27FC236}">
                <a16:creationId xmlns:a16="http://schemas.microsoft.com/office/drawing/2014/main" id="{EB6A043E-D7E4-4833-9D8E-226ACCEF5A6C}"/>
              </a:ext>
            </a:extLst>
          </p:cNvPr>
          <p:cNvSpPr>
            <a:spLocks xmlns:a="http://schemas.openxmlformats.org/drawingml/2006/main" noGrp="1"/>
          </p:cNvSpPr>
          <p:nvPr/>
        </p:nvSpPr>
        <p:spPr>
          <a:xfrm xmlns:a="http://schemas.openxmlformats.org/drawingml/2006/main">
            <a:off x="619125" y="1809750"/>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1:p xmlns:ns1="http://schemas.openxmlformats.org/drawingml/2006/main">
            <ns1:pPr algn="l">
              <ns1:defRPr sz="1800" b="0">
                <ns1:solidFill>
                  <ns1:srgbClr val="163047"/>
                </ns1:solidFill>
                <ns1:latin typeface="Arial"/>
                <ns1:ea typeface="Arial"/>
                <ns1:cs typeface="Arial"/>
              </ns1:defRPr>
            </ns1:pPr>
            <ns1:r>
              <ns1:rPr sz="1800" b="0">
                <ns1:solidFill>
                  <ns1:srgbClr val="163047"/>
                </ns1:solidFill>
                <ns1:latin typeface="Arial"/>
                <ns1:ea typeface="Arial"/>
                <ns1:cs typeface="Arial"/>
              </ns1:rPr>
              <ns1:t>387 CSV. v1: 1.387 log. v2: 1100 log E13, 80 log E14, đều lưu split và dự đoán test.</ns1:t>
            </ns1:r>
          </ns1:p>
        </p:txBody>
      </p:sp>
      <p:sp>
        <p:nvSpPr>
          <p:cNvPr id="7" name="">
            <a:extLst xmlns:a="http://schemas.openxmlformats.org/drawingml/2006/main">
              <a:ext uri="{FF2B5EF4-FFF2-40B4-BE49-F238E27FC236}">
                <a16:creationId xmlns:a16="http://schemas.microsoft.com/office/drawing/2014/main" id="{C8259573-F17A-421D-B0DF-1411C5E333CA}"/>
              </a:ext>
            </a:extLst>
          </p:cNvPr>
          <p:cNvSpPr>
            <a:spLocks xmlns:a="http://schemas.openxmlformats.org/drawingml/2006/main" noGrp="1"/>
          </p:cNvSpPr>
          <p:nvPr/>
        </p:nvSpPr>
        <p:spPr>
          <a:xfrm xmlns:a="http://schemas.openxmlformats.org/drawingml/2006/main">
            <a:off x="619125" y="27813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0:p xmlns:ns0="http://schemas.openxmlformats.org/drawingml/2006/main">
            <ns0:pPr algn="l">
              <ns0:defRPr sz="2025" b="1">
                <ns0:solidFill>
                  <ns0:srgbClr val="20567B"/>
                </ns0:solidFill>
                <ns0:latin typeface="Arial"/>
                <ns0:ea typeface="Arial"/>
                <ns0:cs typeface="Arial"/>
              </ns0:defRPr>
            </ns0:pPr>
            <ns0:r>
              <ns0:rPr sz="2025" b="1">
                <ns0:solidFill>
                  <ns0:srgbClr val="20567B"/>
                </ns0:solidFill>
                <ns0:latin typeface="Arial"/>
                <ns0:ea typeface="Arial"/>
                <ns0:cs typeface="Arial"/>
              </ns0:rPr>
              <ns0:t>Chạy lại kết quả v2</ns0:t>
            </ns0:r>
          </ns0:p>
        </p:txBody>
      </p:sp>
      <p:sp>
        <p:nvSpPr>
          <p:cNvPr id="8" name="">
            <a:extLst xmlns:a="http://schemas.openxmlformats.org/drawingml/2006/main">
              <a:ext uri="{FF2B5EF4-FFF2-40B4-BE49-F238E27FC236}">
                <a16:creationId xmlns:a16="http://schemas.microsoft.com/office/drawing/2014/main" id="{245BB532-DABC-4343-AEC6-0C4D32B528C9}"/>
              </a:ext>
            </a:extLst>
          </p:cNvPr>
          <p:cNvSpPr>
            <a:spLocks xmlns:a="http://schemas.openxmlformats.org/drawingml/2006/main" noGrp="1"/>
          </p:cNvSpPr>
          <p:nvPr/>
        </p:nvSpPr>
        <p:spPr>
          <a:xfrm xmlns:a="http://schemas.openxmlformats.org/drawingml/2006/main">
            <a:off x="619125" y="3162300"/>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ns2:p xmlns:ns2="http://schemas.openxmlformats.org/drawingml/2006/main">
            <ns2:pPr algn="l">
              <ns2:defRPr sz="1800" b="0">
                <ns2:solidFill>
                  <ns2:srgbClr val="163047"/>
                </ns2:solidFill>
                <ns2:latin typeface="Arial"/>
                <ns2:ea typeface="Arial"/>
                <ns2:cs typeface="Arial"/>
              </ns2:defRPr>
            </ns2:pPr>
            <ns2:r>
              <ns2:rPr sz="1800" b="0">
                <ns2:solidFill>
                  <ns2:srgbClr val="163047"/>
                </ns2:solidFill>
                <ns2:latin typeface="Arial"/>
                <ns2:ea typeface="Arial"/>
                <ns2:cs typeface="Arial"/>
              </ns2:rPr>
              <ns2:t>python experiments.py E13 · python analyze_e13.py · python section_e13.py · python slide/cap_nhat_slide_E13.py</ns2:t>
            </ns2:r>
          </ns2:p>
        </p:txBody>
      </p:sp>
      <p:sp>
        <p:nvSpPr>
          <p:cNvPr id="9" name="">
            <a:extLst xmlns:a="http://schemas.openxmlformats.org/drawingml/2006/main">
              <a:ext uri="{FF2B5EF4-FFF2-40B4-BE49-F238E27FC236}">
                <a16:creationId xmlns:a16="http://schemas.microsoft.com/office/drawing/2014/main" id="{1596040E-28B6-4F5B-BDFE-BF2405CF2764}"/>
              </a:ext>
            </a:extLst>
          </p:cNvPr>
          <p:cNvSpPr>
            <a:spLocks xmlns:a="http://schemas.openxmlformats.org/drawingml/2006/main" noGrp="1"/>
          </p:cNvSpPr>
          <p:nvPr/>
        </p:nvSpPr>
        <p:spPr>
          <a:xfrm xmlns:a="http://schemas.openxmlformats.org/drawingml/2006/main">
            <a:off x="619125" y="41338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1">
                <a:solidFill>
                  <a:srgbClr val="20567B"/>
                </a:solidFill>
                <a:latin typeface="Arial"/>
                <a:ea typeface="Arial"/>
                <a:cs typeface="Arial"/>
              </a:defRPr>
            </a:pPr>
            <a:r>
              <a:rPr sz="2025" b="1">
                <a:solidFill>
                  <a:srgbClr val="20567B"/>
                </a:solidFill>
                <a:latin typeface="Arial"/>
                <a:ea typeface="Arial"/>
                <a:cs typeface="Arial"/>
              </a:rPr>
              <a:t>Tài liệu tham khảo</a:t>
            </a:r>
          </a:p>
        </p:txBody>
      </p:sp>
      <p:sp>
        <p:nvSpPr>
          <p:cNvPr id="10" name="">
            <a:extLst xmlns:a="http://schemas.openxmlformats.org/drawingml/2006/main">
              <a:ext uri="{FF2B5EF4-FFF2-40B4-BE49-F238E27FC236}">
                <a16:creationId xmlns:a16="http://schemas.microsoft.com/office/drawing/2014/main" id="{9E8DD0E2-A530-4AE3-BCAA-0A5814C5A51E}"/>
              </a:ext>
            </a:extLst>
          </p:cNvPr>
          <p:cNvSpPr>
            <a:spLocks xmlns:a="http://schemas.openxmlformats.org/drawingml/2006/main" noGrp="1"/>
          </p:cNvSpPr>
          <p:nvPr/>
        </p:nvSpPr>
        <p:spPr>
          <a:xfrm xmlns:a="http://schemas.openxmlformats.org/drawingml/2006/main">
            <a:off x="619125" y="4514850"/>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163047"/>
                </a:solidFill>
                <a:latin typeface="Arial"/>
                <a:ea typeface="Arial"/>
                <a:cs typeface="Arial"/>
              </a:defRPr>
            </a:pPr>
            <a:r>
              <a:rPr sz="1800" b="0">
                <a:solidFill>
                  <a:srgbClr val="163047"/>
                </a:solidFill>
                <a:latin typeface="Arial"/>
                <a:ea typeface="Arial"/>
                <a:cs typeface="Arial"/>
              </a:rPr>
              <a:t>Wang 2024 · DOI 10.1038/s41467-024-48779-z</a:t>
            </a:r>
          </a:p>
          <a:p xmlns:a="http://schemas.openxmlformats.org/drawingml/2006/main">
            <a:pPr algn="l">
              <a:defRPr sz="1800" b="0">
                <a:solidFill>
                  <a:srgbClr val="163047"/>
                </a:solidFill>
                <a:latin typeface="Arial"/>
                <a:ea typeface="Arial"/>
                <a:cs typeface="Arial"/>
              </a:defRPr>
            </a:pPr>
            <a:r>
              <a:rPr sz="1800" b="0">
                <a:solidFill>
                  <a:srgbClr val="163047"/>
                </a:solidFill>
                <a:latin typeface="Arial"/>
                <a:ea typeface="Arial"/>
                <a:cs typeface="Arial"/>
              </a:rPr>
              <a:t>Raissi 2019 · DOI 10.1016/j.jcp.2018.10.045</a:t>
            </a:r>
          </a:p>
          <a:p xmlns:a="http://schemas.openxmlformats.org/drawingml/2006/main">
            <a:pPr algn="l">
              <a:defRPr sz="1800" b="0">
                <a:solidFill>
                  <a:srgbClr val="163047"/>
                </a:solidFill>
                <a:latin typeface="Arial"/>
                <a:ea typeface="Arial"/>
                <a:cs typeface="Arial"/>
              </a:defRPr>
            </a:pPr>
            <a:r>
              <a:rPr sz="1800" b="0">
                <a:solidFill>
                  <a:srgbClr val="163047"/>
                </a:solidFill>
                <a:latin typeface="Arial"/>
                <a:ea typeface="Arial"/>
                <a:cs typeface="Arial"/>
              </a:rPr>
              <a:t>Wen 2023 · arXiv:2301.00776</a:t>
            </a:r>
          </a:p>
        </p:txBody>
      </p:sp>
    </p:spTree>
    <p:extLst>
      <p:ext uri="{BB962C8B-B14F-4D97-AF65-F5344CB8AC3E}">
        <p14:creationId xmlns:p14="http://schemas.microsoft.com/office/powerpoint/2010/main" val="1186168687"/>
      </p:ext>
    </p:extLst>
  </p:cSld>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8" name="">
            <a:extLst>
              <a:ext uri="{FF2B5EF4-FFF2-40B4-BE49-F238E27FC236}">
                <a16:creationId xmlns:a16="http://schemas.microsoft.com/office/drawing/2014/main" id="{A2DD91DF-1BC8-4F4E-9AB0-2B55DB203359}"/>
              </a:ext>
            </a:extLst>
          </p:cNvPr>
          <p:cNvSpPr>
            <a:spLocks noGrp="1"/>
          </p:cNvSpPr>
          <p:nvPr/>
        </p:nvSpPr>
        <p:spPr>
          <a:xfrm>
            <a:off x="0" y="0"/>
            <a:ext cx="12192000" cy="952500"/>
          </a:xfrm>
          <a:prstGeom prst="rect">
            <a:avLst/>
          </a:prstGeom>
          <a:solidFill>
            <a:srgbClr val="20567B"/>
          </a:solidFill>
          <a:ln w="9525">
            <a:solidFill>
              <a:srgbClr val="20567B"/>
            </a:solidFill>
          </a:ln>
        </p:spPr>
        <p:txBody>
          <a:bodyPr/>
          <a:p/>
        </p:txBody>
      </p:sp>
      <p:sp>
        <p:nvSpPr>
          <p:cNvPr id="2" name="">
            <a:extLst>
              <a:ext uri="{FF2B5EF4-FFF2-40B4-BE49-F238E27FC236}">
                <a16:creationId xmlns:a16="http://schemas.microsoft.com/office/drawing/2014/main" id="{C93E37DA-E3BE-4B30-851A-78B8357C043D}"/>
              </a:ext>
            </a:extLst>
          </p:cNvPr>
          <p:cNvSpPr>
            <a:spLocks noGrp="1"/>
          </p:cNvSpPr>
          <p:nvPr/>
        </p:nvSpPr>
        <p:spPr>
          <a:xfrm>
            <a:off x="542925" y="66675"/>
            <a:ext cx="11239500" cy="800100"/>
          </a:xfrm>
          <a:prstGeom prst="rect">
            <a:avLst/>
          </a:prstGeom>
          <a:noFill/>
          <a:ln w="0">
            <a:noFill/>
          </a:ln>
        </p:spPr>
        <p:txBody>
          <a:bodyPr lIns="0" tIns="0" rIns="0" bIns="0" anchor="ctr">
            <a:no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E13: thiết kế chốt trước khi chạy</a:t>
            </a:r>
          </a:p>
        </p:txBody>
      </p:sp>
      <p:sp>
        <p:nvSpPr>
          <p:cNvPr id="3" name="">
            <a:extLst>
              <a:ext uri="{FF2B5EF4-FFF2-40B4-BE49-F238E27FC236}">
                <a16:creationId xmlns:a16="http://schemas.microsoft.com/office/drawing/2014/main" id="{8C9AE867-B456-4135-B8DB-629FD7A4BC8E}"/>
              </a:ext>
            </a:extLst>
          </p:cNvPr>
          <p:cNvSpPr>
            <a:spLocks noGrp="1"/>
          </p:cNvSpPr>
          <p:nvPr/>
        </p:nvSpPr>
        <p:spPr>
          <a:xfrm>
            <a:off x="11144250" y="6400800"/>
            <a:ext cx="333375" cy="257175"/>
          </a:xfrm>
          <a:prstGeom prst="rect">
            <a:avLst/>
          </a:prstGeom>
          <a:noFill/>
          <a:ln w="0">
            <a:noFill/>
          </a:ln>
        </p:spPr>
        <p:txBody>
          <a:bodyPr lIns="0" tIns="0" rIns="0" bIns="0" anchor="ctr">
            <a:noAutofit/>
          </a:bodyPr>
          <a:lstStyle/>
          <a:p>
            <a:pPr algn="l">
              <a:defRPr sz="1200" b="1">
                <a:solidFill>
                  <a:srgbClr val="20567B"/>
                </a:solidFill>
                <a:latin typeface="Arial"/>
                <a:ea typeface="Arial"/>
                <a:cs typeface="Arial"/>
              </a:defRPr>
            </a:pPr>
            <a:r>
              <a:rPr sz="1200" b="1">
                <a:solidFill>
                  <a:srgbClr val="20567B"/>
                </a:solidFill>
                <a:latin typeface="Arial"/>
                <a:ea typeface="Arial"/>
                <a:cs typeface="Arial"/>
              </a:rPr>
              <a:t>19</a:t>
            </a:r>
          </a:p>
        </p:txBody>
      </p:sp>
      <p:pic>
        <p:nvPicPr>
          <p:cNvPr id="11" name=""/>
          <p:cNvPicPr>
            <a:picLocks noChangeAspect="1"/>
          </p:cNvPicPr>
          <p:nvPr/>
        </p:nvPicPr>
        <p:blipFill>
          <a:blip r:embed="rId2"/>
          <a:stretch/>
        </p:blipFill>
        <p:spPr>
          <a:xfrm>
            <a:off x="11696700" y="6384974"/>
            <a:ext cx="285750" cy="260252"/>
          </a:xfrm>
          <a:prstGeom prst="rect">
            <a:avLst/>
          </a:prstGeom>
        </p:spPr>
      </p:pic>
      <p:graphicFrame>
        <p:nvGraphicFramePr>
          <p:cNvPr id="12" name=""/>
          <p:cNvGraphicFramePr/>
          <p:nvPr/>
        </p:nvGraphicFramePr>
        <p:xfrm>
          <a:off x="533400" y="1457325"/>
          <a:ext cx="11128248" cy="3657600"/>
        </p:xfrm>
        <a:graphic>
          <a:graphicData uri="http://schemas.openxmlformats.org/drawingml/2006/table">
            <a:tbl>
              <a:tblPr/>
              <a:tblGrid>
                <a:gridCol w="2377440"/>
                <a:gridCol w="8750808"/>
              </a:tblGrid>
              <a:tr h="457200">
                <a:tc>
                  <a:txBody>
                    <a:bodyPr/>
                    <a:lstStyle/>
                    <a:p>
                      <a:pPr algn="l"/>
                      <a:r>
                        <a:rPr sz="1500" b="1">
                          <a:solidFill>
                            <a:srgbClr val="FFFFFF"/>
                          </a:solidFill>
                          <a:latin typeface="Arial"/>
                          <a:ea typeface="Arial"/>
                          <a:cs typeface="Arial"/>
                        </a:rPr>
                        <a:t>Hạng mục</a:t>
                      </a:r>
                    </a:p>
                  </a:txBody>
                  <a:tcPr marL="91440" marR="91440" marT="45720" marB="45720" anchor="ctr">
                    <a:solidFill>
                      <a:srgbClr val="20567B"/>
                    </a:solidFill>
                  </a:tcPr>
                </a:tc>
                <a:tc>
                  <a:txBody>
                    <a:bodyPr/>
                    <a:lstStyle/>
                    <a:p>
                      <a:pPr algn="l"/>
                      <a:r>
                        <a:rPr sz="1500" b="1">
                          <a:solidFill>
                            <a:srgbClr val="FFFFFF"/>
                          </a:solidFill>
                          <a:latin typeface="Arial"/>
                          <a:ea typeface="Arial"/>
                          <a:cs typeface="Arial"/>
                        </a:rPr>
                        <a:t>Đã ấn định trong đề cương</a:t>
                      </a:r>
                    </a:p>
                  </a:txBody>
                  <a:tcPr marL="91440" marR="91440" marT="45720" marB="45720" anchor="ctr">
                    <a:solidFill>
                      <a:srgbClr val="20567B"/>
                    </a:solidFill>
                  </a:tcPr>
                </a:tc>
              </a:tr>
              <a:tr h="457200">
                <a:tc>
                  <a:txBody>
                    <a:bodyPr/>
                    <a:lstStyle/>
                    <a:p>
                      <a:pPr algn="l"/>
                      <a:r>
                        <a:rPr sz="1500" b="0">
                          <a:solidFill>
                            <a:srgbClr val="163047"/>
                          </a:solidFill>
                          <a:latin typeface="Arial"/>
                          <a:ea typeface="Arial"/>
                          <a:cs typeface="Arial"/>
                        </a:rPr>
                        <a:t>Chia dữ liệu</a:t>
                      </a:r>
                    </a:p>
                  </a:txBody>
                  <a:tcPr marL="91440" marR="91440" marT="45720" marB="45720" anchor="ctr">
                    <a:solidFill>
                      <a:srgbClr val="EAF3F7"/>
                    </a:solidFill>
                  </a:tcPr>
                </a:tc>
                <a:tc>
                  <a:txBody>
                    <a:bodyPr/>
                    <a:lstStyle/>
                    <a:p>
                      <a:pPr algn="l"/>
                      <a:r>
                        <a:rPr sz="1500" b="0">
                          <a:solidFill>
                            <a:srgbClr val="163047"/>
                          </a:solidFill>
                          <a:latin typeface="Arial"/>
                          <a:ea typeface="Arial"/>
                          <a:cs typeface="Arial"/>
                        </a:rPr>
                        <a:t>Kiểm định chéo 5 fold theo cell × 5 lần lặp, phân tầng theo batch</a:t>
                      </a:r>
                    </a:p>
                  </a:txBody>
                  <a:tcPr marL="91440" marR="91440" marT="45720" marB="45720" anchor="ctr">
                    <a:solidFill>
                      <a:srgbClr val="EAF3F7"/>
                    </a:solidFill>
                  </a:tcPr>
                </a:tc>
              </a:tr>
              <a:tr h="457200">
                <a:tc>
                  <a:txBody>
                    <a:bodyPr/>
                    <a:lstStyle/>
                    <a:p>
                      <a:pPr algn="l"/>
                      <a:r>
                        <a:rPr sz="1500" b="0">
                          <a:solidFill>
                            <a:srgbClr val="163047"/>
                          </a:solidFill>
                          <a:latin typeface="Arial"/>
                          <a:ea typeface="Arial"/>
                          <a:cs typeface="Arial"/>
                        </a:rPr>
                        <a:t>Mỗi fold</a:t>
                      </a:r>
                    </a:p>
                  </a:txBody>
                  <a:tcPr marL="91440" marR="91440" marT="45720" marB="45720" anchor="ctr">
                    <a:solidFill>
                      <a:srgbClr val="FFFFFF"/>
                    </a:solidFill>
                  </a:tcPr>
                </a:tc>
                <a:tc>
                  <a:txBody>
                    <a:bodyPr/>
                    <a:lstStyle/>
                    <a:p>
                      <a:pPr algn="l"/>
                      <a:r>
                        <a:rPr sz="1500" b="0">
                          <a:solidFill>
                            <a:srgbClr val="163047"/>
                          </a:solidFill>
                          <a:latin typeface="Arial"/>
                          <a:ea typeface="Arial"/>
                          <a:cs typeface="Arial"/>
                        </a:rPr>
                        <a:t>70 % train · 10 % validation · 20 % test; mỗi cell test đúng 1 lần / lần lặp</a:t>
                      </a:r>
                    </a:p>
                  </a:txBody>
                  <a:tcPr marL="91440" marR="91440" marT="45720" marB="45720" anchor="ctr">
                    <a:solidFill>
                      <a:srgbClr val="FFFFFF"/>
                    </a:solidFill>
                  </a:tcPr>
                </a:tc>
              </a:tr>
              <a:tr h="457200">
                <a:tc>
                  <a:txBody>
                    <a:bodyPr/>
                    <a:lstStyle/>
                    <a:p>
                      <a:pPr algn="l"/>
                      <a:r>
                        <a:rPr sz="1500" b="0">
                          <a:solidFill>
                            <a:srgbClr val="163047"/>
                          </a:solidFill>
                          <a:latin typeface="Arial"/>
                          <a:ea typeface="Arial"/>
                          <a:cs typeface="Arial"/>
                        </a:rPr>
                        <a:t>Nhánh</a:t>
                      </a:r>
                    </a:p>
                  </a:txBody>
                  <a:tcPr marL="91440" marR="91440" marT="45720" marB="45720" anchor="ctr">
                    <a:solidFill>
                      <a:srgbClr val="EAF3F7"/>
                    </a:solidFill>
                  </a:tcPr>
                </a:tc>
                <a:tc>
                  <a:txBody>
                    <a:bodyPr/>
                    <a:lstStyle/>
                    <a:p>
                      <a:pPr algn="l"/>
                      <a:r>
                        <a:rPr sz="1500" b="0">
                          <a:solidFill>
                            <a:srgbClr val="163047"/>
                          </a:solidFill>
                          <a:latin typeface="Arial"/>
                          <a:ea typeface="Arial"/>
                          <a:cs typeface="Arial"/>
                        </a:rPr>
                        <a:t>11 nhánh, cùng mạng 128-128-64 và tối ưu; chỉ khác hàm mất mát</a:t>
                      </a:r>
                    </a:p>
                  </a:txBody>
                  <a:tcPr marL="91440" marR="91440" marT="45720" marB="45720" anchor="ctr">
                    <a:solidFill>
                      <a:srgbClr val="EAF3F7"/>
                    </a:solidFill>
                  </a:tcPr>
                </a:tc>
              </a:tr>
              <a:tr h="457200">
                <a:tc>
                  <a:txBody>
                    <a:bodyPr/>
                    <a:lstStyle/>
                    <a:p>
                      <a:pPr algn="l"/>
                      <a:r>
                        <a:rPr sz="1500" b="0">
                          <a:solidFill>
                            <a:srgbClr val="163047"/>
                          </a:solidFill>
                          <a:latin typeface="Arial"/>
                          <a:ea typeface="Arial"/>
                          <a:cs typeface="Arial"/>
                        </a:rPr>
                        <a:t>Chỉ số chính</a:t>
                      </a:r>
                    </a:p>
                  </a:txBody>
                  <a:tcPr marL="91440" marR="91440" marT="45720" marB="45720" anchor="ctr">
                    <a:solidFill>
                      <a:srgbClr val="FFFFFF"/>
                    </a:solidFill>
                  </a:tcPr>
                </a:tc>
                <a:tc>
                  <a:txBody>
                    <a:bodyPr/>
                    <a:lstStyle/>
                    <a:p>
                      <a:pPr algn="l"/>
                      <a:r>
                        <a:rPr sz="1500" b="0">
                          <a:solidFill>
                            <a:srgbClr val="163047"/>
                          </a:solidFill>
                          <a:latin typeface="Arial"/>
                          <a:ea typeface="Arial"/>
                          <a:cs typeface="Arial"/>
                        </a:rPr>
                        <a:t>MAE theo cell, trung bình qua các lần lặp</a:t>
                      </a:r>
                    </a:p>
                  </a:txBody>
                  <a:tcPr marL="91440" marR="91440" marT="45720" marB="45720" anchor="ctr">
                    <a:solidFill>
                      <a:srgbClr val="FFFFFF"/>
                    </a:solidFill>
                  </a:tcPr>
                </a:tc>
              </a:tr>
              <a:tr h="457200">
                <a:tc>
                  <a:txBody>
                    <a:bodyPr/>
                    <a:lstStyle/>
                    <a:p>
                      <a:pPr algn="l"/>
                      <a:r>
                        <a:rPr sz="1500" b="0">
                          <a:solidFill>
                            <a:srgbClr val="163047"/>
                          </a:solidFill>
                          <a:latin typeface="Arial"/>
                          <a:ea typeface="Arial"/>
                          <a:cs typeface="Arial"/>
                        </a:rPr>
                        <a:t>H1</a:t>
                      </a:r>
                    </a:p>
                  </a:txBody>
                  <a:tcPr marL="91440" marR="91440" marT="45720" marB="45720" anchor="ctr">
                    <a:solidFill>
                      <a:srgbClr val="EAF3F7"/>
                    </a:solidFill>
                  </a:tcPr>
                </a:tc>
                <a:tc>
                  <a:txBody>
                    <a:bodyPr/>
                    <a:lstStyle/>
                    <a:p>
                      <a:pPr algn="l"/>
                      <a:r>
                        <a:rPr sz="1500" b="0">
                          <a:solidFill>
                            <a:srgbClr val="163047"/>
                          </a:solidFill>
                          <a:latin typeface="Arial"/>
                          <a:ea typeface="Arial"/>
                          <a:cs typeface="Arial"/>
                        </a:rPr>
                        <a:t>PINN-semi vs MLP, 30 %: Wilcoxon theo cell, Holm cho 4 bộ</a:t>
                      </a:r>
                    </a:p>
                  </a:txBody>
                  <a:tcPr marL="91440" marR="91440" marT="45720" marB="45720" anchor="ctr">
                    <a:solidFill>
                      <a:srgbClr val="EAF3F7"/>
                    </a:solidFill>
                  </a:tcPr>
                </a:tc>
              </a:tr>
              <a:tr h="457200">
                <a:tc>
                  <a:txBody>
                    <a:bodyPr/>
                    <a:lstStyle/>
                    <a:p>
                      <a:pPr algn="l"/>
                      <a:r>
                        <a:rPr sz="1500" b="0">
                          <a:solidFill>
                            <a:srgbClr val="163047"/>
                          </a:solidFill>
                          <a:latin typeface="Arial"/>
                          <a:ea typeface="Arial"/>
                          <a:cs typeface="Arial"/>
                        </a:rPr>
                        <a:t>H2</a:t>
                      </a:r>
                    </a:p>
                  </a:txBody>
                  <a:tcPr marL="91440" marR="91440" marT="45720" marB="45720" anchor="ctr">
                    <a:solidFill>
                      <a:srgbClr val="FFFFFF"/>
                    </a:solidFill>
                  </a:tcPr>
                </a:tc>
                <a:tc>
                  <a:txBody>
                    <a:bodyPr/>
                    <a:lstStyle/>
                    <a:p>
                      <a:pPr algn="l"/>
                      <a:r>
                        <a:rPr sz="1500" b="0">
                          <a:solidFill>
                            <a:srgbClr val="163047"/>
                          </a:solidFill>
                          <a:latin typeface="Arial"/>
                          <a:ea typeface="Arial"/>
                          <a:cs typeface="Arial"/>
                        </a:rPr>
                        <a:t>PINN-semi 30 % vs MLP 70 %: không kém hơn, biên δ = 10 %</a:t>
                      </a:r>
                    </a:p>
                  </a:txBody>
                  <a:tcPr marL="91440" marR="91440" marT="45720" marB="45720" anchor="ctr">
                    <a:solidFill>
                      <a:srgbClr val="FFFFFF"/>
                    </a:solidFill>
                  </a:tcPr>
                </a:tc>
              </a:tr>
              <a:tr h="457200">
                <a:tc>
                  <a:txBody>
                    <a:bodyPr/>
                    <a:lstStyle/>
                    <a:p>
                      <a:pPr algn="l"/>
                      <a:r>
                        <a:rPr sz="1500" b="0">
                          <a:solidFill>
                            <a:srgbClr val="163047"/>
                          </a:solidFill>
                          <a:latin typeface="Arial"/>
                          <a:ea typeface="Arial"/>
                          <a:cs typeface="Arial"/>
                        </a:rPr>
                        <a:t>Độ nhạy</a:t>
                      </a:r>
                    </a:p>
                  </a:txBody>
                  <a:tcPr marL="91440" marR="91440" marT="45720" marB="45720" anchor="ctr">
                    <a:solidFill>
                      <a:srgbClr val="EAF3F7"/>
                    </a:solidFill>
                  </a:tcPr>
                </a:tc>
                <a:tc>
                  <a:txBody>
                    <a:bodyPr/>
                    <a:lstStyle/>
                    <a:p>
                      <a:pPr algn="l"/>
                      <a:r>
                        <a:rPr sz="1500" b="0">
                          <a:solidFill>
                            <a:srgbClr val="163047"/>
                          </a:solidFill>
                          <a:latin typeface="Arial"/>
                          <a:ea typeface="Arial"/>
                          <a:cs typeface="Arial"/>
                        </a:rPr>
                        <a:t>Phép t hiệu chỉnh Nadeau–Bengio ở mức fold</a:t>
                      </a:r>
                    </a:p>
                  </a:txBody>
                  <a:tcPr marL="91440" marR="91440" marT="45720" marB="45720" anchor="ctr">
                    <a:solidFill>
                      <a:srgbClr val="EAF3F7"/>
                    </a:solidFill>
                  </a:tcPr>
                </a:tc>
              </a:tr>
            </a:tbl>
          </a:graphicData>
        </a:graphic>
      </p:graphicFrame>
      <p:sp>
        <p:nvSpPr>
          <p:cNvPr id="7" name="">
            <a:extLst>
              <a:ext uri="{FF2B5EF4-FFF2-40B4-BE49-F238E27FC236}">
                <a16:creationId xmlns:a16="http://schemas.microsoft.com/office/drawing/2014/main" id="{FE87EB31-9DAF-4A34-A06D-4F9989BF6B1E}"/>
              </a:ext>
            </a:extLst>
          </p:cNvPr>
          <p:cNvSpPr>
            <a:spLocks noGrp="1"/>
          </p:cNvSpPr>
          <p:nvPr/>
        </p:nvSpPr>
        <p:spPr>
          <a:xfrm>
            <a:off x="619125" y="6105525"/>
            <a:ext cx="10715625" cy="304800"/>
          </a:xfrm>
          <a:prstGeom prst="rect">
            <a:avLst/>
          </a:prstGeom>
          <a:noFill/>
          <a:ln w="0">
            <a:noFill/>
          </a:ln>
        </p:spPr>
        <p:txBody>
          <a:bodyPr lIns="0" tIns="0" rIns="0" bIns="0" anchor="ctr">
            <a:noAutofit/>
          </a:bodyPr>
          <a:lstStyle/>
          <a:p>
            <a:pPr algn="l">
              <a:defRPr sz="1275" b="0">
                <a:solidFill>
                  <a:srgbClr val="526778"/>
                </a:solidFill>
                <a:latin typeface="Arial"/>
                <a:ea typeface="Arial"/>
                <a:cs typeface="Arial"/>
              </a:defRPr>
            </a:pPr>
            <a:r>
              <a:rPr sz="1275" b="0">
                <a:solidFill>
                  <a:srgbClr val="526778"/>
                </a:solidFill>
                <a:latin typeface="Arial"/>
                <a:ea typeface="Arial"/>
                <a:cs typeface="Arial"/>
              </a:rPr>
              <a:t>Đề cương tai-lieu/de-cuong-E13.md, commit 543dbd0 trước lượt huấn luyện đầu tiên. Validation cần nhãn ngoài ngân sách 30 %.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8" name="">
            <a:extLst>
              <a:ext uri="{FF2B5EF4-FFF2-40B4-BE49-F238E27FC236}">
                <a16:creationId xmlns:a16="http://schemas.microsoft.com/office/drawing/2014/main" id="{A2DD91DF-1BC8-4F4E-9AB0-2B55DB203359}"/>
              </a:ext>
            </a:extLst>
          </p:cNvPr>
          <p:cNvSpPr>
            <a:spLocks noGrp="1"/>
          </p:cNvSpPr>
          <p:nvPr/>
        </p:nvSpPr>
        <p:spPr>
          <a:xfrm>
            <a:off x="0" y="0"/>
            <a:ext cx="12192000" cy="952500"/>
          </a:xfrm>
          <a:prstGeom prst="rect">
            <a:avLst/>
          </a:prstGeom>
          <a:solidFill>
            <a:srgbClr val="20567B"/>
          </a:solidFill>
          <a:ln w="9525">
            <a:solidFill>
              <a:srgbClr val="20567B"/>
            </a:solidFill>
          </a:ln>
        </p:spPr>
        <p:txBody>
          <a:bodyPr/>
          <a:p/>
        </p:txBody>
      </p:sp>
      <p:sp>
        <p:nvSpPr>
          <p:cNvPr id="2" name="">
            <a:extLst>
              <a:ext uri="{FF2B5EF4-FFF2-40B4-BE49-F238E27FC236}">
                <a16:creationId xmlns:a16="http://schemas.microsoft.com/office/drawing/2014/main" id="{C93E37DA-E3BE-4B30-851A-78B8357C043D}"/>
              </a:ext>
            </a:extLst>
          </p:cNvPr>
          <p:cNvSpPr>
            <a:spLocks noGrp="1"/>
          </p:cNvSpPr>
          <p:nvPr/>
        </p:nvSpPr>
        <p:spPr>
          <a:xfrm>
            <a:off x="542925" y="66675"/>
            <a:ext cx="11239500" cy="800100"/>
          </a:xfrm>
          <a:prstGeom prst="rect">
            <a:avLst/>
          </a:prstGeom>
          <a:noFill/>
          <a:ln w="0">
            <a:noFill/>
          </a:ln>
        </p:spPr>
        <p:txBody>
          <a:bodyPr lIns="0" tIns="0" rIns="0" bIns="0" anchor="ctr">
            <a:no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H1: PINN-semi so với MLP, cùng 30% nhãn</a:t>
            </a:r>
          </a:p>
        </p:txBody>
      </p:sp>
      <p:sp>
        <p:nvSpPr>
          <p:cNvPr id="3" name="">
            <a:extLst>
              <a:ext uri="{FF2B5EF4-FFF2-40B4-BE49-F238E27FC236}">
                <a16:creationId xmlns:a16="http://schemas.microsoft.com/office/drawing/2014/main" id="{8C9AE867-B456-4135-B8DB-629FD7A4BC8E}"/>
              </a:ext>
            </a:extLst>
          </p:cNvPr>
          <p:cNvSpPr>
            <a:spLocks noGrp="1"/>
          </p:cNvSpPr>
          <p:nvPr/>
        </p:nvSpPr>
        <p:spPr>
          <a:xfrm>
            <a:off x="11144250" y="6400800"/>
            <a:ext cx="333375" cy="257175"/>
          </a:xfrm>
          <a:prstGeom prst="rect">
            <a:avLst/>
          </a:prstGeom>
          <a:noFill/>
          <a:ln w="0">
            <a:noFill/>
          </a:ln>
        </p:spPr>
        <p:txBody>
          <a:bodyPr lIns="0" tIns="0" rIns="0" bIns="0" anchor="ctr">
            <a:noAutofit/>
          </a:bodyPr>
          <a:lstStyle/>
          <a:p>
            <a:pPr algn="l">
              <a:defRPr sz="1200" b="1">
                <a:solidFill>
                  <a:srgbClr val="20567B"/>
                </a:solidFill>
                <a:latin typeface="Arial"/>
                <a:ea typeface="Arial"/>
                <a:cs typeface="Arial"/>
              </a:defRPr>
            </a:pPr>
            <a:r>
              <a:rPr sz="1200" b="1">
                <a:solidFill>
                  <a:srgbClr val="20567B"/>
                </a:solidFill>
                <a:latin typeface="Arial"/>
                <a:ea typeface="Arial"/>
                <a:cs typeface="Arial"/>
              </a:rPr>
              <a:t>20</a:t>
            </a:r>
          </a:p>
        </p:txBody>
      </p:sp>
      <p:pic>
        <p:nvPicPr>
          <p:cNvPr id="11" name=""/>
          <p:cNvPicPr>
            <a:picLocks noChangeAspect="1"/>
          </p:cNvPicPr>
          <p:nvPr/>
        </p:nvPicPr>
        <p:blipFill>
          <a:blip r:embed="rId2"/>
          <a:stretch/>
        </p:blipFill>
        <p:spPr>
          <a:xfrm>
            <a:off x="11696700" y="6384974"/>
            <a:ext cx="285750" cy="260252"/>
          </a:xfrm>
          <a:prstGeom prst="rect">
            <a:avLst/>
          </a:prstGeom>
        </p:spPr>
      </p:pic>
      <p:graphicFrame>
        <p:nvGraphicFramePr>
          <p:cNvPr id="12" name=""/>
          <p:cNvGraphicFramePr/>
          <p:nvPr/>
        </p:nvGraphicFramePr>
        <p:xfrm>
          <a:off x="533400" y="1457325"/>
          <a:ext cx="11128248" cy="2286000"/>
        </p:xfrm>
        <a:graphic>
          <a:graphicData uri="http://schemas.openxmlformats.org/drawingml/2006/table">
            <a:tbl>
              <a:tblPr/>
              <a:tblGrid>
                <a:gridCol w="1828800"/>
                <a:gridCol w="731520"/>
                <a:gridCol w="1234440"/>
                <a:gridCol w="1234440"/>
                <a:gridCol w="2286000"/>
                <a:gridCol w="1417320"/>
                <a:gridCol w="1188720"/>
                <a:gridCol w="1207008"/>
              </a:tblGrid>
              <a:tr h="457200">
                <a:tc>
                  <a:txBody>
                    <a:bodyPr/>
                    <a:lstStyle/>
                    <a:p>
                      <a:pPr algn="l"/>
                      <a:r>
                        <a:rPr sz="1400" b="1">
                          <a:solidFill>
                            <a:srgbClr val="FFFFFF"/>
                          </a:solidFill>
                          <a:latin typeface="Arial"/>
                          <a:ea typeface="Arial"/>
                          <a:cs typeface="Arial"/>
                        </a:rPr>
                        <a:t>Bộ</a:t>
                      </a:r>
                    </a:p>
                  </a:txBody>
                  <a:tcPr marL="91440" marR="91440" marT="45720" marB="45720" anchor="ctr">
                    <a:solidFill>
                      <a:srgbClr val="20567B"/>
                    </a:solidFill>
                  </a:tcPr>
                </a:tc>
                <a:tc>
                  <a:txBody>
                    <a:bodyPr/>
                    <a:lstStyle/>
                    <a:p>
                      <a:pPr algn="l"/>
                      <a:r>
                        <a:rPr sz="1400" b="1">
                          <a:solidFill>
                            <a:srgbClr val="FFFFFF"/>
                          </a:solidFill>
                          <a:latin typeface="Arial"/>
                          <a:ea typeface="Arial"/>
                          <a:cs typeface="Arial"/>
                        </a:rPr>
                        <a:t>Cell</a:t>
                      </a:r>
                    </a:p>
                  </a:txBody>
                  <a:tcPr marL="91440" marR="91440" marT="45720" marB="45720" anchor="ctr">
                    <a:solidFill>
                      <a:srgbClr val="20567B"/>
                    </a:solidFill>
                  </a:tcPr>
                </a:tc>
                <a:tc>
                  <a:txBody>
                    <a:bodyPr/>
                    <a:lstStyle/>
                    <a:p>
                      <a:pPr algn="l"/>
                      <a:r>
                        <a:rPr sz="1400" b="1">
                          <a:solidFill>
                            <a:srgbClr val="FFFFFF"/>
                          </a:solidFill>
                          <a:latin typeface="Arial"/>
                          <a:ea typeface="Arial"/>
                          <a:cs typeface="Arial"/>
                        </a:rPr>
                        <a:t>MLP ×10⁻³</a:t>
                      </a:r>
                    </a:p>
                  </a:txBody>
                  <a:tcPr marL="91440" marR="91440" marT="45720" marB="45720" anchor="ctr">
                    <a:solidFill>
                      <a:srgbClr val="20567B"/>
                    </a:solidFill>
                  </a:tcPr>
                </a:tc>
                <a:tc>
                  <a:txBody>
                    <a:bodyPr/>
                    <a:lstStyle/>
                    <a:p>
                      <a:pPr algn="l"/>
                      <a:r>
                        <a:rPr sz="1400" b="1">
                          <a:solidFill>
                            <a:srgbClr val="FFFFFF"/>
                          </a:solidFill>
                          <a:latin typeface="Arial"/>
                          <a:ea typeface="Arial"/>
                          <a:cs typeface="Arial"/>
                        </a:rPr>
                        <a:t>PINN ×10⁻³</a:t>
                      </a:r>
                    </a:p>
                  </a:txBody>
                  <a:tcPr marL="91440" marR="91440" marT="45720" marB="45720" anchor="ctr">
                    <a:solidFill>
                      <a:srgbClr val="20567B"/>
                    </a:solidFill>
                  </a:tcPr>
                </a:tc>
                <a:tc>
                  <a:txBody>
                    <a:bodyPr/>
                    <a:lstStyle/>
                    <a:p>
                      <a:pPr algn="l"/>
                      <a:r>
                        <a:rPr sz="1400" b="1">
                          <a:solidFill>
                            <a:srgbClr val="FFFFFF"/>
                          </a:solidFill>
                          <a:latin typeface="Arial"/>
                          <a:ea typeface="Arial"/>
                          <a:cs typeface="Arial"/>
                        </a:rPr>
                        <a:t>Tỉ số [KTC 95 %]</a:t>
                      </a:r>
                    </a:p>
                  </a:txBody>
                  <a:tcPr marL="91440" marR="91440" marT="45720" marB="45720" anchor="ctr">
                    <a:solidFill>
                      <a:srgbClr val="20567B"/>
                    </a:solidFill>
                  </a:tcPr>
                </a:tc>
                <a:tc>
                  <a:txBody>
                    <a:bodyPr/>
                    <a:lstStyle/>
                    <a:p>
                      <a:pPr algn="l"/>
                      <a:r>
                        <a:rPr sz="1400" b="1">
                          <a:solidFill>
                            <a:srgbClr val="FFFFFF"/>
                          </a:solidFill>
                          <a:latin typeface="Arial"/>
                          <a:ea typeface="Arial"/>
                          <a:cs typeface="Arial"/>
                        </a:rPr>
                        <a:t>Cell PINN tốt hơn</a:t>
                      </a:r>
                    </a:p>
                  </a:txBody>
                  <a:tcPr marL="91440" marR="91440" marT="45720" marB="45720" anchor="ctr">
                    <a:solidFill>
                      <a:srgbClr val="20567B"/>
                    </a:solidFill>
                  </a:tcPr>
                </a:tc>
                <a:tc>
                  <a:txBody>
                    <a:bodyPr/>
                    <a:lstStyle/>
                    <a:p>
                      <a:pPr algn="l"/>
                      <a:r>
                        <a:rPr sz="1400" b="1">
                          <a:solidFill>
                            <a:srgbClr val="FFFFFF"/>
                          </a:solidFill>
                          <a:latin typeface="Arial"/>
                          <a:ea typeface="Arial"/>
                          <a:cs typeface="Arial"/>
                        </a:rPr>
                        <a:t>p Holm (cell)</a:t>
                      </a:r>
                    </a:p>
                  </a:txBody>
                  <a:tcPr marL="91440" marR="91440" marT="45720" marB="45720" anchor="ctr">
                    <a:solidFill>
                      <a:srgbClr val="20567B"/>
                    </a:solidFill>
                  </a:tcPr>
                </a:tc>
                <a:tc>
                  <a:txBody>
                    <a:bodyPr/>
                    <a:lstStyle/>
                    <a:p>
                      <a:pPr algn="l"/>
                      <a:r>
                        <a:rPr sz="1400" b="1">
                          <a:solidFill>
                            <a:srgbClr val="FFFFFF"/>
                          </a:solidFill>
                          <a:latin typeface="Arial"/>
                          <a:ea typeface="Arial"/>
                          <a:cs typeface="Arial"/>
                        </a:rPr>
                        <a:t>p Holm (fold)</a:t>
                      </a:r>
                    </a:p>
                  </a:txBody>
                  <a:tcPr marL="91440" marR="91440" marT="45720" marB="45720" anchor="ctr">
                    <a:solidFill>
                      <a:srgbClr val="20567B"/>
                    </a:solidFill>
                  </a:tcPr>
                </a:tc>
              </a:tr>
              <a:tr h="457200">
                <a:tc>
                  <a:txBody>
                    <a:bodyPr/>
                    <a:lstStyle/>
                    <a:p>
                      <a:pPr algn="l"/>
                      <a:r>
                        <a:rPr sz="1400" b="0">
                          <a:solidFill>
                            <a:srgbClr val="163047"/>
                          </a:solidFill>
                          <a:latin typeface="Arial"/>
                          <a:ea typeface="Arial"/>
                          <a:cs typeface="Arial"/>
                        </a:rPr>
                        <a:t>XJTU (NCM)</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55</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15,95</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13,44</a:t>
                      </a:r>
                    </a:p>
                  </a:txBody>
                  <a:tcPr marL="91440" marR="91440" marT="45720" marB="45720" anchor="ctr">
                    <a:solidFill>
                      <a:srgbClr val="EAF3F7"/>
                    </a:solidFill>
                  </a:tcPr>
                </a:tc>
                <a:tc>
                  <a:txBody>
                    <a:bodyPr/>
                    <a:lstStyle/>
                    <a:p>
                      <a:pPr algn="l"/>
                      <a:r>
                        <a:rPr sz="1400" b="0">
                          <a:solidFill>
                            <a:srgbClr val="0D6E56"/>
                          </a:solidFill>
                          <a:latin typeface="Arial"/>
                          <a:ea typeface="Arial"/>
                          <a:cs typeface="Arial"/>
                        </a:rPr>
                        <a:t>0,843 [0,764; 0,930]</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65 %</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0,0047</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0,5070</a:t>
                      </a:r>
                    </a:p>
                  </a:txBody>
                  <a:tcPr marL="91440" marR="91440" marT="45720" marB="45720" anchor="ctr">
                    <a:solidFill>
                      <a:srgbClr val="EAF3F7"/>
                    </a:solidFill>
                  </a:tcPr>
                </a:tc>
              </a:tr>
              <a:tr h="457200">
                <a:tc>
                  <a:txBody>
                    <a:bodyPr/>
                    <a:lstStyle/>
                    <a:p>
                      <a:pPr algn="l"/>
                      <a:r>
                        <a:rPr sz="1400" b="0">
                          <a:solidFill>
                            <a:srgbClr val="163047"/>
                          </a:solidFill>
                          <a:latin typeface="Arial"/>
                          <a:ea typeface="Arial"/>
                          <a:cs typeface="Arial"/>
                        </a:rPr>
                        <a:t>TJU (NCA/NCM)</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130</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11,33</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10,85</a:t>
                      </a:r>
                    </a:p>
                  </a:txBody>
                  <a:tcPr marL="91440" marR="91440" marT="45720" marB="45720" anchor="ctr">
                    <a:solidFill>
                      <a:srgbClr val="FFFFFF"/>
                    </a:solidFill>
                  </a:tcPr>
                </a:tc>
                <a:tc>
                  <a:txBody>
                    <a:bodyPr/>
                    <a:lstStyle/>
                    <a:p>
                      <a:pPr algn="l"/>
                      <a:r>
                        <a:rPr sz="1400" b="0">
                          <a:solidFill>
                            <a:srgbClr val="0D6E56"/>
                          </a:solidFill>
                          <a:latin typeface="Arial"/>
                          <a:ea typeface="Arial"/>
                          <a:cs typeface="Arial"/>
                        </a:rPr>
                        <a:t>0,958 [0,929; 0,986]</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68 %</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0,0041</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0,5801</a:t>
                      </a:r>
                    </a:p>
                  </a:txBody>
                  <a:tcPr marL="91440" marR="91440" marT="45720" marB="45720" anchor="ctr">
                    <a:solidFill>
                      <a:srgbClr val="FFFFFF"/>
                    </a:solidFill>
                  </a:tcPr>
                </a:tc>
              </a:tr>
              <a:tr h="457200">
                <a:tc>
                  <a:txBody>
                    <a:bodyPr/>
                    <a:lstStyle/>
                    <a:p>
                      <a:pPr algn="l"/>
                      <a:r>
                        <a:rPr sz="1400" b="0">
                          <a:solidFill>
                            <a:srgbClr val="163047"/>
                          </a:solidFill>
                          <a:latin typeface="Arial"/>
                          <a:ea typeface="Arial"/>
                          <a:cs typeface="Arial"/>
                        </a:rPr>
                        <a:t>MIT (LFP)</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125</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3,40</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2,58</a:t>
                      </a:r>
                    </a:p>
                  </a:txBody>
                  <a:tcPr marL="91440" marR="91440" marT="45720" marB="45720" anchor="ctr">
                    <a:solidFill>
                      <a:srgbClr val="EAF3F7"/>
                    </a:solidFill>
                  </a:tcPr>
                </a:tc>
                <a:tc>
                  <a:txBody>
                    <a:bodyPr/>
                    <a:lstStyle/>
                    <a:p>
                      <a:pPr algn="l"/>
                      <a:r>
                        <a:rPr sz="1400" b="0">
                          <a:solidFill>
                            <a:srgbClr val="0D6E56"/>
                          </a:solidFill>
                          <a:latin typeface="Arial"/>
                          <a:ea typeface="Arial"/>
                          <a:cs typeface="Arial"/>
                        </a:rPr>
                        <a:t>0,758 [0,692; 0,829]</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82 %</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&lt; 0,0001</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0,0110</a:t>
                      </a:r>
                    </a:p>
                  </a:txBody>
                  <a:tcPr marL="91440" marR="91440" marT="45720" marB="45720" anchor="ctr">
                    <a:solidFill>
                      <a:srgbClr val="EAF3F7"/>
                    </a:solidFill>
                  </a:tcPr>
                </a:tc>
              </a:tr>
              <a:tr h="457200">
                <a:tc>
                  <a:txBody>
                    <a:bodyPr/>
                    <a:lstStyle/>
                    <a:p>
                      <a:pPr algn="l"/>
                      <a:r>
                        <a:rPr sz="1400" b="0">
                          <a:solidFill>
                            <a:srgbClr val="163047"/>
                          </a:solidFill>
                          <a:latin typeface="Arial"/>
                          <a:ea typeface="Arial"/>
                          <a:cs typeface="Arial"/>
                        </a:rPr>
                        <a:t>HUST (LFP)</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77</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19,80</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17,30</a:t>
                      </a:r>
                    </a:p>
                  </a:txBody>
                  <a:tcPr marL="91440" marR="91440" marT="45720" marB="45720" anchor="ctr">
                    <a:solidFill>
                      <a:srgbClr val="FFFFFF"/>
                    </a:solidFill>
                  </a:tcPr>
                </a:tc>
                <a:tc>
                  <a:txBody>
                    <a:bodyPr/>
                    <a:lstStyle/>
                    <a:p>
                      <a:pPr algn="l"/>
                      <a:r>
                        <a:rPr sz="1400" b="0">
                          <a:solidFill>
                            <a:srgbClr val="0D6E56"/>
                          </a:solidFill>
                          <a:latin typeface="Arial"/>
                          <a:ea typeface="Arial"/>
                          <a:cs typeface="Arial"/>
                        </a:rPr>
                        <a:t>0,874 [0,825; 0,920]</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71 %</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&lt; 0,0001</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0,1799</a:t>
                      </a:r>
                    </a:p>
                  </a:txBody>
                  <a:tcPr marL="91440" marR="91440" marT="45720" marB="45720" anchor="ctr">
                    <a:solidFill>
                      <a:srgbClr val="FFFFFF"/>
                    </a:solidFill>
                  </a:tcPr>
                </a:tc>
              </a:tr>
            </a:tbl>
          </a:graphicData>
        </a:graphic>
      </p:graphicFrame>
      <p:sp>
        <p:nvSpPr>
          <p:cNvPr id="6" name="">
            <a:extLst>
              <a:ext uri="{FF2B5EF4-FFF2-40B4-BE49-F238E27FC236}">
                <a16:creationId xmlns:a16="http://schemas.microsoft.com/office/drawing/2014/main" id="{BE061075-2C77-4E3D-A428-C263D575BBC5}"/>
              </a:ext>
            </a:extLst>
          </p:cNvPr>
          <p:cNvSpPr>
            <a:spLocks noGrp="1"/>
          </p:cNvSpPr>
          <p:nvPr/>
        </p:nvSpPr>
        <p:spPr>
          <a:xfrm>
            <a:off x="619125" y="3971925"/>
            <a:ext cx="10763250" cy="523875"/>
          </a:xfrm>
          <a:prstGeom prst="rect">
            <a:avLst/>
          </a:prstGeom>
          <a:noFill/>
          <a:ln w="0">
            <a:noFill/>
          </a:ln>
        </p:spPr>
        <p:txBody>
          <a:bodyPr lIns="0" tIns="0" rIns="0" bIns="0" anchor="ctr">
            <a:noAutofit/>
          </a:bodyPr>
          <a:lstStyle/>
          <a:p>
            <a:pPr algn="l">
              <a:defRPr sz="1950" b="1">
                <a:solidFill>
                  <a:srgbClr val="20567B"/>
                </a:solidFill>
                <a:latin typeface="Arial"/>
                <a:ea typeface="Arial"/>
                <a:cs typeface="Arial"/>
              </a:defRPr>
            </a:pPr>
            <a:r>
              <a:rPr sz="1950" b="1">
                <a:solidFill>
                  <a:srgbClr val="20567B"/>
                </a:solidFill>
                <a:latin typeface="Arial"/>
                <a:ea typeface="Arial"/>
                <a:cs typeface="Arial"/>
              </a:rPr>
              <a:t>H1 (cùng 30 % nhãn): PINN-semi có MAE theo cell thấp hơn MLP, có ý nghĩa sau hiệu chỉnh Holm, trên 4/4 bộ (XJTU, TJU, MIT, HUST).</a:t>
            </a:r>
          </a:p>
        </p:txBody>
      </p:sp>
      <p:sp>
        <p:nvSpPr>
          <p:cNvPr id="7" name="">
            <a:extLst>
              <a:ext uri="{FF2B5EF4-FFF2-40B4-BE49-F238E27FC236}">
                <a16:creationId xmlns:a16="http://schemas.microsoft.com/office/drawing/2014/main" id="{FE87EB31-9DAF-4A34-A06D-4F9989BF6B1E}"/>
              </a:ext>
            </a:extLst>
          </p:cNvPr>
          <p:cNvSpPr>
            <a:spLocks noGrp="1"/>
          </p:cNvSpPr>
          <p:nvPr/>
        </p:nvSpPr>
        <p:spPr>
          <a:xfrm>
            <a:off x="619125" y="6105525"/>
            <a:ext cx="10715625" cy="304800"/>
          </a:xfrm>
          <a:prstGeom prst="rect">
            <a:avLst/>
          </a:prstGeom>
          <a:noFill/>
          <a:ln w="0">
            <a:noFill/>
          </a:ln>
        </p:spPr>
        <p:txBody>
          <a:bodyPr lIns="0" tIns="0" rIns="0" bIns="0" anchor="ctr">
            <a:noAutofit/>
          </a:bodyPr>
          <a:lstStyle/>
          <a:p>
            <a:pPr algn="l">
              <a:defRPr sz="1275" b="0">
                <a:solidFill>
                  <a:srgbClr val="526778"/>
                </a:solidFill>
                <a:latin typeface="Arial"/>
                <a:ea typeface="Arial"/>
                <a:cs typeface="Arial"/>
              </a:defRPr>
            </a:pPr>
            <a:r>
              <a:rPr sz="1275" b="0">
                <a:solidFill>
                  <a:srgbClr val="526778"/>
                </a:solidFill>
                <a:latin typeface="Arial"/>
                <a:ea typeface="Arial"/>
                <a:cs typeface="Arial"/>
              </a:rPr>
              <a:t>MAE theo cell, trung bình 5 lần lặp. p (cell): Wilcoxon theo cell. p (fold): t hiệu chỉnh Nadeau–Bengio. Holm cho 4 bộ.</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8" name="">
            <a:extLst>
              <a:ext uri="{FF2B5EF4-FFF2-40B4-BE49-F238E27FC236}">
                <a16:creationId xmlns:a16="http://schemas.microsoft.com/office/drawing/2014/main" id="{A2DD91DF-1BC8-4F4E-9AB0-2B55DB203359}"/>
              </a:ext>
            </a:extLst>
          </p:cNvPr>
          <p:cNvSpPr>
            <a:spLocks noGrp="1"/>
          </p:cNvSpPr>
          <p:nvPr/>
        </p:nvSpPr>
        <p:spPr>
          <a:xfrm>
            <a:off x="0" y="0"/>
            <a:ext cx="12192000" cy="952500"/>
          </a:xfrm>
          <a:prstGeom prst="rect">
            <a:avLst/>
          </a:prstGeom>
          <a:solidFill>
            <a:srgbClr val="20567B"/>
          </a:solidFill>
          <a:ln w="9525">
            <a:solidFill>
              <a:srgbClr val="20567B"/>
            </a:solidFill>
          </a:ln>
        </p:spPr>
        <p:txBody>
          <a:bodyPr/>
          <a:p/>
        </p:txBody>
      </p:sp>
      <p:sp>
        <p:nvSpPr>
          <p:cNvPr id="2" name="">
            <a:extLst>
              <a:ext uri="{FF2B5EF4-FFF2-40B4-BE49-F238E27FC236}">
                <a16:creationId xmlns:a16="http://schemas.microsoft.com/office/drawing/2014/main" id="{C93E37DA-E3BE-4B30-851A-78B8357C043D}"/>
              </a:ext>
            </a:extLst>
          </p:cNvPr>
          <p:cNvSpPr>
            <a:spLocks noGrp="1"/>
          </p:cNvSpPr>
          <p:nvPr/>
        </p:nvSpPr>
        <p:spPr>
          <a:xfrm>
            <a:off x="542925" y="66675"/>
            <a:ext cx="11239500" cy="800100"/>
          </a:xfrm>
          <a:prstGeom prst="rect">
            <a:avLst/>
          </a:prstGeom>
          <a:noFill/>
          <a:ln w="0">
            <a:noFill/>
          </a:ln>
        </p:spPr>
        <p:txBody>
          <a:bodyPr lIns="0" tIns="0" rIns="0" bIns="0" anchor="ctr">
            <a:no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Tỉ số MAE theo cell cho mọi so sánh</a:t>
            </a:r>
          </a:p>
        </p:txBody>
      </p:sp>
      <p:sp>
        <p:nvSpPr>
          <p:cNvPr id="3" name="">
            <a:extLst>
              <a:ext uri="{FF2B5EF4-FFF2-40B4-BE49-F238E27FC236}">
                <a16:creationId xmlns:a16="http://schemas.microsoft.com/office/drawing/2014/main" id="{8C9AE867-B456-4135-B8DB-629FD7A4BC8E}"/>
              </a:ext>
            </a:extLst>
          </p:cNvPr>
          <p:cNvSpPr>
            <a:spLocks noGrp="1"/>
          </p:cNvSpPr>
          <p:nvPr/>
        </p:nvSpPr>
        <p:spPr>
          <a:xfrm>
            <a:off x="11144250" y="6400800"/>
            <a:ext cx="333375" cy="257175"/>
          </a:xfrm>
          <a:prstGeom prst="rect">
            <a:avLst/>
          </a:prstGeom>
          <a:noFill/>
          <a:ln w="0">
            <a:noFill/>
          </a:ln>
        </p:spPr>
        <p:txBody>
          <a:bodyPr lIns="0" tIns="0" rIns="0" bIns="0" anchor="ctr">
            <a:noAutofit/>
          </a:bodyPr>
          <a:lstStyle/>
          <a:p>
            <a:pPr algn="l">
              <a:defRPr sz="1200" b="1">
                <a:solidFill>
                  <a:srgbClr val="20567B"/>
                </a:solidFill>
                <a:latin typeface="Arial"/>
                <a:ea typeface="Arial"/>
                <a:cs typeface="Arial"/>
              </a:defRPr>
            </a:pPr>
            <a:r>
              <a:rPr sz="1200" b="1">
                <a:solidFill>
                  <a:srgbClr val="20567B"/>
                </a:solidFill>
                <a:latin typeface="Arial"/>
                <a:ea typeface="Arial"/>
                <a:cs typeface="Arial"/>
              </a:rPr>
              <a:t>21</a:t>
            </a:r>
          </a:p>
        </p:txBody>
      </p:sp>
      <p:pic>
        <p:nvPicPr>
          <p:cNvPr id="11" name=""/>
          <p:cNvPicPr>
            <a:picLocks noChangeAspect="1"/>
          </p:cNvPicPr>
          <p:nvPr/>
        </p:nvPicPr>
        <p:blipFill>
          <a:blip r:embed="rId2"/>
          <a:stretch/>
        </p:blipFill>
        <p:spPr>
          <a:xfrm>
            <a:off x="11696700" y="6384974"/>
            <a:ext cx="285750" cy="260252"/>
          </a:xfrm>
          <a:prstGeom prst="rect">
            <a:avLst/>
          </a:prstGeom>
        </p:spPr>
      </p:pic>
      <p:sp>
        <p:nvSpPr>
          <p:cNvPr id="7" name="">
            <a:extLst>
              <a:ext uri="{FF2B5EF4-FFF2-40B4-BE49-F238E27FC236}">
                <a16:creationId xmlns:a16="http://schemas.microsoft.com/office/drawing/2014/main" id="{FE87EB31-9DAF-4A34-A06D-4F9989BF6B1E}"/>
              </a:ext>
            </a:extLst>
          </p:cNvPr>
          <p:cNvSpPr>
            <a:spLocks noGrp="1"/>
          </p:cNvSpPr>
          <p:nvPr/>
        </p:nvSpPr>
        <p:spPr>
          <a:xfrm>
            <a:off x="619125" y="6105525"/>
            <a:ext cx="10715625" cy="304800"/>
          </a:xfrm>
          <a:prstGeom prst="rect">
            <a:avLst/>
          </a:prstGeom>
          <a:noFill/>
          <a:ln w="0">
            <a:noFill/>
          </a:ln>
        </p:spPr>
        <p:txBody>
          <a:bodyPr lIns="0" tIns="0" rIns="0" bIns="0" anchor="ctr">
            <a:noAutofit/>
          </a:bodyPr>
          <a:lstStyle/>
          <a:p>
            <a:pPr algn="l">
              <a:defRPr sz="1275" b="0">
                <a:solidFill>
                  <a:srgbClr val="526778"/>
                </a:solidFill>
                <a:latin typeface="Arial"/>
                <a:ea typeface="Arial"/>
                <a:cs typeface="Arial"/>
              </a:defRPr>
            </a:pPr>
            <a:r>
              <a:rPr sz="1275" b="0">
                <a:solidFill>
                  <a:srgbClr val="526778"/>
                </a:solidFill>
                <a:latin typeface="Arial"/>
                <a:ea typeface="Arial"/>
                <a:cs typeface="Arial"/>
              </a:rPr>
              <a:t>Xanh = tốt hơn có ý nghĩa sau Holm; xám = chưa đủ bằng chứng; vạch đứt 1,10 = biên H2.</a:t>
            </a:r>
          </a:p>
        </p:txBody>
      </p:sp>
      <p:sp>
        <p:nvSpPr>
          <p:cNvPr id="5" name="">
            <a:extLst>
              <a:ext uri="{FF2B5EF4-FFF2-40B4-BE49-F238E27FC236}">
                <a16:creationId xmlns:a16="http://schemas.microsoft.com/office/drawing/2014/main" id="{61ADA485-A3D9-4801-AF20-EEDA600A294B}"/>
              </a:ext>
            </a:extLst>
          </p:cNvPr>
          <p:cNvSpPr>
            <a:spLocks noGrp="1"/>
          </p:cNvSpPr>
          <p:nvPr/>
        </p:nvSpPr>
        <p:spPr>
          <a:xfrm>
            <a:off x="521207" y="1234440"/>
            <a:ext cx="11146536" cy="4709160"/>
          </a:xfrm>
          <a:prstGeom prst="rect">
            <a:avLst/>
          </a:prstGeom>
          <a:solidFill>
            <a:srgbClr val="FFFFFF"/>
          </a:solidFill>
          <a:ln w="9525">
            <a:solidFill>
              <a:srgbClr val="A7BAC7"/>
            </a:solidFill>
          </a:ln>
        </p:spPr>
      </p:sp>
      <p:sp>
        <p:nvSpPr>
          <p:cNvPr id="6" name="">
            <a:extLst>
              <a:ext uri="{FF2B5EF4-FFF2-40B4-BE49-F238E27FC236}">
                <a16:creationId xmlns:a16="http://schemas.microsoft.com/office/drawing/2014/main" id="{19595B2A-1A2C-4338-94FD-1F2A97C1B0E9}"/>
              </a:ext>
            </a:extLst>
          </p:cNvPr>
          <p:cNvSpPr>
            <a:spLocks noGrp="1"/>
          </p:cNvSpPr>
          <p:nvPr/>
        </p:nvSpPr>
        <p:spPr>
          <a:xfrm>
            <a:off x="667512" y="1325880"/>
            <a:ext cx="10858500" cy="323850"/>
          </a:xfrm>
          <a:prstGeom prst="rect">
            <a:avLst/>
          </a:prstGeom>
          <a:noFill/>
          <a:ln w="0">
            <a:noFill/>
          </a:ln>
        </p:spPr>
        <p:txBody>
          <a:bodyPr lIns="0" tIns="0" rIns="0" bIns="0" anchor="ctr">
            <a:noAutofit/>
          </a:bodyPr>
          <a:lstStyle/>
          <a:p>
            <a:pPr algn="l">
              <a:defRPr sz="1800" b="1">
                <a:solidFill>
                  <a:srgbClr val="20567B"/>
                </a:solidFill>
                <a:latin typeface="Arial"/>
                <a:ea typeface="Arial"/>
                <a:cs typeface="Arial"/>
              </a:defRPr>
            </a:pPr>
            <a:r>
              <a:rPr sz="1800" b="1">
                <a:solidFill>
                  <a:srgbClr val="20567B"/>
                </a:solidFill>
                <a:latin typeface="Arial"/>
                <a:ea typeface="Arial"/>
                <a:cs typeface="Arial"/>
              </a:rPr>
              <a:t>KHUNG KẾT QUẢ 3 · tỉ số và KTC 95 % theo cell</a:t>
            </a:r>
          </a:p>
        </p:txBody>
      </p:sp>
      <p:pic>
        <p:nvPicPr>
          <p:cNvPr id="12" name="Picture 11" descr="fig_E13_forest.png"/>
          <p:cNvPicPr>
            <a:picLocks noChangeAspect="1"/>
          </p:cNvPicPr>
          <p:nvPr/>
        </p:nvPicPr>
        <p:blipFill>
          <a:blip r:embed="rId3"/>
          <a:stretch>
            <a:fillRect/>
          </a:stretch>
        </p:blipFill>
        <p:spPr>
          <a:xfrm>
            <a:off x="1691099" y="1737360"/>
            <a:ext cx="8834186" cy="406908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8" name="">
            <a:extLst>
              <a:ext uri="{FF2B5EF4-FFF2-40B4-BE49-F238E27FC236}">
                <a16:creationId xmlns:a16="http://schemas.microsoft.com/office/drawing/2014/main" id="{A2DD91DF-1BC8-4F4E-9AB0-2B55DB203359}"/>
              </a:ext>
            </a:extLst>
          </p:cNvPr>
          <p:cNvSpPr>
            <a:spLocks noGrp="1"/>
          </p:cNvSpPr>
          <p:nvPr/>
        </p:nvSpPr>
        <p:spPr>
          <a:xfrm>
            <a:off x="0" y="0"/>
            <a:ext cx="12192000" cy="952500"/>
          </a:xfrm>
          <a:prstGeom prst="rect">
            <a:avLst/>
          </a:prstGeom>
          <a:solidFill>
            <a:srgbClr val="20567B"/>
          </a:solidFill>
          <a:ln w="9525">
            <a:solidFill>
              <a:srgbClr val="20567B"/>
            </a:solidFill>
          </a:ln>
        </p:spPr>
        <p:txBody>
          <a:bodyPr/>
          <a:p/>
        </p:txBody>
      </p:sp>
      <p:sp>
        <p:nvSpPr>
          <p:cNvPr id="2" name="">
            <a:extLst>
              <a:ext uri="{FF2B5EF4-FFF2-40B4-BE49-F238E27FC236}">
                <a16:creationId xmlns:a16="http://schemas.microsoft.com/office/drawing/2014/main" id="{C93E37DA-E3BE-4B30-851A-78B8357C043D}"/>
              </a:ext>
            </a:extLst>
          </p:cNvPr>
          <p:cNvSpPr>
            <a:spLocks noGrp="1"/>
          </p:cNvSpPr>
          <p:nvPr/>
        </p:nvSpPr>
        <p:spPr>
          <a:xfrm>
            <a:off x="542925" y="66675"/>
            <a:ext cx="11239500" cy="800100"/>
          </a:xfrm>
          <a:prstGeom prst="rect">
            <a:avLst/>
          </a:prstGeom>
          <a:noFill/>
          <a:ln w="0">
            <a:noFill/>
          </a:ln>
        </p:spPr>
        <p:txBody>
          <a:bodyPr lIns="0" tIns="0" rIns="0" bIns="0" anchor="ctr">
            <a:no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Hiệu quả theo lượng nhãn</a:t>
            </a:r>
          </a:p>
        </p:txBody>
      </p:sp>
      <p:sp>
        <p:nvSpPr>
          <p:cNvPr id="3" name="">
            <a:extLst>
              <a:ext uri="{FF2B5EF4-FFF2-40B4-BE49-F238E27FC236}">
                <a16:creationId xmlns:a16="http://schemas.microsoft.com/office/drawing/2014/main" id="{8C9AE867-B456-4135-B8DB-629FD7A4BC8E}"/>
              </a:ext>
            </a:extLst>
          </p:cNvPr>
          <p:cNvSpPr>
            <a:spLocks noGrp="1"/>
          </p:cNvSpPr>
          <p:nvPr/>
        </p:nvSpPr>
        <p:spPr>
          <a:xfrm>
            <a:off x="11144250" y="6400800"/>
            <a:ext cx="333375" cy="257175"/>
          </a:xfrm>
          <a:prstGeom prst="rect">
            <a:avLst/>
          </a:prstGeom>
          <a:noFill/>
          <a:ln w="0">
            <a:noFill/>
          </a:ln>
        </p:spPr>
        <p:txBody>
          <a:bodyPr lIns="0" tIns="0" rIns="0" bIns="0" anchor="ctr">
            <a:noAutofit/>
          </a:bodyPr>
          <a:lstStyle/>
          <a:p>
            <a:pPr algn="l">
              <a:defRPr sz="1200" b="1">
                <a:solidFill>
                  <a:srgbClr val="20567B"/>
                </a:solidFill>
                <a:latin typeface="Arial"/>
                <a:ea typeface="Arial"/>
                <a:cs typeface="Arial"/>
              </a:defRPr>
            </a:pPr>
            <a:r>
              <a:rPr sz="1200" b="1">
                <a:solidFill>
                  <a:srgbClr val="20567B"/>
                </a:solidFill>
                <a:latin typeface="Arial"/>
                <a:ea typeface="Arial"/>
                <a:cs typeface="Arial"/>
              </a:rPr>
              <a:t>22</a:t>
            </a:r>
          </a:p>
        </p:txBody>
      </p:sp>
      <p:pic>
        <p:nvPicPr>
          <p:cNvPr id="11" name=""/>
          <p:cNvPicPr>
            <a:picLocks noChangeAspect="1"/>
          </p:cNvPicPr>
          <p:nvPr/>
        </p:nvPicPr>
        <p:blipFill>
          <a:blip r:embed="rId2"/>
          <a:stretch/>
        </p:blipFill>
        <p:spPr>
          <a:xfrm>
            <a:off x="11696700" y="6384974"/>
            <a:ext cx="285750" cy="260252"/>
          </a:xfrm>
          <a:prstGeom prst="rect">
            <a:avLst/>
          </a:prstGeom>
        </p:spPr>
      </p:pic>
      <p:sp>
        <p:nvSpPr>
          <p:cNvPr id="7" name="">
            <a:extLst>
              <a:ext uri="{FF2B5EF4-FFF2-40B4-BE49-F238E27FC236}">
                <a16:creationId xmlns:a16="http://schemas.microsoft.com/office/drawing/2014/main" id="{FE87EB31-9DAF-4A34-A06D-4F9989BF6B1E}"/>
              </a:ext>
            </a:extLst>
          </p:cNvPr>
          <p:cNvSpPr>
            <a:spLocks noGrp="1"/>
          </p:cNvSpPr>
          <p:nvPr/>
        </p:nvSpPr>
        <p:spPr>
          <a:xfrm>
            <a:off x="619125" y="6105525"/>
            <a:ext cx="10715625" cy="304800"/>
          </a:xfrm>
          <a:prstGeom prst="rect">
            <a:avLst/>
          </a:prstGeom>
          <a:noFill/>
          <a:ln w="0">
            <a:noFill/>
          </a:ln>
        </p:spPr>
        <p:txBody>
          <a:bodyPr lIns="0" tIns="0" rIns="0" bIns="0" anchor="ctr">
            <a:noAutofit/>
          </a:bodyPr>
          <a:lstStyle/>
          <a:p>
            <a:pPr algn="l">
              <a:defRPr sz="1275" b="0">
                <a:solidFill>
                  <a:srgbClr val="526778"/>
                </a:solidFill>
                <a:latin typeface="Arial"/>
                <a:ea typeface="Arial"/>
                <a:cs typeface="Arial"/>
              </a:defRPr>
            </a:pPr>
            <a:r>
              <a:rPr sz="1275" b="0">
                <a:solidFill>
                  <a:srgbClr val="526778"/>
                </a:solidFill>
                <a:latin typeface="Arial"/>
                <a:ea typeface="Arial"/>
                <a:cs typeface="Arial"/>
              </a:rPr>
              <a:t>Dải = KTC 95 % bootstrap theo cell. Vạch đứt = MLP dùng 70 % nhãn (mốc của H2).</a:t>
            </a:r>
          </a:p>
        </p:txBody>
      </p:sp>
      <p:sp>
        <p:nvSpPr>
          <p:cNvPr id="5" name="">
            <a:extLst>
              <a:ext uri="{FF2B5EF4-FFF2-40B4-BE49-F238E27FC236}">
                <a16:creationId xmlns:a16="http://schemas.microsoft.com/office/drawing/2014/main" id="{61ADA485-A3D9-4801-AF20-EEDA600A294B}"/>
              </a:ext>
            </a:extLst>
          </p:cNvPr>
          <p:cNvSpPr>
            <a:spLocks noGrp="1"/>
          </p:cNvSpPr>
          <p:nvPr/>
        </p:nvSpPr>
        <p:spPr>
          <a:xfrm>
            <a:off x="521207" y="1234440"/>
            <a:ext cx="11146536" cy="4709160"/>
          </a:xfrm>
          <a:prstGeom prst="rect">
            <a:avLst/>
          </a:prstGeom>
          <a:solidFill>
            <a:srgbClr val="FFFFFF"/>
          </a:solidFill>
          <a:ln w="9525">
            <a:solidFill>
              <a:srgbClr val="A7BAC7"/>
            </a:solidFill>
          </a:ln>
        </p:spPr>
      </p:sp>
      <p:sp>
        <p:nvSpPr>
          <p:cNvPr id="6" name="">
            <a:extLst>
              <a:ext uri="{FF2B5EF4-FFF2-40B4-BE49-F238E27FC236}">
                <a16:creationId xmlns:a16="http://schemas.microsoft.com/office/drawing/2014/main" id="{19595B2A-1A2C-4338-94FD-1F2A97C1B0E9}"/>
              </a:ext>
            </a:extLst>
          </p:cNvPr>
          <p:cNvSpPr>
            <a:spLocks noGrp="1"/>
          </p:cNvSpPr>
          <p:nvPr/>
        </p:nvSpPr>
        <p:spPr>
          <a:xfrm>
            <a:off x="667512" y="1325880"/>
            <a:ext cx="10858500" cy="323850"/>
          </a:xfrm>
          <a:prstGeom prst="rect">
            <a:avLst/>
          </a:prstGeom>
          <a:noFill/>
          <a:ln w="0">
            <a:noFill/>
          </a:ln>
        </p:spPr>
        <p:txBody>
          <a:bodyPr lIns="0" tIns="0" rIns="0" bIns="0" anchor="ctr">
            <a:noAutofit/>
          </a:bodyPr>
          <a:lstStyle/>
          <a:p>
            <a:pPr algn="l">
              <a:defRPr sz="1800" b="1">
                <a:solidFill>
                  <a:srgbClr val="20567B"/>
                </a:solidFill>
                <a:latin typeface="Arial"/>
                <a:ea typeface="Arial"/>
                <a:cs typeface="Arial"/>
              </a:defRPr>
            </a:pPr>
            <a:r>
              <a:rPr sz="1800" b="1">
                <a:solidFill>
                  <a:srgbClr val="20567B"/>
                </a:solidFill>
                <a:latin typeface="Arial"/>
                <a:ea typeface="Arial"/>
                <a:cs typeface="Arial"/>
              </a:rPr>
              <a:t>KHUNG KẾT QUẢ 4 · MAE theo cell ở 10 / 30 / 50 / 70 % nhãn</a:t>
            </a:r>
          </a:p>
        </p:txBody>
      </p:sp>
      <p:pic>
        <p:nvPicPr>
          <p:cNvPr id="12" name="Picture 11" descr="fig_E13_curve.png"/>
          <p:cNvPicPr>
            <a:picLocks noChangeAspect="1"/>
          </p:cNvPicPr>
          <p:nvPr/>
        </p:nvPicPr>
        <p:blipFill>
          <a:blip r:embed="rId3"/>
          <a:stretch>
            <a:fillRect/>
          </a:stretch>
        </p:blipFill>
        <p:spPr>
          <a:xfrm>
            <a:off x="667512" y="2123563"/>
            <a:ext cx="10881360" cy="3296674"/>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8" name="">
            <a:extLst>
              <a:ext uri="{FF2B5EF4-FFF2-40B4-BE49-F238E27FC236}">
                <a16:creationId xmlns:a16="http://schemas.microsoft.com/office/drawing/2014/main" id="{A2DD91DF-1BC8-4F4E-9AB0-2B55DB203359}"/>
              </a:ext>
            </a:extLst>
          </p:cNvPr>
          <p:cNvSpPr>
            <a:spLocks noGrp="1"/>
          </p:cNvSpPr>
          <p:nvPr/>
        </p:nvSpPr>
        <p:spPr>
          <a:xfrm>
            <a:off x="0" y="0"/>
            <a:ext cx="12192000" cy="952500"/>
          </a:xfrm>
          <a:prstGeom prst="rect">
            <a:avLst/>
          </a:prstGeom>
          <a:solidFill>
            <a:srgbClr val="20567B"/>
          </a:solidFill>
          <a:ln w="9525">
            <a:solidFill>
              <a:srgbClr val="20567B"/>
            </a:solidFill>
          </a:ln>
        </p:spPr>
        <p:txBody>
          <a:bodyPr/>
          <a:p/>
        </p:txBody>
      </p:sp>
      <p:sp>
        <p:nvSpPr>
          <p:cNvPr id="2" name="">
            <a:extLst>
              <a:ext uri="{FF2B5EF4-FFF2-40B4-BE49-F238E27FC236}">
                <a16:creationId xmlns:a16="http://schemas.microsoft.com/office/drawing/2014/main" id="{C93E37DA-E3BE-4B30-851A-78B8357C043D}"/>
              </a:ext>
            </a:extLst>
          </p:cNvPr>
          <p:cNvSpPr>
            <a:spLocks noGrp="1"/>
          </p:cNvSpPr>
          <p:nvPr/>
        </p:nvSpPr>
        <p:spPr>
          <a:xfrm>
            <a:off x="542925" y="66675"/>
            <a:ext cx="11239500" cy="800100"/>
          </a:xfrm>
          <a:prstGeom prst="rect">
            <a:avLst/>
          </a:prstGeom>
          <a:noFill/>
          <a:ln w="0">
            <a:noFill/>
          </a:ln>
        </p:spPr>
        <p:txBody>
          <a:bodyPr lIns="0" tIns="0" rIns="0" bIns="0" anchor="ctr">
            <a:no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H2: PINN 30% có thay được MLP 70%?</a:t>
            </a:r>
          </a:p>
        </p:txBody>
      </p:sp>
      <p:sp>
        <p:nvSpPr>
          <p:cNvPr id="3" name="">
            <a:extLst>
              <a:ext uri="{FF2B5EF4-FFF2-40B4-BE49-F238E27FC236}">
                <a16:creationId xmlns:a16="http://schemas.microsoft.com/office/drawing/2014/main" id="{8C9AE867-B456-4135-B8DB-629FD7A4BC8E}"/>
              </a:ext>
            </a:extLst>
          </p:cNvPr>
          <p:cNvSpPr>
            <a:spLocks noGrp="1"/>
          </p:cNvSpPr>
          <p:nvPr/>
        </p:nvSpPr>
        <p:spPr>
          <a:xfrm>
            <a:off x="11144250" y="6400800"/>
            <a:ext cx="333375" cy="257175"/>
          </a:xfrm>
          <a:prstGeom prst="rect">
            <a:avLst/>
          </a:prstGeom>
          <a:noFill/>
          <a:ln w="0">
            <a:noFill/>
          </a:ln>
        </p:spPr>
        <p:txBody>
          <a:bodyPr lIns="0" tIns="0" rIns="0" bIns="0" anchor="ctr">
            <a:noAutofit/>
          </a:bodyPr>
          <a:lstStyle/>
          <a:p>
            <a:pPr algn="l">
              <a:defRPr sz="1200" b="1">
                <a:solidFill>
                  <a:srgbClr val="20567B"/>
                </a:solidFill>
                <a:latin typeface="Arial"/>
                <a:ea typeface="Arial"/>
                <a:cs typeface="Arial"/>
              </a:defRPr>
            </a:pPr>
            <a:r>
              <a:rPr sz="1200" b="1">
                <a:solidFill>
                  <a:srgbClr val="20567B"/>
                </a:solidFill>
                <a:latin typeface="Arial"/>
                <a:ea typeface="Arial"/>
                <a:cs typeface="Arial"/>
              </a:rPr>
              <a:t>23</a:t>
            </a:r>
          </a:p>
        </p:txBody>
      </p:sp>
      <p:pic>
        <p:nvPicPr>
          <p:cNvPr id="11" name=""/>
          <p:cNvPicPr>
            <a:picLocks noChangeAspect="1"/>
          </p:cNvPicPr>
          <p:nvPr/>
        </p:nvPicPr>
        <p:blipFill>
          <a:blip r:embed="rId2"/>
          <a:stretch/>
        </p:blipFill>
        <p:spPr>
          <a:xfrm>
            <a:off x="11696700" y="6384974"/>
            <a:ext cx="285750" cy="260252"/>
          </a:xfrm>
          <a:prstGeom prst="rect">
            <a:avLst/>
          </a:prstGeom>
        </p:spPr>
      </p:pic>
      <p:graphicFrame>
        <p:nvGraphicFramePr>
          <p:cNvPr id="12" name=""/>
          <p:cNvGraphicFramePr/>
          <p:nvPr/>
        </p:nvGraphicFramePr>
        <p:xfrm>
          <a:off x="533400" y="1457325"/>
          <a:ext cx="11128248" cy="2286000"/>
        </p:xfrm>
        <a:graphic>
          <a:graphicData uri="http://schemas.openxmlformats.org/drawingml/2006/table">
            <a:tbl>
              <a:tblPr/>
              <a:tblGrid>
                <a:gridCol w="1371600"/>
                <a:gridCol w="1828800"/>
                <a:gridCol w="1828800"/>
                <a:gridCol w="2377440"/>
                <a:gridCol w="1188720"/>
                <a:gridCol w="2532888"/>
              </a:tblGrid>
              <a:tr h="457200">
                <a:tc>
                  <a:txBody>
                    <a:bodyPr/>
                    <a:lstStyle/>
                    <a:p>
                      <a:pPr algn="l"/>
                      <a:r>
                        <a:rPr sz="1400" b="1">
                          <a:solidFill>
                            <a:srgbClr val="FFFFFF"/>
                          </a:solidFill>
                          <a:latin typeface="Arial"/>
                          <a:ea typeface="Arial"/>
                          <a:cs typeface="Arial"/>
                        </a:rPr>
                        <a:t>Bộ</a:t>
                      </a:r>
                    </a:p>
                  </a:txBody>
                  <a:tcPr marL="91440" marR="91440" marT="45720" marB="45720" anchor="ctr">
                    <a:solidFill>
                      <a:srgbClr val="20567B"/>
                    </a:solidFill>
                  </a:tcPr>
                </a:tc>
                <a:tc>
                  <a:txBody>
                    <a:bodyPr/>
                    <a:lstStyle/>
                    <a:p>
                      <a:pPr algn="l"/>
                      <a:r>
                        <a:rPr sz="1400" b="1">
                          <a:solidFill>
                            <a:srgbClr val="FFFFFF"/>
                          </a:solidFill>
                          <a:latin typeface="Arial"/>
                          <a:ea typeface="Arial"/>
                          <a:cs typeface="Arial"/>
                        </a:rPr>
                        <a:t>MLP 70 % ×10⁻³</a:t>
                      </a:r>
                    </a:p>
                  </a:txBody>
                  <a:tcPr marL="91440" marR="91440" marT="45720" marB="45720" anchor="ctr">
                    <a:solidFill>
                      <a:srgbClr val="20567B"/>
                    </a:solidFill>
                  </a:tcPr>
                </a:tc>
                <a:tc>
                  <a:txBody>
                    <a:bodyPr/>
                    <a:lstStyle/>
                    <a:p>
                      <a:pPr algn="l"/>
                      <a:r>
                        <a:rPr sz="1400" b="1">
                          <a:solidFill>
                            <a:srgbClr val="FFFFFF"/>
                          </a:solidFill>
                          <a:latin typeface="Arial"/>
                          <a:ea typeface="Arial"/>
                          <a:cs typeface="Arial"/>
                        </a:rPr>
                        <a:t>PINN 30 % ×10⁻³</a:t>
                      </a:r>
                    </a:p>
                  </a:txBody>
                  <a:tcPr marL="91440" marR="91440" marT="45720" marB="45720" anchor="ctr">
                    <a:solidFill>
                      <a:srgbClr val="20567B"/>
                    </a:solidFill>
                  </a:tcPr>
                </a:tc>
                <a:tc>
                  <a:txBody>
                    <a:bodyPr/>
                    <a:lstStyle/>
                    <a:p>
                      <a:pPr algn="l"/>
                      <a:r>
                        <a:rPr sz="1400" b="1">
                          <a:solidFill>
                            <a:srgbClr val="FFFFFF"/>
                          </a:solidFill>
                          <a:latin typeface="Arial"/>
                          <a:ea typeface="Arial"/>
                          <a:cs typeface="Arial"/>
                        </a:rPr>
                        <a:t>Tỉ số [KTC 90 %]</a:t>
                      </a:r>
                    </a:p>
                  </a:txBody>
                  <a:tcPr marL="91440" marR="91440" marT="45720" marB="45720" anchor="ctr">
                    <a:solidFill>
                      <a:srgbClr val="20567B"/>
                    </a:solidFill>
                  </a:tcPr>
                </a:tc>
                <a:tc>
                  <a:txBody>
                    <a:bodyPr/>
                    <a:lstStyle/>
                    <a:p>
                      <a:pPr algn="l"/>
                      <a:r>
                        <a:rPr sz="1400" b="1">
                          <a:solidFill>
                            <a:srgbClr val="FFFFFF"/>
                          </a:solidFill>
                          <a:latin typeface="Arial"/>
                          <a:ea typeface="Arial"/>
                          <a:cs typeface="Arial"/>
                        </a:rPr>
                        <a:t>p Holm</a:t>
                      </a:r>
                    </a:p>
                  </a:txBody>
                  <a:tcPr marL="91440" marR="91440" marT="45720" marB="45720" anchor="ctr">
                    <a:solidFill>
                      <a:srgbClr val="20567B"/>
                    </a:solidFill>
                  </a:tcPr>
                </a:tc>
                <a:tc>
                  <a:txBody>
                    <a:bodyPr/>
                    <a:lstStyle/>
                    <a:p>
                      <a:pPr algn="l"/>
                      <a:r>
                        <a:rPr sz="1400" b="1">
                          <a:solidFill>
                            <a:srgbClr val="FFFFFF"/>
                          </a:solidFill>
                          <a:latin typeface="Arial"/>
                          <a:ea typeface="Arial"/>
                          <a:cs typeface="Arial"/>
                        </a:rPr>
                        <a:t>Kết luận</a:t>
                      </a:r>
                    </a:p>
                  </a:txBody>
                  <a:tcPr marL="91440" marR="91440" marT="45720" marB="45720" anchor="ctr">
                    <a:solidFill>
                      <a:srgbClr val="20567B"/>
                    </a:solidFill>
                  </a:tcPr>
                </a:tc>
              </a:tr>
              <a:tr h="457200">
                <a:tc>
                  <a:txBody>
                    <a:bodyPr/>
                    <a:lstStyle/>
                    <a:p>
                      <a:pPr algn="l"/>
                      <a:r>
                        <a:rPr sz="1400" b="0">
                          <a:solidFill>
                            <a:srgbClr val="163047"/>
                          </a:solidFill>
                          <a:latin typeface="Arial"/>
                          <a:ea typeface="Arial"/>
                          <a:cs typeface="Arial"/>
                        </a:rPr>
                        <a:t>XJTU</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12,74</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13,44</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1,055 [0,967; 1,151]</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1,0000</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chưa chứng minh được</a:t>
                      </a:r>
                    </a:p>
                  </a:txBody>
                  <a:tcPr marL="91440" marR="91440" marT="45720" marB="45720" anchor="ctr">
                    <a:solidFill>
                      <a:srgbClr val="EAF3F7"/>
                    </a:solidFill>
                  </a:tcPr>
                </a:tc>
              </a:tr>
              <a:tr h="457200">
                <a:tc>
                  <a:txBody>
                    <a:bodyPr/>
                    <a:lstStyle/>
                    <a:p>
                      <a:pPr algn="l"/>
                      <a:r>
                        <a:rPr sz="1400" b="0">
                          <a:solidFill>
                            <a:srgbClr val="163047"/>
                          </a:solidFill>
                          <a:latin typeface="Arial"/>
                          <a:ea typeface="Arial"/>
                          <a:cs typeface="Arial"/>
                        </a:rPr>
                        <a:t>TJU</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9,64</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10,85</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1,126 [1,083; 1,171]</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1,0000</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chưa chứng minh được</a:t>
                      </a:r>
                    </a:p>
                  </a:txBody>
                  <a:tcPr marL="91440" marR="91440" marT="45720" marB="45720" anchor="ctr">
                    <a:solidFill>
                      <a:srgbClr val="FFFFFF"/>
                    </a:solidFill>
                  </a:tcPr>
                </a:tc>
              </a:tr>
              <a:tr h="457200">
                <a:tc>
                  <a:txBody>
                    <a:bodyPr/>
                    <a:lstStyle/>
                    <a:p>
                      <a:pPr algn="l"/>
                      <a:r>
                        <a:rPr sz="1400" b="0">
                          <a:solidFill>
                            <a:srgbClr val="163047"/>
                          </a:solidFill>
                          <a:latin typeface="Arial"/>
                          <a:ea typeface="Arial"/>
                          <a:cs typeface="Arial"/>
                        </a:rPr>
                        <a:t>MIT</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2,86</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2,58</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0,901 [0,841; 0,962]</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&lt; 0,0001</a:t>
                      </a:r>
                    </a:p>
                  </a:txBody>
                  <a:tcPr marL="91440" marR="91440" marT="45720" marB="45720" anchor="ctr">
                    <a:solidFill>
                      <a:srgbClr val="EAF3F7"/>
                    </a:solidFill>
                  </a:tcPr>
                </a:tc>
                <a:tc>
                  <a:txBody>
                    <a:bodyPr/>
                    <a:lstStyle/>
                    <a:p>
                      <a:pPr algn="l"/>
                      <a:r>
                        <a:rPr sz="1400" b="0">
                          <a:solidFill>
                            <a:srgbClr val="163047"/>
                          </a:solidFill>
                          <a:latin typeface="Arial"/>
                          <a:ea typeface="Arial"/>
                          <a:cs typeface="Arial"/>
                        </a:rPr>
                        <a:t>không kém hơn (δ = 10 %)</a:t>
                      </a:r>
                    </a:p>
                  </a:txBody>
                  <a:tcPr marL="91440" marR="91440" marT="45720" marB="45720" anchor="ctr">
                    <a:solidFill>
                      <a:srgbClr val="EAF3F7"/>
                    </a:solidFill>
                  </a:tcPr>
                </a:tc>
              </a:tr>
              <a:tr h="457200">
                <a:tc>
                  <a:txBody>
                    <a:bodyPr/>
                    <a:lstStyle/>
                    <a:p>
                      <a:pPr algn="l"/>
                      <a:r>
                        <a:rPr sz="1400" b="0">
                          <a:solidFill>
                            <a:srgbClr val="163047"/>
                          </a:solidFill>
                          <a:latin typeface="Arial"/>
                          <a:ea typeface="Arial"/>
                          <a:cs typeface="Arial"/>
                        </a:rPr>
                        <a:t>HUST</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16,94</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17,30</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1,021 [0,969; 1,077]</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0,0351</a:t>
                      </a:r>
                    </a:p>
                  </a:txBody>
                  <a:tcPr marL="91440" marR="91440" marT="45720" marB="45720" anchor="ctr">
                    <a:solidFill>
                      <a:srgbClr val="FFFFFF"/>
                    </a:solidFill>
                  </a:tcPr>
                </a:tc>
                <a:tc>
                  <a:txBody>
                    <a:bodyPr/>
                    <a:lstStyle/>
                    <a:p>
                      <a:pPr algn="l"/>
                      <a:r>
                        <a:rPr sz="1400" b="0">
                          <a:solidFill>
                            <a:srgbClr val="163047"/>
                          </a:solidFill>
                          <a:latin typeface="Arial"/>
                          <a:ea typeface="Arial"/>
                          <a:cs typeface="Arial"/>
                        </a:rPr>
                        <a:t>không kém hơn (δ = 10 %)</a:t>
                      </a:r>
                    </a:p>
                  </a:txBody>
                  <a:tcPr marL="91440" marR="91440" marT="45720" marB="45720" anchor="ctr">
                    <a:solidFill>
                      <a:srgbClr val="FFFFFF"/>
                    </a:solidFill>
                  </a:tcPr>
                </a:tc>
              </a:tr>
            </a:tbl>
          </a:graphicData>
        </a:graphic>
      </p:graphicFrame>
      <p:sp>
        <p:nvSpPr>
          <p:cNvPr id="6" name="">
            <a:extLst>
              <a:ext uri="{FF2B5EF4-FFF2-40B4-BE49-F238E27FC236}">
                <a16:creationId xmlns:a16="http://schemas.microsoft.com/office/drawing/2014/main" id="{BE061075-2C77-4E3D-A428-C263D575BBC5}"/>
              </a:ext>
            </a:extLst>
          </p:cNvPr>
          <p:cNvSpPr>
            <a:spLocks noGrp="1"/>
          </p:cNvSpPr>
          <p:nvPr/>
        </p:nvSpPr>
        <p:spPr>
          <a:xfrm>
            <a:off x="619125" y="3971925"/>
            <a:ext cx="10763250" cy="523875"/>
          </a:xfrm>
          <a:prstGeom prst="rect">
            <a:avLst/>
          </a:prstGeom>
          <a:noFill/>
          <a:ln w="0">
            <a:noFill/>
          </a:ln>
        </p:spPr>
        <p:txBody>
          <a:bodyPr lIns="0" tIns="0" rIns="0" bIns="0" anchor="ctr">
            <a:noAutofit/>
          </a:bodyPr>
          <a:lstStyle/>
          <a:p>
            <a:pPr algn="l">
              <a:defRPr sz="1950" b="1">
                <a:solidFill>
                  <a:srgbClr val="20567B"/>
                </a:solidFill>
                <a:latin typeface="Arial"/>
                <a:ea typeface="Arial"/>
                <a:cs typeface="Arial"/>
              </a:defRPr>
            </a:pPr>
            <a:r>
              <a:rPr sz="1950" b="1">
                <a:solidFill>
                  <a:srgbClr val="20567B"/>
                </a:solidFill>
                <a:latin typeface="Arial"/>
                <a:ea typeface="Arial"/>
                <a:cs typeface="Arial"/>
              </a:rPr>
              <a:t>H2 (PINN-semi 30 % so với MLP 70 %, biên 10 %): không kém hơn trên 2/4 bộ (MIT, HUST).</a:t>
            </a:r>
          </a:p>
        </p:txBody>
      </p:sp>
      <p:sp>
        <p:nvSpPr>
          <p:cNvPr id="7" name="">
            <a:extLst>
              <a:ext uri="{FF2B5EF4-FFF2-40B4-BE49-F238E27FC236}">
                <a16:creationId xmlns:a16="http://schemas.microsoft.com/office/drawing/2014/main" id="{FE87EB31-9DAF-4A34-A06D-4F9989BF6B1E}"/>
              </a:ext>
            </a:extLst>
          </p:cNvPr>
          <p:cNvSpPr>
            <a:spLocks noGrp="1"/>
          </p:cNvSpPr>
          <p:nvPr/>
        </p:nvSpPr>
        <p:spPr>
          <a:xfrm>
            <a:off x="619125" y="6105525"/>
            <a:ext cx="10715625" cy="304800"/>
          </a:xfrm>
          <a:prstGeom prst="rect">
            <a:avLst/>
          </a:prstGeom>
          <a:noFill/>
          <a:ln w="0">
            <a:noFill/>
          </a:ln>
        </p:spPr>
        <p:txBody>
          <a:bodyPr lIns="0" tIns="0" rIns="0" bIns="0" anchor="ctr">
            <a:noAutofit/>
          </a:bodyPr>
          <a:lstStyle/>
          <a:p>
            <a:pPr algn="l">
              <a:defRPr sz="1275" b="0">
                <a:solidFill>
                  <a:srgbClr val="526778"/>
                </a:solidFill>
                <a:latin typeface="Arial"/>
                <a:ea typeface="Arial"/>
                <a:cs typeface="Arial"/>
              </a:defRPr>
            </a:pPr>
            <a:r>
              <a:rPr sz="1275" b="0">
                <a:solidFill>
                  <a:srgbClr val="526778"/>
                </a:solidFill>
                <a:latin typeface="Arial"/>
                <a:ea typeface="Arial"/>
                <a:cs typeface="Arial"/>
              </a:rPr>
              <a:t>Không kém hơn khi p Holm &lt; 0,05 (Wilcoxon một phía trên e_PINN − 1,1·e_MLP) VÀ cận trên KTC 90 % &lt; 1,10.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8" name="">
            <a:extLst>
              <a:ext uri="{FF2B5EF4-FFF2-40B4-BE49-F238E27FC236}">
                <a16:creationId xmlns:a16="http://schemas.microsoft.com/office/drawing/2014/main" id="{A2DD91DF-1BC8-4F4E-9AB0-2B55DB203359}"/>
              </a:ext>
            </a:extLst>
          </p:cNvPr>
          <p:cNvSpPr>
            <a:spLocks noGrp="1"/>
          </p:cNvSpPr>
          <p:nvPr/>
        </p:nvSpPr>
        <p:spPr>
          <a:xfrm>
            <a:off x="0" y="0"/>
            <a:ext cx="12192000" cy="952500"/>
          </a:xfrm>
          <a:prstGeom prst="rect">
            <a:avLst/>
          </a:prstGeom>
          <a:solidFill>
            <a:srgbClr val="20567B"/>
          </a:solidFill>
          <a:ln w="9525">
            <a:solidFill>
              <a:srgbClr val="20567B"/>
            </a:solidFill>
          </a:ln>
        </p:spPr>
        <p:txBody>
          <a:bodyPr/>
          <a:p/>
        </p:txBody>
      </p:sp>
      <p:sp>
        <p:nvSpPr>
          <p:cNvPr id="2" name="">
            <a:extLst>
              <a:ext uri="{FF2B5EF4-FFF2-40B4-BE49-F238E27FC236}">
                <a16:creationId xmlns:a16="http://schemas.microsoft.com/office/drawing/2014/main" id="{C93E37DA-E3BE-4B30-851A-78B8357C043D}"/>
              </a:ext>
            </a:extLst>
          </p:cNvPr>
          <p:cNvSpPr>
            <a:spLocks noGrp="1"/>
          </p:cNvSpPr>
          <p:nvPr/>
        </p:nvSpPr>
        <p:spPr>
          <a:xfrm>
            <a:off x="542925" y="66675"/>
            <a:ext cx="11239500" cy="800100"/>
          </a:xfrm>
          <a:prstGeom prst="rect">
            <a:avLst/>
          </a:prstGeom>
          <a:noFill/>
          <a:ln w="0">
            <a:noFill/>
          </a:ln>
        </p:spPr>
        <p:txBody>
          <a:bodyPr lIns="0" tIns="0" rIns="0" bIns="0" anchor="ctr">
            <a:no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Từng cell: PINN-semi so với MLP, 30% nhãn</a:t>
            </a:r>
          </a:p>
        </p:txBody>
      </p:sp>
      <p:sp>
        <p:nvSpPr>
          <p:cNvPr id="3" name="">
            <a:extLst>
              <a:ext uri="{FF2B5EF4-FFF2-40B4-BE49-F238E27FC236}">
                <a16:creationId xmlns:a16="http://schemas.microsoft.com/office/drawing/2014/main" id="{8C9AE867-B456-4135-B8DB-629FD7A4BC8E}"/>
              </a:ext>
            </a:extLst>
          </p:cNvPr>
          <p:cNvSpPr>
            <a:spLocks noGrp="1"/>
          </p:cNvSpPr>
          <p:nvPr/>
        </p:nvSpPr>
        <p:spPr>
          <a:xfrm>
            <a:off x="11144250" y="6400800"/>
            <a:ext cx="333375" cy="257175"/>
          </a:xfrm>
          <a:prstGeom prst="rect">
            <a:avLst/>
          </a:prstGeom>
          <a:noFill/>
          <a:ln w="0">
            <a:noFill/>
          </a:ln>
        </p:spPr>
        <p:txBody>
          <a:bodyPr lIns="0" tIns="0" rIns="0" bIns="0" anchor="ctr">
            <a:noAutofit/>
          </a:bodyPr>
          <a:lstStyle/>
          <a:p>
            <a:pPr algn="l">
              <a:defRPr sz="1200" b="1">
                <a:solidFill>
                  <a:srgbClr val="20567B"/>
                </a:solidFill>
                <a:latin typeface="Arial"/>
                <a:ea typeface="Arial"/>
                <a:cs typeface="Arial"/>
              </a:defRPr>
            </a:pPr>
            <a:r>
              <a:rPr sz="1200" b="1">
                <a:solidFill>
                  <a:srgbClr val="20567B"/>
                </a:solidFill>
                <a:latin typeface="Arial"/>
                <a:ea typeface="Arial"/>
                <a:cs typeface="Arial"/>
              </a:rPr>
              <a:t>24</a:t>
            </a:r>
          </a:p>
        </p:txBody>
      </p:sp>
      <p:pic>
        <p:nvPicPr>
          <p:cNvPr id="11" name=""/>
          <p:cNvPicPr>
            <a:picLocks noChangeAspect="1"/>
          </p:cNvPicPr>
          <p:nvPr/>
        </p:nvPicPr>
        <p:blipFill>
          <a:blip r:embed="rId2"/>
          <a:stretch/>
        </p:blipFill>
        <p:spPr>
          <a:xfrm>
            <a:off x="11696700" y="6384974"/>
            <a:ext cx="285750" cy="260252"/>
          </a:xfrm>
          <a:prstGeom prst="rect">
            <a:avLst/>
          </a:prstGeom>
        </p:spPr>
      </p:pic>
      <p:sp>
        <p:nvSpPr>
          <p:cNvPr id="7" name="">
            <a:extLst>
              <a:ext uri="{FF2B5EF4-FFF2-40B4-BE49-F238E27FC236}">
                <a16:creationId xmlns:a16="http://schemas.microsoft.com/office/drawing/2014/main" id="{FE87EB31-9DAF-4A34-A06D-4F9989BF6B1E}"/>
              </a:ext>
            </a:extLst>
          </p:cNvPr>
          <p:cNvSpPr>
            <a:spLocks noGrp="1"/>
          </p:cNvSpPr>
          <p:nvPr/>
        </p:nvSpPr>
        <p:spPr>
          <a:xfrm>
            <a:off x="619125" y="6105525"/>
            <a:ext cx="10715625" cy="304800"/>
          </a:xfrm>
          <a:prstGeom prst="rect">
            <a:avLst/>
          </a:prstGeom>
          <a:noFill/>
          <a:ln w="0">
            <a:noFill/>
          </a:ln>
        </p:spPr>
        <p:txBody>
          <a:bodyPr lIns="0" tIns="0" rIns="0" bIns="0" anchor="ctr">
            <a:noAutofit/>
          </a:bodyPr>
          <a:lstStyle/>
          <a:p>
            <a:pPr algn="l">
              <a:defRPr sz="1275" b="0">
                <a:solidFill>
                  <a:srgbClr val="526778"/>
                </a:solidFill>
                <a:latin typeface="Arial"/>
                <a:ea typeface="Arial"/>
                <a:cs typeface="Arial"/>
              </a:defRPr>
            </a:pPr>
            <a:r>
              <a:rPr sz="1275" b="0">
                <a:solidFill>
                  <a:srgbClr val="526778"/>
                </a:solidFill>
                <a:latin typeface="Arial"/>
                <a:ea typeface="Arial"/>
                <a:cs typeface="Arial"/>
              </a:rPr>
              <a:t>Xanh lục (dưới đường chéo) = PINN-semi thấp hơn. Tỉ lệ cell: XJTU 65 %, TJU 68 %, MIT 82 %, HUST 71 %.</a:t>
            </a:r>
          </a:p>
        </p:txBody>
      </p:sp>
      <p:sp>
        <p:nvSpPr>
          <p:cNvPr id="5" name="">
            <a:extLst>
              <a:ext uri="{FF2B5EF4-FFF2-40B4-BE49-F238E27FC236}">
                <a16:creationId xmlns:a16="http://schemas.microsoft.com/office/drawing/2014/main" id="{61ADA485-A3D9-4801-AF20-EEDA600A294B}"/>
              </a:ext>
            </a:extLst>
          </p:cNvPr>
          <p:cNvSpPr>
            <a:spLocks noGrp="1"/>
          </p:cNvSpPr>
          <p:nvPr/>
        </p:nvSpPr>
        <p:spPr>
          <a:xfrm>
            <a:off x="521207" y="1234440"/>
            <a:ext cx="11146536" cy="4709160"/>
          </a:xfrm>
          <a:prstGeom prst="rect">
            <a:avLst/>
          </a:prstGeom>
          <a:solidFill>
            <a:srgbClr val="FFFFFF"/>
          </a:solidFill>
          <a:ln w="9525">
            <a:solidFill>
              <a:srgbClr val="A7BAC7"/>
            </a:solidFill>
          </a:ln>
        </p:spPr>
      </p:sp>
      <p:sp>
        <p:nvSpPr>
          <p:cNvPr id="6" name="">
            <a:extLst>
              <a:ext uri="{FF2B5EF4-FFF2-40B4-BE49-F238E27FC236}">
                <a16:creationId xmlns:a16="http://schemas.microsoft.com/office/drawing/2014/main" id="{19595B2A-1A2C-4338-94FD-1F2A97C1B0E9}"/>
              </a:ext>
            </a:extLst>
          </p:cNvPr>
          <p:cNvSpPr>
            <a:spLocks noGrp="1"/>
          </p:cNvSpPr>
          <p:nvPr/>
        </p:nvSpPr>
        <p:spPr>
          <a:xfrm>
            <a:off x="667512" y="1325880"/>
            <a:ext cx="10858500" cy="323850"/>
          </a:xfrm>
          <a:prstGeom prst="rect">
            <a:avLst/>
          </a:prstGeom>
          <a:noFill/>
          <a:ln w="0">
            <a:noFill/>
          </a:ln>
        </p:spPr>
        <p:txBody>
          <a:bodyPr lIns="0" tIns="0" rIns="0" bIns="0" anchor="ctr">
            <a:noAutofit/>
          </a:bodyPr>
          <a:lstStyle/>
          <a:p>
            <a:pPr algn="l">
              <a:defRPr sz="1800" b="1">
                <a:solidFill>
                  <a:srgbClr val="20567B"/>
                </a:solidFill>
                <a:latin typeface="Arial"/>
                <a:ea typeface="Arial"/>
                <a:cs typeface="Arial"/>
              </a:defRPr>
            </a:pPr>
            <a:r>
              <a:rPr sz="1800" b="1">
                <a:solidFill>
                  <a:srgbClr val="20567B"/>
                </a:solidFill>
                <a:latin typeface="Arial"/>
                <a:ea typeface="Arial"/>
                <a:cs typeface="Arial"/>
              </a:rPr>
              <a:t>KHUNG KẾT QUẢ 5 · MAE từng cell, trung bình 5 lần lặp</a:t>
            </a:r>
          </a:p>
        </p:txBody>
      </p:sp>
      <p:pic>
        <p:nvPicPr>
          <p:cNvPr id="12" name="Picture 11" descr="fig_E13_cells.png"/>
          <p:cNvPicPr>
            <a:picLocks noChangeAspect="1"/>
          </p:cNvPicPr>
          <p:nvPr/>
        </p:nvPicPr>
        <p:blipFill>
          <a:blip r:embed="rId3"/>
          <a:stretch>
            <a:fillRect/>
          </a:stretch>
        </p:blipFill>
        <p:spPr>
          <a:xfrm>
            <a:off x="667512" y="2280289"/>
            <a:ext cx="10881360" cy="2983221"/>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8" name="">
            <a:extLst>
              <a:ext uri="{FF2B5EF4-FFF2-40B4-BE49-F238E27FC236}">
                <a16:creationId xmlns:a16="http://schemas.microsoft.com/office/drawing/2014/main" id="{A2DD91DF-1BC8-4F4E-9AB0-2B55DB203359}"/>
              </a:ext>
            </a:extLst>
          </p:cNvPr>
          <p:cNvSpPr>
            <a:spLocks noGrp="1"/>
          </p:cNvSpPr>
          <p:nvPr/>
        </p:nvSpPr>
        <p:spPr>
          <a:xfrm>
            <a:off x="0" y="0"/>
            <a:ext cx="12192000" cy="952500"/>
          </a:xfrm>
          <a:prstGeom prst="rect">
            <a:avLst/>
          </a:prstGeom>
          <a:solidFill>
            <a:srgbClr val="20567B"/>
          </a:solidFill>
          <a:ln w="9525">
            <a:solidFill>
              <a:srgbClr val="20567B"/>
            </a:solidFill>
          </a:ln>
        </p:spPr>
        <p:txBody>
          <a:bodyPr/>
          <a:p/>
        </p:txBody>
      </p:sp>
      <p:sp>
        <p:nvSpPr>
          <p:cNvPr id="2" name="">
            <a:extLst>
              <a:ext uri="{FF2B5EF4-FFF2-40B4-BE49-F238E27FC236}">
                <a16:creationId xmlns:a16="http://schemas.microsoft.com/office/drawing/2014/main" id="{C93E37DA-E3BE-4B30-851A-78B8357C043D}"/>
              </a:ext>
            </a:extLst>
          </p:cNvPr>
          <p:cNvSpPr>
            <a:spLocks noGrp="1"/>
          </p:cNvSpPr>
          <p:nvPr/>
        </p:nvSpPr>
        <p:spPr>
          <a:xfrm>
            <a:off x="542925" y="66675"/>
            <a:ext cx="11239500" cy="800100"/>
          </a:xfrm>
          <a:prstGeom prst="rect">
            <a:avLst/>
          </a:prstGeom>
          <a:noFill/>
          <a:ln w="0">
            <a:noFill/>
          </a:ln>
        </p:spPr>
        <p:txBody>
          <a:bodyPr lIns="0" tIns="0" rIns="0" bIns="0" anchor="ctr">
            <a:no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Quỹ đạo SOH trên cell test</a:t>
            </a:r>
          </a:p>
        </p:txBody>
      </p:sp>
      <p:sp>
        <p:nvSpPr>
          <p:cNvPr id="3" name="">
            <a:extLst>
              <a:ext uri="{FF2B5EF4-FFF2-40B4-BE49-F238E27FC236}">
                <a16:creationId xmlns:a16="http://schemas.microsoft.com/office/drawing/2014/main" id="{8C9AE867-B456-4135-B8DB-629FD7A4BC8E}"/>
              </a:ext>
            </a:extLst>
          </p:cNvPr>
          <p:cNvSpPr>
            <a:spLocks noGrp="1"/>
          </p:cNvSpPr>
          <p:nvPr/>
        </p:nvSpPr>
        <p:spPr>
          <a:xfrm>
            <a:off x="11144250" y="6400800"/>
            <a:ext cx="333375" cy="257175"/>
          </a:xfrm>
          <a:prstGeom prst="rect">
            <a:avLst/>
          </a:prstGeom>
          <a:noFill/>
          <a:ln w="0">
            <a:noFill/>
          </a:ln>
        </p:spPr>
        <p:txBody>
          <a:bodyPr lIns="0" tIns="0" rIns="0" bIns="0" anchor="ctr">
            <a:noAutofit/>
          </a:bodyPr>
          <a:lstStyle/>
          <a:p>
            <a:pPr algn="l">
              <a:defRPr sz="1200" b="1">
                <a:solidFill>
                  <a:srgbClr val="20567B"/>
                </a:solidFill>
                <a:latin typeface="Arial"/>
                <a:ea typeface="Arial"/>
                <a:cs typeface="Arial"/>
              </a:defRPr>
            </a:pPr>
            <a:r>
              <a:rPr sz="1200" b="1">
                <a:solidFill>
                  <a:srgbClr val="20567B"/>
                </a:solidFill>
                <a:latin typeface="Arial"/>
                <a:ea typeface="Arial"/>
                <a:cs typeface="Arial"/>
              </a:rPr>
              <a:t>25</a:t>
            </a:r>
          </a:p>
        </p:txBody>
      </p:sp>
      <p:pic>
        <p:nvPicPr>
          <p:cNvPr id="11" name=""/>
          <p:cNvPicPr>
            <a:picLocks noChangeAspect="1"/>
          </p:cNvPicPr>
          <p:nvPr/>
        </p:nvPicPr>
        <p:blipFill>
          <a:blip r:embed="rId2"/>
          <a:stretch/>
        </p:blipFill>
        <p:spPr>
          <a:xfrm>
            <a:off x="11696700" y="6384974"/>
            <a:ext cx="285750" cy="260252"/>
          </a:xfrm>
          <a:prstGeom prst="rect">
            <a:avLst/>
          </a:prstGeom>
        </p:spPr>
      </p:pic>
      <p:sp>
        <p:nvSpPr>
          <p:cNvPr id="7" name="">
            <a:extLst>
              <a:ext uri="{FF2B5EF4-FFF2-40B4-BE49-F238E27FC236}">
                <a16:creationId xmlns:a16="http://schemas.microsoft.com/office/drawing/2014/main" id="{FE87EB31-9DAF-4A34-A06D-4F9989BF6B1E}"/>
              </a:ext>
            </a:extLst>
          </p:cNvPr>
          <p:cNvSpPr>
            <a:spLocks noGrp="1"/>
          </p:cNvSpPr>
          <p:nvPr/>
        </p:nvSpPr>
        <p:spPr>
          <a:xfrm>
            <a:off x="619125" y="6105525"/>
            <a:ext cx="10715625" cy="304800"/>
          </a:xfrm>
          <a:prstGeom prst="rect">
            <a:avLst/>
          </a:prstGeom>
          <a:noFill/>
          <a:ln w="0">
            <a:noFill/>
          </a:ln>
        </p:spPr>
        <p:txBody>
          <a:bodyPr lIns="0" tIns="0" rIns="0" bIns="0" anchor="ctr">
            <a:noAutofit/>
          </a:bodyPr>
          <a:lstStyle/>
          <a:p>
            <a:pPr algn="l">
              <a:defRPr sz="1275" b="0">
                <a:solidFill>
                  <a:srgbClr val="526778"/>
                </a:solidFill>
                <a:latin typeface="Arial"/>
                <a:ea typeface="Arial"/>
                <a:cs typeface="Arial"/>
              </a:defRPr>
            </a:pPr>
            <a:r>
              <a:rPr sz="1275" b="0">
                <a:solidFill>
                  <a:srgbClr val="526778"/>
                </a:solidFill>
                <a:latin typeface="Arial"/>
                <a:ea typeface="Arial"/>
                <a:cs typeface="Arial"/>
              </a:rPr>
              <a:t>MAE ×10⁻³ (MLP 30 / PINN 30 / MLP 70): XJTU 10,6 / 8,2 / 16,2 · TJU 9,0 / 10,2 / 5,0 · MIT 2,6 / 3,8 / 2,3 · HUST 17,5 / 10,0 / 15,7</a:t>
            </a:r>
          </a:p>
        </p:txBody>
      </p:sp>
      <p:sp>
        <p:nvSpPr>
          <p:cNvPr id="5" name="">
            <a:extLst>
              <a:ext uri="{FF2B5EF4-FFF2-40B4-BE49-F238E27FC236}">
                <a16:creationId xmlns:a16="http://schemas.microsoft.com/office/drawing/2014/main" id="{61ADA485-A3D9-4801-AF20-EEDA600A294B}"/>
              </a:ext>
            </a:extLst>
          </p:cNvPr>
          <p:cNvSpPr>
            <a:spLocks noGrp="1"/>
          </p:cNvSpPr>
          <p:nvPr/>
        </p:nvSpPr>
        <p:spPr>
          <a:xfrm>
            <a:off x="521207" y="1234440"/>
            <a:ext cx="11146536" cy="4709160"/>
          </a:xfrm>
          <a:prstGeom prst="rect">
            <a:avLst/>
          </a:prstGeom>
          <a:solidFill>
            <a:srgbClr val="FFFFFF"/>
          </a:solidFill>
          <a:ln w="9525">
            <a:solidFill>
              <a:srgbClr val="A7BAC7"/>
            </a:solidFill>
          </a:ln>
        </p:spPr>
      </p:sp>
      <p:sp>
        <p:nvSpPr>
          <p:cNvPr id="6" name="">
            <a:extLst>
              <a:ext uri="{FF2B5EF4-FFF2-40B4-BE49-F238E27FC236}">
                <a16:creationId xmlns:a16="http://schemas.microsoft.com/office/drawing/2014/main" id="{19595B2A-1A2C-4338-94FD-1F2A97C1B0E9}"/>
              </a:ext>
            </a:extLst>
          </p:cNvPr>
          <p:cNvSpPr>
            <a:spLocks noGrp="1"/>
          </p:cNvSpPr>
          <p:nvPr/>
        </p:nvSpPr>
        <p:spPr>
          <a:xfrm>
            <a:off x="667512" y="1325880"/>
            <a:ext cx="10858500" cy="323850"/>
          </a:xfrm>
          <a:prstGeom prst="rect">
            <a:avLst/>
          </a:prstGeom>
          <a:noFill/>
          <a:ln w="0">
            <a:noFill/>
          </a:ln>
        </p:spPr>
        <p:txBody>
          <a:bodyPr lIns="0" tIns="0" rIns="0" bIns="0" anchor="ctr">
            <a:noAutofit/>
          </a:bodyPr>
          <a:lstStyle/>
          <a:p>
            <a:pPr algn="l">
              <a:defRPr sz="1800" b="1">
                <a:solidFill>
                  <a:srgbClr val="20567B"/>
                </a:solidFill>
                <a:latin typeface="Arial"/>
                <a:ea typeface="Arial"/>
                <a:cs typeface="Arial"/>
              </a:defRPr>
            </a:pPr>
            <a:r>
              <a:rPr sz="1800" b="1">
                <a:solidFill>
                  <a:srgbClr val="20567B"/>
                </a:solidFill>
                <a:latin typeface="Arial"/>
                <a:ea typeface="Arial"/>
                <a:cs typeface="Arial"/>
              </a:rPr>
              <a:t>KHUNG KẾT QUẢ 6 · cell có MAE của MLP đúng trung vị mỗi bộ</a:t>
            </a:r>
          </a:p>
        </p:txBody>
      </p:sp>
      <p:pic>
        <p:nvPicPr>
          <p:cNvPr id="12" name="Picture 11" descr="fig_E13_traj.png"/>
          <p:cNvPicPr>
            <a:picLocks noChangeAspect="1"/>
          </p:cNvPicPr>
          <p:nvPr/>
        </p:nvPicPr>
        <p:blipFill>
          <a:blip r:embed="rId3"/>
          <a:stretch>
            <a:fillRect/>
          </a:stretch>
        </p:blipFill>
        <p:spPr>
          <a:xfrm>
            <a:off x="667512" y="2212704"/>
            <a:ext cx="10881360" cy="3118391"/>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8" name="">
            <a:extLst>
              <a:ext uri="{FF2B5EF4-FFF2-40B4-BE49-F238E27FC236}">
                <a16:creationId xmlns:a16="http://schemas.microsoft.com/office/drawing/2014/main" id="{A2DD91DF-1BC8-4F4E-9AB0-2B55DB203359}"/>
              </a:ext>
            </a:extLst>
          </p:cNvPr>
          <p:cNvSpPr>
            <a:spLocks noGrp="1"/>
          </p:cNvSpPr>
          <p:nvPr/>
        </p:nvSpPr>
        <p:spPr>
          <a:xfrm>
            <a:off x="0" y="0"/>
            <a:ext cx="12192000" cy="952500"/>
          </a:xfrm>
          <a:prstGeom prst="rect">
            <a:avLst/>
          </a:prstGeom>
          <a:solidFill>
            <a:srgbClr val="20567B"/>
          </a:solidFill>
          <a:ln w="9525">
            <a:solidFill>
              <a:srgbClr val="20567B"/>
            </a:solidFill>
          </a:ln>
        </p:spPr>
        <p:txBody>
          <a:bodyPr/>
          <a:p/>
        </p:txBody>
      </p:sp>
      <p:sp>
        <p:nvSpPr>
          <p:cNvPr id="2" name="">
            <a:extLst>
              <a:ext uri="{FF2B5EF4-FFF2-40B4-BE49-F238E27FC236}">
                <a16:creationId xmlns:a16="http://schemas.microsoft.com/office/drawing/2014/main" id="{C93E37DA-E3BE-4B30-851A-78B8357C043D}"/>
              </a:ext>
            </a:extLst>
          </p:cNvPr>
          <p:cNvSpPr>
            <a:spLocks noGrp="1"/>
          </p:cNvSpPr>
          <p:nvPr/>
        </p:nvSpPr>
        <p:spPr>
          <a:xfrm>
            <a:off x="542925" y="66675"/>
            <a:ext cx="11239500" cy="800100"/>
          </a:xfrm>
          <a:prstGeom prst="rect">
            <a:avLst/>
          </a:prstGeom>
          <a:noFill/>
          <a:ln w="0">
            <a:noFill/>
          </a:ln>
        </p:spPr>
        <p:txBody>
          <a:bodyPr lIns="0" tIns="0" rIns="0" bIns="0" anchor="ctr">
            <a:no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Chỉ số phụ: cuối đời và tính hợp lý của quỹ đạo</a:t>
            </a:r>
          </a:p>
        </p:txBody>
      </p:sp>
      <p:sp>
        <p:nvSpPr>
          <p:cNvPr id="3" name="">
            <a:extLst>
              <a:ext uri="{FF2B5EF4-FFF2-40B4-BE49-F238E27FC236}">
                <a16:creationId xmlns:a16="http://schemas.microsoft.com/office/drawing/2014/main" id="{8C9AE867-B456-4135-B8DB-629FD7A4BC8E}"/>
              </a:ext>
            </a:extLst>
          </p:cNvPr>
          <p:cNvSpPr>
            <a:spLocks noGrp="1"/>
          </p:cNvSpPr>
          <p:nvPr/>
        </p:nvSpPr>
        <p:spPr>
          <a:xfrm>
            <a:off x="11144250" y="6400800"/>
            <a:ext cx="333375" cy="257175"/>
          </a:xfrm>
          <a:prstGeom prst="rect">
            <a:avLst/>
          </a:prstGeom>
          <a:noFill/>
          <a:ln w="0">
            <a:noFill/>
          </a:ln>
        </p:spPr>
        <p:txBody>
          <a:bodyPr lIns="0" tIns="0" rIns="0" bIns="0" anchor="ctr">
            <a:noAutofit/>
          </a:bodyPr>
          <a:lstStyle/>
          <a:p>
            <a:pPr algn="l">
              <a:defRPr sz="1200" b="1">
                <a:solidFill>
                  <a:srgbClr val="20567B"/>
                </a:solidFill>
                <a:latin typeface="Arial"/>
                <a:ea typeface="Arial"/>
                <a:cs typeface="Arial"/>
              </a:defRPr>
            </a:pPr>
            <a:r>
              <a:rPr sz="1200" b="1">
                <a:solidFill>
                  <a:srgbClr val="20567B"/>
                </a:solidFill>
                <a:latin typeface="Arial"/>
                <a:ea typeface="Arial"/>
                <a:cs typeface="Arial"/>
              </a:rPr>
              <a:t>26</a:t>
            </a:r>
          </a:p>
        </p:txBody>
      </p:sp>
      <p:pic>
        <p:nvPicPr>
          <p:cNvPr id="11" name=""/>
          <p:cNvPicPr>
            <a:picLocks noChangeAspect="1"/>
          </p:cNvPicPr>
          <p:nvPr/>
        </p:nvPicPr>
        <p:blipFill>
          <a:blip r:embed="rId2"/>
          <a:stretch/>
        </p:blipFill>
        <p:spPr>
          <a:xfrm>
            <a:off x="11696700" y="6384974"/>
            <a:ext cx="285750" cy="260252"/>
          </a:xfrm>
          <a:prstGeom prst="rect">
            <a:avLst/>
          </a:prstGeom>
        </p:spPr>
      </p:pic>
      <p:graphicFrame>
        <p:nvGraphicFramePr>
          <p:cNvPr id="12" name=""/>
          <p:cNvGraphicFramePr/>
          <p:nvPr/>
        </p:nvGraphicFramePr>
        <p:xfrm>
          <a:off x="533400" y="1457325"/>
          <a:ext cx="11128248" cy="3291840"/>
        </p:xfrm>
        <a:graphic>
          <a:graphicData uri="http://schemas.openxmlformats.org/drawingml/2006/table">
            <a:tbl>
              <a:tblPr/>
              <a:tblGrid>
                <a:gridCol w="1097280"/>
                <a:gridCol w="2011680"/>
                <a:gridCol w="1600200"/>
                <a:gridCol w="1463040"/>
                <a:gridCol w="1737360"/>
                <a:gridCol w="1737360"/>
                <a:gridCol w="1481328"/>
              </a:tblGrid>
              <a:tr h="365760">
                <a:tc>
                  <a:txBody>
                    <a:bodyPr/>
                    <a:lstStyle/>
                    <a:p>
                      <a:pPr algn="l"/>
                      <a:r>
                        <a:rPr sz="1300" b="1">
                          <a:solidFill>
                            <a:srgbClr val="FFFFFF"/>
                          </a:solidFill>
                          <a:latin typeface="Arial"/>
                          <a:ea typeface="Arial"/>
                          <a:cs typeface="Arial"/>
                        </a:rPr>
                        <a:t>Bộ</a:t>
                      </a:r>
                    </a:p>
                  </a:txBody>
                  <a:tcPr marL="91440" marR="91440" marT="45720" marB="45720" anchor="ctr">
                    <a:solidFill>
                      <a:srgbClr val="20567B"/>
                    </a:solidFill>
                  </a:tcPr>
                </a:tc>
                <a:tc>
                  <a:txBody>
                    <a:bodyPr/>
                    <a:lstStyle/>
                    <a:p>
                      <a:pPr algn="l"/>
                      <a:r>
                        <a:rPr sz="1300" b="1">
                          <a:solidFill>
                            <a:srgbClr val="FFFFFF"/>
                          </a:solidFill>
                          <a:latin typeface="Arial"/>
                          <a:ea typeface="Arial"/>
                          <a:cs typeface="Arial"/>
                        </a:rPr>
                        <a:t>Mô hình</a:t>
                      </a:r>
                    </a:p>
                  </a:txBody>
                  <a:tcPr marL="91440" marR="91440" marT="45720" marB="45720" anchor="ctr">
                    <a:solidFill>
                      <a:srgbClr val="20567B"/>
                    </a:solidFill>
                  </a:tcPr>
                </a:tc>
                <a:tc>
                  <a:txBody>
                    <a:bodyPr/>
                    <a:lstStyle/>
                    <a:p>
                      <a:pPr algn="l"/>
                      <a:r>
                        <a:rPr sz="1300" b="1">
                          <a:solidFill>
                            <a:srgbClr val="FFFFFF"/>
                          </a:solidFill>
                          <a:latin typeface="Arial"/>
                          <a:ea typeface="Arial"/>
                          <a:cs typeface="Arial"/>
                        </a:rPr>
                        <a:t>MAE SOH ≤ 0,9</a:t>
                      </a:r>
                    </a:p>
                  </a:txBody>
                  <a:tcPr marL="91440" marR="91440" marT="45720" marB="45720" anchor="ctr">
                    <a:solidFill>
                      <a:srgbClr val="20567B"/>
                    </a:solidFill>
                  </a:tcPr>
                </a:tc>
                <a:tc>
                  <a:txBody>
                    <a:bodyPr/>
                    <a:lstStyle/>
                    <a:p>
                      <a:pPr algn="l"/>
                      <a:r>
                        <a:rPr sz="1300" b="1">
                          <a:solidFill>
                            <a:srgbClr val="FFFFFF"/>
                          </a:solidFill>
                          <a:latin typeface="Arial"/>
                          <a:ea typeface="Arial"/>
                          <a:cs typeface="Arial"/>
                        </a:rPr>
                        <a:t>EOL MAE (ck)</a:t>
                      </a:r>
                    </a:p>
                  </a:txBody>
                  <a:tcPr marL="91440" marR="91440" marT="45720" marB="45720" anchor="ctr">
                    <a:solidFill>
                      <a:srgbClr val="20567B"/>
                    </a:solidFill>
                  </a:tcPr>
                </a:tc>
                <a:tc>
                  <a:txBody>
                    <a:bodyPr/>
                    <a:lstStyle/>
                    <a:p>
                      <a:pPr algn="l"/>
                      <a:r>
                        <a:rPr sz="1300" b="1">
                          <a:solidFill>
                            <a:srgbClr val="FFFFFF"/>
                          </a:solidFill>
                          <a:latin typeface="Arial"/>
                          <a:ea typeface="Arial"/>
                          <a:cs typeface="Arial"/>
                        </a:rPr>
                        <a:t>bỏ sót / báo giả</a:t>
                      </a:r>
                    </a:p>
                  </a:txBody>
                  <a:tcPr marL="91440" marR="91440" marT="45720" marB="45720" anchor="ctr">
                    <a:solidFill>
                      <a:srgbClr val="20567B"/>
                    </a:solidFill>
                  </a:tcPr>
                </a:tc>
                <a:tc>
                  <a:txBody>
                    <a:bodyPr/>
                    <a:lstStyle/>
                    <a:p>
                      <a:pPr algn="l"/>
                      <a:r>
                        <a:rPr sz="1300" b="1">
                          <a:solidFill>
                            <a:srgbClr val="FFFFFF"/>
                          </a:solidFill>
                          <a:latin typeface="Arial"/>
                          <a:ea typeface="Arial"/>
                          <a:cs typeface="Arial"/>
                        </a:rPr>
                        <a:t>Vi phạm đơn điệu</a:t>
                      </a:r>
                    </a:p>
                  </a:txBody>
                  <a:tcPr marL="91440" marR="91440" marT="45720" marB="45720" anchor="ctr">
                    <a:solidFill>
                      <a:srgbClr val="20567B"/>
                    </a:solidFill>
                  </a:tcPr>
                </a:tc>
                <a:tc>
                  <a:txBody>
                    <a:bodyPr/>
                    <a:lstStyle/>
                    <a:p>
                      <a:pPr algn="l"/>
                      <a:r>
                        <a:rPr sz="1300" b="1">
                          <a:solidFill>
                            <a:srgbClr val="FFFFFF"/>
                          </a:solidFill>
                          <a:latin typeface="Arial"/>
                          <a:ea typeface="Arial"/>
                          <a:cs typeface="Arial"/>
                        </a:rPr>
                        <a:t>Jitter ×10⁻³</a:t>
                      </a:r>
                    </a:p>
                  </a:txBody>
                  <a:tcPr marL="91440" marR="91440" marT="45720" marB="45720" anchor="ctr">
                    <a:solidFill>
                      <a:srgbClr val="20567B"/>
                    </a:solidFill>
                  </a:tcPr>
                </a:tc>
              </a:tr>
              <a:tr h="365760">
                <a:tc>
                  <a:txBody>
                    <a:bodyPr/>
                    <a:lstStyle/>
                    <a:p>
                      <a:pPr algn="l"/>
                      <a:r>
                        <a:rPr sz="1300" b="0">
                          <a:solidFill>
                            <a:srgbClr val="163047"/>
                          </a:solidFill>
                          <a:latin typeface="Arial"/>
                          <a:ea typeface="Arial"/>
                          <a:cs typeface="Arial"/>
                        </a:rPr>
                        <a:t>XJTU</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MLP 30 %</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24,83</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27,2</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17 / 5</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0,303</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6,73</a:t>
                      </a:r>
                    </a:p>
                  </a:txBody>
                  <a:tcPr marL="91440" marR="91440" marT="45720" marB="45720" anchor="ctr">
                    <a:solidFill>
                      <a:srgbClr val="EAF3F7"/>
                    </a:solidFill>
                  </a:tcPr>
                </a:tc>
              </a:tr>
              <a:tr h="365760">
                <a:tc>
                  <a:txBody>
                    <a:bodyPr/>
                    <a:lstStyle/>
                    <a:p>
                      <a:pPr algn="l"/>
                      <a:r>
                        <a:rPr sz="1300" b="0">
                          <a:solidFill>
                            <a:srgbClr val="163047"/>
                          </a:solidFill>
                          <a:latin typeface="Arial"/>
                          <a:ea typeface="Arial"/>
                          <a:cs typeface="Arial"/>
                        </a:rPr>
                        <a:t>XJTU</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PINN-semi 30 %</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22,65</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16,9</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43 / 0</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0,136</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3,23</a:t>
                      </a:r>
                    </a:p>
                  </a:txBody>
                  <a:tcPr marL="91440" marR="91440" marT="45720" marB="45720" anchor="ctr">
                    <a:solidFill>
                      <a:srgbClr val="FFFFFF"/>
                    </a:solidFill>
                  </a:tcPr>
                </a:tc>
              </a:tr>
              <a:tr h="365760">
                <a:tc>
                  <a:txBody>
                    <a:bodyPr/>
                    <a:lstStyle/>
                    <a:p>
                      <a:pPr algn="l"/>
                      <a:r>
                        <a:rPr sz="1300" b="0">
                          <a:solidFill>
                            <a:srgbClr val="163047"/>
                          </a:solidFill>
                          <a:latin typeface="Arial"/>
                          <a:ea typeface="Arial"/>
                          <a:cs typeface="Arial"/>
                        </a:rPr>
                        <a:t>TJU</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MLP 30 %</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9,30</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25,4</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7 / 15</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0,185</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4,56</a:t>
                      </a:r>
                    </a:p>
                  </a:txBody>
                  <a:tcPr marL="91440" marR="91440" marT="45720" marB="45720" anchor="ctr">
                    <a:solidFill>
                      <a:srgbClr val="EAF3F7"/>
                    </a:solidFill>
                  </a:tcPr>
                </a:tc>
              </a:tr>
              <a:tr h="365760">
                <a:tc>
                  <a:txBody>
                    <a:bodyPr/>
                    <a:lstStyle/>
                    <a:p>
                      <a:pPr algn="l"/>
                      <a:r>
                        <a:rPr sz="1300" b="0">
                          <a:solidFill>
                            <a:srgbClr val="163047"/>
                          </a:solidFill>
                          <a:latin typeface="Arial"/>
                          <a:ea typeface="Arial"/>
                          <a:cs typeface="Arial"/>
                        </a:rPr>
                        <a:t>TJU</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PINN-semi 30 %</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8,99</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22,1</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9 / 12</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0,097</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2,79</a:t>
                      </a:r>
                    </a:p>
                  </a:txBody>
                  <a:tcPr marL="91440" marR="91440" marT="45720" marB="45720" anchor="ctr">
                    <a:solidFill>
                      <a:srgbClr val="FFFFFF"/>
                    </a:solidFill>
                  </a:tcPr>
                </a:tc>
              </a:tr>
              <a:tr h="365760">
                <a:tc>
                  <a:txBody>
                    <a:bodyPr/>
                    <a:lstStyle/>
                    <a:p>
                      <a:pPr algn="l"/>
                      <a:r>
                        <a:rPr sz="1300" b="0">
                          <a:solidFill>
                            <a:srgbClr val="163047"/>
                          </a:solidFill>
                          <a:latin typeface="Arial"/>
                          <a:ea typeface="Arial"/>
                          <a:cs typeface="Arial"/>
                        </a:rPr>
                        <a:t>MIT</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MLP 30 %</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5,56</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18,9</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28 / 19</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0,106</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2,47</a:t>
                      </a:r>
                    </a:p>
                  </a:txBody>
                  <a:tcPr marL="91440" marR="91440" marT="45720" marB="45720" anchor="ctr">
                    <a:solidFill>
                      <a:srgbClr val="EAF3F7"/>
                    </a:solidFill>
                  </a:tcPr>
                </a:tc>
              </a:tr>
              <a:tr h="365760">
                <a:tc>
                  <a:txBody>
                    <a:bodyPr/>
                    <a:lstStyle/>
                    <a:p>
                      <a:pPr algn="l"/>
                      <a:r>
                        <a:rPr sz="1300" b="0">
                          <a:solidFill>
                            <a:srgbClr val="163047"/>
                          </a:solidFill>
                          <a:latin typeface="Arial"/>
                          <a:ea typeface="Arial"/>
                          <a:cs typeface="Arial"/>
                        </a:rPr>
                        <a:t>MIT</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PINN-semi 30 %</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3,50</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17,0</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21 / 12</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0,048</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1,27</a:t>
                      </a:r>
                    </a:p>
                  </a:txBody>
                  <a:tcPr marL="91440" marR="91440" marT="45720" marB="45720" anchor="ctr">
                    <a:solidFill>
                      <a:srgbClr val="FFFFFF"/>
                    </a:solidFill>
                  </a:tcPr>
                </a:tc>
              </a:tr>
              <a:tr h="365760">
                <a:tc>
                  <a:txBody>
                    <a:bodyPr/>
                    <a:lstStyle/>
                    <a:p>
                      <a:pPr algn="l"/>
                      <a:r>
                        <a:rPr sz="1300" b="0">
                          <a:solidFill>
                            <a:srgbClr val="163047"/>
                          </a:solidFill>
                          <a:latin typeface="Arial"/>
                          <a:ea typeface="Arial"/>
                          <a:cs typeface="Arial"/>
                        </a:rPr>
                        <a:t>HUST</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MLP 30 %</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38,31</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132,5</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124 / 0</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0,264</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5,42</a:t>
                      </a:r>
                    </a:p>
                  </a:txBody>
                  <a:tcPr marL="91440" marR="91440" marT="45720" marB="45720" anchor="ctr">
                    <a:solidFill>
                      <a:srgbClr val="EAF3F7"/>
                    </a:solidFill>
                  </a:tcPr>
                </a:tc>
              </a:tr>
              <a:tr h="365760">
                <a:tc>
                  <a:txBody>
                    <a:bodyPr/>
                    <a:lstStyle/>
                    <a:p>
                      <a:pPr algn="l"/>
                      <a:r>
                        <a:rPr sz="1300" b="0">
                          <a:solidFill>
                            <a:srgbClr val="163047"/>
                          </a:solidFill>
                          <a:latin typeface="Arial"/>
                          <a:ea typeface="Arial"/>
                          <a:cs typeface="Arial"/>
                        </a:rPr>
                        <a:t>HUST</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PINN-semi 30 %</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34,91</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116,8</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157 / 0</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0,097</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2,07</a:t>
                      </a:r>
                    </a:p>
                  </a:txBody>
                  <a:tcPr marL="91440" marR="91440" marT="45720" marB="45720" anchor="ctr">
                    <a:solidFill>
                      <a:srgbClr val="FFFFFF"/>
                    </a:solidFill>
                  </a:tcPr>
                </a:tc>
              </a:tr>
            </a:tbl>
          </a:graphicData>
        </a:graphic>
      </p:graphicFrame>
      <p:sp>
        <p:nvSpPr>
          <p:cNvPr id="7" name="">
            <a:extLst>
              <a:ext uri="{FF2B5EF4-FFF2-40B4-BE49-F238E27FC236}">
                <a16:creationId xmlns:a16="http://schemas.microsoft.com/office/drawing/2014/main" id="{FE87EB31-9DAF-4A34-A06D-4F9989BF6B1E}"/>
              </a:ext>
            </a:extLst>
          </p:cNvPr>
          <p:cNvSpPr>
            <a:spLocks noGrp="1"/>
          </p:cNvSpPr>
          <p:nvPr/>
        </p:nvSpPr>
        <p:spPr>
          <a:xfrm>
            <a:off x="619125" y="6105525"/>
            <a:ext cx="10715625" cy="304800"/>
          </a:xfrm>
          <a:prstGeom prst="rect">
            <a:avLst/>
          </a:prstGeom>
          <a:noFill/>
          <a:ln w="0">
            <a:noFill/>
          </a:ln>
        </p:spPr>
        <p:txBody>
          <a:bodyPr lIns="0" tIns="0" rIns="0" bIns="0" anchor="ctr">
            <a:noAutofit/>
          </a:bodyPr>
          <a:lstStyle/>
          <a:p>
            <a:pPr algn="l">
              <a:defRPr sz="1275" b="0">
                <a:solidFill>
                  <a:srgbClr val="526778"/>
                </a:solidFill>
                <a:latin typeface="Arial"/>
                <a:ea typeface="Arial"/>
                <a:cs typeface="Arial"/>
              </a:defRPr>
            </a:pPr>
            <a:r>
              <a:rPr sz="1275" b="0">
                <a:solidFill>
                  <a:srgbClr val="526778"/>
                </a:solidFill>
                <a:latin typeface="Arial"/>
                <a:ea typeface="Arial"/>
                <a:cs typeface="Arial"/>
              </a:rPr>
              <a:t>EOL tại SOH 0,85 theo chu kỳ gốc, trên các lượt mà nhãn và dự đoán cùng cắt ngưỡng. Vi phạm đơn điệu = tổng bước tăng ngược / 100 chu kỳ. MAE SOH ≤ 0,9 đơn vị ×10⁻³.</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8" name="">
            <a:extLst>
              <a:ext uri="{FF2B5EF4-FFF2-40B4-BE49-F238E27FC236}">
                <a16:creationId xmlns:a16="http://schemas.microsoft.com/office/drawing/2014/main" id="{A2DD91DF-1BC8-4F4E-9AB0-2B55DB203359}"/>
              </a:ext>
            </a:extLst>
          </p:cNvPr>
          <p:cNvSpPr>
            <a:spLocks noGrp="1"/>
          </p:cNvSpPr>
          <p:nvPr/>
        </p:nvSpPr>
        <p:spPr>
          <a:xfrm>
            <a:off x="0" y="0"/>
            <a:ext cx="12192000" cy="952500"/>
          </a:xfrm>
          <a:prstGeom prst="rect">
            <a:avLst/>
          </a:prstGeom>
          <a:solidFill>
            <a:srgbClr val="20567B"/>
          </a:solidFill>
          <a:ln w="9525">
            <a:solidFill>
              <a:srgbClr val="20567B"/>
            </a:solidFill>
          </a:ln>
        </p:spPr>
        <p:txBody>
          <a:bodyPr/>
          <a:p/>
        </p:txBody>
      </p:sp>
      <p:sp>
        <p:nvSpPr>
          <p:cNvPr id="2" name="">
            <a:extLst>
              <a:ext uri="{FF2B5EF4-FFF2-40B4-BE49-F238E27FC236}">
                <a16:creationId xmlns:a16="http://schemas.microsoft.com/office/drawing/2014/main" id="{C93E37DA-E3BE-4B30-851A-78B8357C043D}"/>
              </a:ext>
            </a:extLst>
          </p:cNvPr>
          <p:cNvSpPr>
            <a:spLocks noGrp="1"/>
          </p:cNvSpPr>
          <p:nvPr/>
        </p:nvSpPr>
        <p:spPr>
          <a:xfrm>
            <a:off x="542925" y="66675"/>
            <a:ext cx="11239500" cy="800100"/>
          </a:xfrm>
          <a:prstGeom prst="rect">
            <a:avLst/>
          </a:prstGeom>
          <a:noFill/>
          <a:ln w="0">
            <a:noFill/>
          </a:ln>
        </p:spPr>
        <p:txBody>
          <a:bodyPr lIns="0" tIns="0" rIns="0" bIns="0" anchor="ctr">
            <a:no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E14: chuyển miền khi dùng cùng normalizer</a:t>
            </a:r>
          </a:p>
        </p:txBody>
      </p:sp>
      <p:sp>
        <p:nvSpPr>
          <p:cNvPr id="3" name="">
            <a:extLst>
              <a:ext uri="{FF2B5EF4-FFF2-40B4-BE49-F238E27FC236}">
                <a16:creationId xmlns:a16="http://schemas.microsoft.com/office/drawing/2014/main" id="{8C9AE867-B456-4135-B8DB-629FD7A4BC8E}"/>
              </a:ext>
            </a:extLst>
          </p:cNvPr>
          <p:cNvSpPr>
            <a:spLocks noGrp="1"/>
          </p:cNvSpPr>
          <p:nvPr/>
        </p:nvSpPr>
        <p:spPr>
          <a:xfrm>
            <a:off x="11144250" y="6400800"/>
            <a:ext cx="333375" cy="257175"/>
          </a:xfrm>
          <a:prstGeom prst="rect">
            <a:avLst/>
          </a:prstGeom>
          <a:noFill/>
          <a:ln w="0">
            <a:noFill/>
          </a:ln>
        </p:spPr>
        <p:txBody>
          <a:bodyPr lIns="0" tIns="0" rIns="0" bIns="0" anchor="ctr">
            <a:noAutofit/>
          </a:bodyPr>
          <a:lstStyle/>
          <a:p>
            <a:pPr algn="l">
              <a:defRPr sz="1200" b="1">
                <a:solidFill>
                  <a:srgbClr val="20567B"/>
                </a:solidFill>
                <a:latin typeface="Arial"/>
                <a:ea typeface="Arial"/>
                <a:cs typeface="Arial"/>
              </a:defRPr>
            </a:pPr>
            <a:r>
              <a:rPr sz="1200" b="1">
                <a:solidFill>
                  <a:srgbClr val="20567B"/>
                </a:solidFill>
                <a:latin typeface="Arial"/>
                <a:ea typeface="Arial"/>
                <a:cs typeface="Arial"/>
              </a:rPr>
              <a:t>27</a:t>
            </a:r>
          </a:p>
        </p:txBody>
      </p:sp>
      <p:pic>
        <p:nvPicPr>
          <p:cNvPr id="11" name=""/>
          <p:cNvPicPr>
            <a:picLocks noChangeAspect="1"/>
          </p:cNvPicPr>
          <p:nvPr/>
        </p:nvPicPr>
        <p:blipFill>
          <a:blip r:embed="rId2"/>
          <a:stretch/>
        </p:blipFill>
        <p:spPr>
          <a:xfrm>
            <a:off x="11696700" y="6384974"/>
            <a:ext cx="285750" cy="260252"/>
          </a:xfrm>
          <a:prstGeom prst="rect">
            <a:avLst/>
          </a:prstGeom>
        </p:spPr>
      </p:pic>
      <p:graphicFrame>
        <p:nvGraphicFramePr>
          <p:cNvPr id="12" name=""/>
          <p:cNvGraphicFramePr/>
          <p:nvPr/>
        </p:nvGraphicFramePr>
        <p:xfrm>
          <a:off x="533400" y="1457325"/>
          <a:ext cx="11128248" cy="3291840"/>
        </p:xfrm>
        <a:graphic>
          <a:graphicData uri="http://schemas.openxmlformats.org/drawingml/2006/table">
            <a:tbl>
              <a:tblPr/>
              <a:tblGrid>
                <a:gridCol w="2377440"/>
                <a:gridCol w="640080"/>
                <a:gridCol w="2377440"/>
                <a:gridCol w="2377440"/>
                <a:gridCol w="1280160"/>
                <a:gridCol w="2075688"/>
              </a:tblGrid>
              <a:tr h="365760">
                <a:tc>
                  <a:txBody>
                    <a:bodyPr/>
                    <a:lstStyle/>
                    <a:p>
                      <a:pPr algn="l"/>
                      <a:r>
                        <a:rPr sz="1300" b="1">
                          <a:solidFill>
                            <a:srgbClr val="FFFFFF"/>
                          </a:solidFill>
                          <a:latin typeface="Arial"/>
                          <a:ea typeface="Arial"/>
                          <a:cs typeface="Arial"/>
                        </a:rPr>
                        <a:t>Nguồn → đích</a:t>
                      </a:r>
                    </a:p>
                  </a:txBody>
                  <a:tcPr marL="91440" marR="91440" marT="45720" marB="45720" anchor="ctr">
                    <a:solidFill>
                      <a:srgbClr val="20567B"/>
                    </a:solidFill>
                  </a:tcPr>
                </a:tc>
                <a:tc>
                  <a:txBody>
                    <a:bodyPr/>
                    <a:lstStyle/>
                    <a:p>
                      <a:pPr algn="l"/>
                      <a:r>
                        <a:rPr sz="1300" b="1">
                          <a:solidFill>
                            <a:srgbClr val="FFFFFF"/>
                          </a:solidFill>
                          <a:latin typeface="Arial"/>
                          <a:ea typeface="Arial"/>
                          <a:cs typeface="Arial"/>
                        </a:rPr>
                        <a:t>k</a:t>
                      </a:r>
                    </a:p>
                  </a:txBody>
                  <a:tcPr marL="91440" marR="91440" marT="45720" marB="45720" anchor="ctr">
                    <a:solidFill>
                      <a:srgbClr val="20567B"/>
                    </a:solidFill>
                  </a:tcPr>
                </a:tc>
                <a:tc>
                  <a:txBody>
                    <a:bodyPr/>
                    <a:lstStyle/>
                    <a:p>
                      <a:pPr algn="l"/>
                      <a:r>
                        <a:rPr sz="1300" b="1">
                          <a:solidFill>
                            <a:srgbClr val="FFFFFF"/>
                          </a:solidFill>
                          <a:latin typeface="Arial"/>
                          <a:ea typeface="Arial"/>
                          <a:cs typeface="Arial"/>
                        </a:rPr>
                        <a:t>MLP</a:t>
                      </a:r>
                    </a:p>
                  </a:txBody>
                  <a:tcPr marL="91440" marR="91440" marT="45720" marB="45720" anchor="ctr">
                    <a:solidFill>
                      <a:srgbClr val="20567B"/>
                    </a:solidFill>
                  </a:tcPr>
                </a:tc>
                <a:tc>
                  <a:txBody>
                    <a:bodyPr/>
                    <a:lstStyle/>
                    <a:p>
                      <a:pPr algn="l"/>
                      <a:r>
                        <a:rPr sz="1300" b="1">
                          <a:solidFill>
                            <a:srgbClr val="FFFFFF"/>
                          </a:solidFill>
                          <a:latin typeface="Arial"/>
                          <a:ea typeface="Arial"/>
                          <a:cs typeface="Arial"/>
                        </a:rPr>
                        <a:t>PINN-semi</a:t>
                      </a:r>
                    </a:p>
                  </a:txBody>
                  <a:tcPr marL="91440" marR="91440" marT="45720" marB="45720" anchor="ctr">
                    <a:solidFill>
                      <a:srgbClr val="20567B"/>
                    </a:solidFill>
                  </a:tcPr>
                </a:tc>
                <a:tc>
                  <a:txBody>
                    <a:bodyPr/>
                    <a:lstStyle/>
                    <a:p>
                      <a:pPr algn="l"/>
                      <a:r>
                        <a:rPr sz="1300" b="1">
                          <a:solidFill>
                            <a:srgbClr val="FFFFFF"/>
                          </a:solidFill>
                          <a:latin typeface="Arial"/>
                          <a:ea typeface="Arial"/>
                          <a:cs typeface="Arial"/>
                        </a:rPr>
                        <a:t>Tỉ số</a:t>
                      </a:r>
                    </a:p>
                  </a:txBody>
                  <a:tcPr marL="91440" marR="91440" marT="45720" marB="45720" anchor="ctr">
                    <a:solidFill>
                      <a:srgbClr val="20567B"/>
                    </a:solidFill>
                  </a:tcPr>
                </a:tc>
                <a:tc>
                  <a:txBody>
                    <a:bodyPr/>
                    <a:lstStyle/>
                    <a:p>
                      <a:pPr algn="l"/>
                      <a:r>
                        <a:rPr sz="1300" b="1">
                          <a:solidFill>
                            <a:srgbClr val="FFFFFF"/>
                          </a:solidFill>
                          <a:latin typeface="Arial"/>
                          <a:ea typeface="Arial"/>
                          <a:cs typeface="Arial"/>
                        </a:rPr>
                        <a:t>Seed PINN thắng</a:t>
                      </a:r>
                    </a:p>
                  </a:txBody>
                  <a:tcPr marL="91440" marR="91440" marT="45720" marB="45720" anchor="ctr">
                    <a:solidFill>
                      <a:srgbClr val="20567B"/>
                    </a:solidFill>
                  </a:tcPr>
                </a:tc>
              </a:tr>
              <a:tr h="365760">
                <a:tc>
                  <a:txBody>
                    <a:bodyPr/>
                    <a:lstStyle/>
                    <a:p>
                      <a:pPr algn="l"/>
                      <a:r>
                        <a:rPr sz="1300" b="0">
                          <a:solidFill>
                            <a:srgbClr val="163047"/>
                          </a:solidFill>
                          <a:latin typeface="Arial"/>
                          <a:ea typeface="Arial"/>
                          <a:cs typeface="Arial"/>
                        </a:rPr>
                        <a:t>HUST → MIT</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0</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2,4452 ± 0,7102</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0,0260 ± 0,0023</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0,011</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5/5</a:t>
                      </a:r>
                    </a:p>
                  </a:txBody>
                  <a:tcPr marL="91440" marR="91440" marT="45720" marB="45720" anchor="ctr">
                    <a:solidFill>
                      <a:srgbClr val="EAF3F7"/>
                    </a:solidFill>
                  </a:tcPr>
                </a:tc>
              </a:tr>
              <a:tr h="365760">
                <a:tc>
                  <a:txBody>
                    <a:bodyPr/>
                    <a:lstStyle/>
                    <a:p>
                      <a:pPr algn="l"/>
                      <a:r>
                        <a:rPr sz="1300" b="0">
                          <a:solidFill>
                            <a:srgbClr val="163047"/>
                          </a:solidFill>
                          <a:latin typeface="Arial"/>
                          <a:ea typeface="Arial"/>
                          <a:cs typeface="Arial"/>
                        </a:rPr>
                        <a:t>HUST → MIT</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3</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0,1365 ± 0,2285</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0,0076 ± 0,0017</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0,055</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5/5</a:t>
                      </a:r>
                    </a:p>
                  </a:txBody>
                  <a:tcPr marL="91440" marR="91440" marT="45720" marB="45720" anchor="ctr">
                    <a:solidFill>
                      <a:srgbClr val="FFFFFF"/>
                    </a:solidFill>
                  </a:tcPr>
                </a:tc>
              </a:tr>
              <a:tr h="365760">
                <a:tc>
                  <a:txBody>
                    <a:bodyPr/>
                    <a:lstStyle/>
                    <a:p>
                      <a:pPr algn="l"/>
                      <a:r>
                        <a:rPr sz="1300" b="0">
                          <a:solidFill>
                            <a:srgbClr val="163047"/>
                          </a:solidFill>
                          <a:latin typeface="Arial"/>
                          <a:ea typeface="Arial"/>
                          <a:cs typeface="Arial"/>
                        </a:rPr>
                        <a:t>MIT → HUST</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0</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0,5423 ± 0,0896</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0,0583 ± 0,0023</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0,108</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5/5</a:t>
                      </a:r>
                    </a:p>
                  </a:txBody>
                  <a:tcPr marL="91440" marR="91440" marT="45720" marB="45720" anchor="ctr">
                    <a:solidFill>
                      <a:srgbClr val="EAF3F7"/>
                    </a:solidFill>
                  </a:tcPr>
                </a:tc>
              </a:tr>
              <a:tr h="365760">
                <a:tc>
                  <a:txBody>
                    <a:bodyPr/>
                    <a:lstStyle/>
                    <a:p>
                      <a:pPr algn="l"/>
                      <a:r>
                        <a:rPr sz="1300" b="0">
                          <a:solidFill>
                            <a:srgbClr val="163047"/>
                          </a:solidFill>
                          <a:latin typeface="Arial"/>
                          <a:ea typeface="Arial"/>
                          <a:cs typeface="Arial"/>
                        </a:rPr>
                        <a:t>MIT → HUST</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3</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0,0306 ± 0,0111</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0,0256 ± 0,0112</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0,838</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5/5</a:t>
                      </a:r>
                    </a:p>
                  </a:txBody>
                  <a:tcPr marL="91440" marR="91440" marT="45720" marB="45720" anchor="ctr">
                    <a:solidFill>
                      <a:srgbClr val="FFFFFF"/>
                    </a:solidFill>
                  </a:tcPr>
                </a:tc>
              </a:tr>
              <a:tr h="365760">
                <a:tc>
                  <a:txBody>
                    <a:bodyPr/>
                    <a:lstStyle/>
                    <a:p>
                      <a:pPr algn="l"/>
                      <a:r>
                        <a:rPr sz="1300" b="0">
                          <a:solidFill>
                            <a:srgbClr val="163047"/>
                          </a:solidFill>
                          <a:latin typeface="Arial"/>
                          <a:ea typeface="Arial"/>
                          <a:cs typeface="Arial"/>
                        </a:rPr>
                        <a:t>TJU → XJTU</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0</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1,9983 ± 0,5680</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0,0951 ± 0,0209</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0,048</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5/5</a:t>
                      </a:r>
                    </a:p>
                  </a:txBody>
                  <a:tcPr marL="91440" marR="91440" marT="45720" marB="45720" anchor="ctr">
                    <a:solidFill>
                      <a:srgbClr val="EAF3F7"/>
                    </a:solidFill>
                  </a:tcPr>
                </a:tc>
              </a:tr>
              <a:tr h="365760">
                <a:tc>
                  <a:txBody>
                    <a:bodyPr/>
                    <a:lstStyle/>
                    <a:p>
                      <a:pPr algn="l"/>
                      <a:r>
                        <a:rPr sz="1300" b="0">
                          <a:solidFill>
                            <a:srgbClr val="163047"/>
                          </a:solidFill>
                          <a:latin typeface="Arial"/>
                          <a:ea typeface="Arial"/>
                          <a:cs typeface="Arial"/>
                        </a:rPr>
                        <a:t>TJU → XJTU</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3</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0,0303 ± 0,0166</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0,0285 ± 0,0155</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0,939</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2/5</a:t>
                      </a:r>
                    </a:p>
                  </a:txBody>
                  <a:tcPr marL="91440" marR="91440" marT="45720" marB="45720" anchor="ctr">
                    <a:solidFill>
                      <a:srgbClr val="FFFFFF"/>
                    </a:solidFill>
                  </a:tcPr>
                </a:tc>
              </a:tr>
              <a:tr h="365760">
                <a:tc>
                  <a:txBody>
                    <a:bodyPr/>
                    <a:lstStyle/>
                    <a:p>
                      <a:pPr algn="l"/>
                      <a:r>
                        <a:rPr sz="1300" b="0">
                          <a:solidFill>
                            <a:srgbClr val="163047"/>
                          </a:solidFill>
                          <a:latin typeface="Arial"/>
                          <a:ea typeface="Arial"/>
                          <a:cs typeface="Arial"/>
                        </a:rPr>
                        <a:t>XJTU → TJU</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0</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1,4780 ± 0,2226</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0,0383 ± 0,0023</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0,026</a:t>
                      </a:r>
                    </a:p>
                  </a:txBody>
                  <a:tcPr marL="91440" marR="91440" marT="45720" marB="45720" anchor="ctr">
                    <a:solidFill>
                      <a:srgbClr val="EAF3F7"/>
                    </a:solidFill>
                  </a:tcPr>
                </a:tc>
                <a:tc>
                  <a:txBody>
                    <a:bodyPr/>
                    <a:lstStyle/>
                    <a:p>
                      <a:pPr algn="l"/>
                      <a:r>
                        <a:rPr sz="1300" b="0">
                          <a:solidFill>
                            <a:srgbClr val="163047"/>
                          </a:solidFill>
                          <a:latin typeface="Arial"/>
                          <a:ea typeface="Arial"/>
                          <a:cs typeface="Arial"/>
                        </a:rPr>
                        <a:t>5/5</a:t>
                      </a:r>
                    </a:p>
                  </a:txBody>
                  <a:tcPr marL="91440" marR="91440" marT="45720" marB="45720" anchor="ctr">
                    <a:solidFill>
                      <a:srgbClr val="EAF3F7"/>
                    </a:solidFill>
                  </a:tcPr>
                </a:tc>
              </a:tr>
              <a:tr h="365760">
                <a:tc>
                  <a:txBody>
                    <a:bodyPr/>
                    <a:lstStyle/>
                    <a:p>
                      <a:pPr algn="l"/>
                      <a:r>
                        <a:rPr sz="1300" b="0">
                          <a:solidFill>
                            <a:srgbClr val="163047"/>
                          </a:solidFill>
                          <a:latin typeface="Arial"/>
                          <a:ea typeface="Arial"/>
                          <a:cs typeface="Arial"/>
                        </a:rPr>
                        <a:t>XJTU → TJU</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3</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0,3219 ± 0,4037</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0,0337 ± 0,0075</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0,105</a:t>
                      </a:r>
                    </a:p>
                  </a:txBody>
                  <a:tcPr marL="91440" marR="91440" marT="45720" marB="45720" anchor="ctr">
                    <a:solidFill>
                      <a:srgbClr val="FFFFFF"/>
                    </a:solidFill>
                  </a:tcPr>
                </a:tc>
                <a:tc>
                  <a:txBody>
                    <a:bodyPr/>
                    <a:lstStyle/>
                    <a:p>
                      <a:pPr algn="l"/>
                      <a:r>
                        <a:rPr sz="1300" b="0">
                          <a:solidFill>
                            <a:srgbClr val="163047"/>
                          </a:solidFill>
                          <a:latin typeface="Arial"/>
                          <a:ea typeface="Arial"/>
                          <a:cs typeface="Arial"/>
                        </a:rPr>
                        <a:t>5/5</a:t>
                      </a:r>
                    </a:p>
                  </a:txBody>
                  <a:tcPr marL="91440" marR="91440" marT="45720" marB="45720" anchor="ctr">
                    <a:solidFill>
                      <a:srgbClr val="FFFFFF"/>
                    </a:solidFill>
                  </a:tcPr>
                </a:tc>
              </a:tr>
            </a:tbl>
          </a:graphicData>
        </a:graphic>
      </p:graphicFrame>
      <p:sp>
        <p:nvSpPr>
          <p:cNvPr id="7" name="">
            <a:extLst>
              <a:ext uri="{FF2B5EF4-FFF2-40B4-BE49-F238E27FC236}">
                <a16:creationId xmlns:a16="http://schemas.microsoft.com/office/drawing/2014/main" id="{FE87EB31-9DAF-4A34-A06D-4F9989BF6B1E}"/>
              </a:ext>
            </a:extLst>
          </p:cNvPr>
          <p:cNvSpPr>
            <a:spLocks noGrp="1"/>
          </p:cNvSpPr>
          <p:nvPr/>
        </p:nvSpPr>
        <p:spPr>
          <a:xfrm>
            <a:off x="619125" y="6105525"/>
            <a:ext cx="10715625" cy="304800"/>
          </a:xfrm>
          <a:prstGeom prst="rect">
            <a:avLst/>
          </a:prstGeom>
          <a:noFill/>
          <a:ln w="0">
            <a:noFill/>
          </a:ln>
        </p:spPr>
        <p:txBody>
          <a:bodyPr lIns="0" tIns="0" rIns="0" bIns="0" anchor="ctr">
            <a:noAutofit/>
          </a:bodyPr>
          <a:lstStyle/>
          <a:p>
            <a:pPr algn="l">
              <a:defRPr sz="1275" b="0">
                <a:solidFill>
                  <a:srgbClr val="526778"/>
                </a:solidFill>
                <a:latin typeface="Arial"/>
                <a:ea typeface="Arial"/>
                <a:cs typeface="Arial"/>
              </a:defRPr>
            </a:pPr>
            <a:r>
              <a:rPr sz="1275" b="0">
                <a:solidFill>
                  <a:srgbClr val="526778"/>
                </a:solidFill>
                <a:latin typeface="Arial"/>
                <a:ea typeface="Arial"/>
                <a:cs typeface="Arial"/>
              </a:rPr>
              <a:t>MAE theo cell trên tập test đích, TB ± SD qua 5 seed. Cả hai mô hình fit normalizer trên cùng pool đặc trưng nguồn + đích; chỉ khác loss vật lý.</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8" name="">
            <a:extLst>
              <a:ext uri="{FF2B5EF4-FFF2-40B4-BE49-F238E27FC236}">
                <a16:creationId xmlns:a16="http://schemas.microsoft.com/office/drawing/2014/main" id="{A2DD91DF-1BC8-4F4E-9AB0-2B55DB203359}"/>
              </a:ext>
            </a:extLst>
          </p:cNvPr>
          <p:cNvSpPr>
            <a:spLocks noGrp="1"/>
          </p:cNvSpPr>
          <p:nvPr/>
        </p:nvSpPr>
        <p:spPr>
          <a:xfrm>
            <a:off x="0" y="0"/>
            <a:ext cx="12192000" cy="952500"/>
          </a:xfrm>
          <a:prstGeom prst="rect">
            <a:avLst/>
          </a:prstGeom>
          <a:solidFill>
            <a:srgbClr val="20567B"/>
          </a:solidFill>
          <a:ln w="9525">
            <a:solidFill>
              <a:srgbClr val="20567B"/>
            </a:solidFill>
          </a:ln>
        </p:spPr>
        <p:txBody>
          <a:bodyPr/>
          <a:p/>
        </p:txBody>
      </p:sp>
      <p:sp>
        <p:nvSpPr>
          <p:cNvPr id="2" name="">
            <a:extLst>
              <a:ext uri="{FF2B5EF4-FFF2-40B4-BE49-F238E27FC236}">
                <a16:creationId xmlns:a16="http://schemas.microsoft.com/office/drawing/2014/main" id="{C93E37DA-E3BE-4B30-851A-78B8357C043D}"/>
              </a:ext>
            </a:extLst>
          </p:cNvPr>
          <p:cNvSpPr>
            <a:spLocks noGrp="1"/>
          </p:cNvSpPr>
          <p:nvPr/>
        </p:nvSpPr>
        <p:spPr>
          <a:xfrm>
            <a:off x="542925" y="66675"/>
            <a:ext cx="11239500" cy="800100"/>
          </a:xfrm>
          <a:prstGeom prst="rect">
            <a:avLst/>
          </a:prstGeom>
          <a:noFill/>
          <a:ln w="0">
            <a:noFill/>
          </a:ln>
        </p:spPr>
        <p:txBody>
          <a:bodyPr lIns="0" tIns="0" rIns="0" bIns="0" anchor="ctr">
            <a:no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Demo: ước lượng SOH cho cell chưa đo dung lượng</a:t>
            </a:r>
          </a:p>
        </p:txBody>
      </p:sp>
      <p:sp>
        <p:nvSpPr>
          <p:cNvPr id="3" name="">
            <a:extLst>
              <a:ext uri="{FF2B5EF4-FFF2-40B4-BE49-F238E27FC236}">
                <a16:creationId xmlns:a16="http://schemas.microsoft.com/office/drawing/2014/main" id="{8C9AE867-B456-4135-B8DB-629FD7A4BC8E}"/>
              </a:ext>
            </a:extLst>
          </p:cNvPr>
          <p:cNvSpPr>
            <a:spLocks noGrp="1"/>
          </p:cNvSpPr>
          <p:nvPr/>
        </p:nvSpPr>
        <p:spPr>
          <a:xfrm>
            <a:off x="11144250" y="6400800"/>
            <a:ext cx="333375" cy="257175"/>
          </a:xfrm>
          <a:prstGeom prst="rect">
            <a:avLst/>
          </a:prstGeom>
          <a:noFill/>
          <a:ln w="0">
            <a:noFill/>
          </a:ln>
        </p:spPr>
        <p:txBody>
          <a:bodyPr lIns="0" tIns="0" rIns="0" bIns="0" anchor="ctr">
            <a:noAutofit/>
          </a:bodyPr>
          <a:lstStyle/>
          <a:p>
            <a:pPr algn="l">
              <a:defRPr sz="1200" b="1">
                <a:solidFill>
                  <a:srgbClr val="20567B"/>
                </a:solidFill>
                <a:latin typeface="Arial"/>
                <a:ea typeface="Arial"/>
                <a:cs typeface="Arial"/>
              </a:defRPr>
            </a:pPr>
            <a:r>
              <a:rPr sz="1200" b="1">
                <a:solidFill>
                  <a:srgbClr val="20567B"/>
                </a:solidFill>
                <a:latin typeface="Arial"/>
                <a:ea typeface="Arial"/>
                <a:cs typeface="Arial"/>
              </a:rPr>
              <a:t>28</a:t>
            </a:r>
          </a:p>
        </p:txBody>
      </p:sp>
      <p:pic>
        <p:nvPicPr>
          <p:cNvPr id="11" name=""/>
          <p:cNvPicPr>
            <a:picLocks noChangeAspect="1"/>
          </p:cNvPicPr>
          <p:nvPr/>
        </p:nvPicPr>
        <p:blipFill>
          <a:blip r:embed="rId2"/>
          <a:stretch/>
        </p:blipFill>
        <p:spPr>
          <a:xfrm>
            <a:off x="11696700" y="6384974"/>
            <a:ext cx="285750" cy="260252"/>
          </a:xfrm>
          <a:prstGeom prst="rect">
            <a:avLst/>
          </a:prstGeom>
        </p:spPr>
      </p:pic>
      <p:sp>
        <p:nvSpPr>
          <p:cNvPr id="7" name="">
            <a:extLst>
              <a:ext uri="{FF2B5EF4-FFF2-40B4-BE49-F238E27FC236}">
                <a16:creationId xmlns:a16="http://schemas.microsoft.com/office/drawing/2014/main" id="{FE87EB31-9DAF-4A34-A06D-4F9989BF6B1E}"/>
              </a:ext>
            </a:extLst>
          </p:cNvPr>
          <p:cNvSpPr>
            <a:spLocks noGrp="1"/>
          </p:cNvSpPr>
          <p:nvPr/>
        </p:nvSpPr>
        <p:spPr>
          <a:xfrm>
            <a:off x="619125" y="6105525"/>
            <a:ext cx="10715625" cy="304800"/>
          </a:xfrm>
          <a:prstGeom prst="rect">
            <a:avLst/>
          </a:prstGeom>
          <a:noFill/>
          <a:ln w="0">
            <a:noFill/>
          </a:ln>
        </p:spPr>
        <p:txBody>
          <a:bodyPr lIns="0" tIns="0" rIns="0" bIns="0" anchor="ctr">
            <a:noAutofit/>
          </a:bodyPr>
          <a:lstStyle/>
          <a:p>
            <a:pPr algn="l">
              <a:defRPr sz="1275" b="0">
                <a:solidFill>
                  <a:srgbClr val="526778"/>
                </a:solidFill>
                <a:latin typeface="Arial"/>
                <a:ea typeface="Arial"/>
                <a:cs typeface="Arial"/>
              </a:defRPr>
            </a:pPr>
            <a:r>
              <a:rPr sz="1275" b="0">
                <a:solidFill>
                  <a:srgbClr val="526778"/>
                </a:solidFill>
                <a:latin typeface="Arial"/>
                <a:ea typeface="Arial"/>
                <a:cs typeface="Arial"/>
              </a:rPr>
              <a:t>Cell thuộc fold test của mô hình demo (chưa từng thấy khi huấn luyện). Có nhãn thì demo in thêm MAE để đối chiếu.</a:t>
            </a:r>
          </a:p>
        </p:txBody>
      </p:sp>
      <p:sp>
        <p:nvSpPr>
          <p:cNvPr id="5" name="">
            <a:extLst>
              <a:ext uri="{FF2B5EF4-FFF2-40B4-BE49-F238E27FC236}">
                <a16:creationId xmlns:a16="http://schemas.microsoft.com/office/drawing/2014/main" id="{61ADA485-A3D9-4801-AF20-EEDA600A294B}"/>
              </a:ext>
            </a:extLst>
          </p:cNvPr>
          <p:cNvSpPr>
            <a:spLocks noGrp="1"/>
          </p:cNvSpPr>
          <p:nvPr/>
        </p:nvSpPr>
        <p:spPr>
          <a:xfrm>
            <a:off x="521207" y="1234440"/>
            <a:ext cx="11146536" cy="4709160"/>
          </a:xfrm>
          <a:prstGeom prst="rect">
            <a:avLst/>
          </a:prstGeom>
          <a:solidFill>
            <a:srgbClr val="FFFFFF"/>
          </a:solidFill>
          <a:ln w="9525">
            <a:solidFill>
              <a:srgbClr val="A7BAC7"/>
            </a:solidFill>
          </a:ln>
        </p:spPr>
      </p:sp>
      <p:pic>
        <p:nvPicPr>
          <p:cNvPr id="12" name="Picture 11" descr="2C_battery-8_soh.png"/>
          <p:cNvPicPr>
            <a:picLocks noChangeAspect="1"/>
          </p:cNvPicPr>
          <p:nvPr/>
        </p:nvPicPr>
        <p:blipFill>
          <a:blip r:embed="rId3"/>
          <a:stretch>
            <a:fillRect/>
          </a:stretch>
        </p:blipFill>
        <p:spPr>
          <a:xfrm>
            <a:off x="667512" y="1662304"/>
            <a:ext cx="7589520" cy="3807711"/>
          </a:xfrm>
          <a:prstGeom prst="rect">
            <a:avLst/>
          </a:prstGeom>
        </p:spPr>
      </p:pic>
      <p:sp>
        <p:nvSpPr>
          <p:cNvPr id="13" name="TextBox 12"/>
          <p:cNvSpPr txBox="1"/>
          <p:nvPr/>
        </p:nvSpPr>
        <p:spPr>
          <a:xfrm>
            <a:off x="8458200" y="2011680"/>
            <a:ext cx="3017520" cy="3474720"/>
          </a:xfrm>
          <a:prstGeom prst="rect">
            <a:avLst/>
          </a:prstGeom>
          <a:noFill/>
        </p:spPr>
        <p:txBody>
          <a:bodyPr wrap="square">
            <a:spAutoFit/>
          </a:bodyPr>
          <a:lstStyle/>
          <a:p>
            <a:pPr>
              <a:spcAft>
                <a:spcPts val="800"/>
              </a:spcAft>
            </a:pPr>
            <a:r>
              <a:rPr sz="1600" b="1">
                <a:solidFill>
                  <a:srgbClr val="20567B"/>
                </a:solidFill>
                <a:latin typeface="Arial"/>
              </a:rPr>
              <a:t>Đầu vào</a:t>
            </a:r>
          </a:p>
          <a:p>
            <a:pPr>
              <a:spcAft>
                <a:spcPts val="800"/>
              </a:spcAft>
            </a:pPr>
            <a:r>
              <a:rPr sz="1400" b="0">
                <a:solidFill>
                  <a:srgbClr val="163047"/>
                </a:solidFill>
                <a:latin typeface="Arial"/>
              </a:rPr>
              <a:t>16 đặc trưng sạc CC–CV + chỉ số chu kỳ; KHÔNG cần cột capacity</a:t>
            </a:r>
          </a:p>
          <a:p>
            <a:pPr>
              <a:spcAft>
                <a:spcPts val="800"/>
              </a:spcAft>
            </a:pPr>
            <a:r>
              <a:rPr sz="1600" b="1">
                <a:solidFill>
                  <a:srgbClr val="20567B"/>
                </a:solidFill>
                <a:latin typeface="Arial"/>
              </a:rPr>
              <a:t>Suy luận</a:t>
            </a:r>
          </a:p>
          <a:p>
            <a:pPr>
              <a:spcAft>
                <a:spcPts val="800"/>
              </a:spcAft>
            </a:pPr>
            <a:r>
              <a:rPr sz="1400" b="0">
                <a:solidFill>
                  <a:srgbClr val="163047"/>
                </a:solidFill>
                <a:latin typeface="Arial"/>
              </a:rPr>
              <a:t>Nhân quả: chu kỳ N chỉ dùng dữ liệu đến N — chạy trực tuyến được</a:t>
            </a:r>
          </a:p>
          <a:p>
            <a:pPr>
              <a:spcAft>
                <a:spcPts val="800"/>
              </a:spcAft>
            </a:pPr>
            <a:r>
              <a:rPr sz="1600" b="1">
                <a:solidFill>
                  <a:srgbClr val="20567B"/>
                </a:solidFill>
                <a:latin typeface="Arial"/>
              </a:rPr>
              <a:t>Lệnh</a:t>
            </a:r>
          </a:p>
          <a:p>
            <a:pPr>
              <a:spcAft>
                <a:spcPts val="800"/>
              </a:spcAft>
            </a:pPr>
            <a:r>
              <a:rPr sz="1400" b="0">
                <a:solidFill>
                  <a:srgbClr val="163047"/>
                </a:solidFill>
                <a:latin typeface="Arial"/>
              </a:rPr>
              <a:t>python demo.py predict --model demo/XJTU.pt --csv &lt;cell.csv&gt; --an-nhan</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2026-09-29T04:27:51.3170000Z</dcterms:created>
  <dcterms:modified xsi:type="dcterms:W3CDTF">2026-09-29T04:27:51.3170000Z</dcterms:modified>
</coreProperties>
</file>