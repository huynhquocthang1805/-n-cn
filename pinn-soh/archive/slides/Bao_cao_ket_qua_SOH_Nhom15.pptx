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9afeb601eab4034" Type="http://schemas.openxmlformats.org/officeDocument/2006/relationships/extended-properties" Target="docProps/app.xml"/><Relationship Id="Rf8c5d73239c54c21" Type="http://schemas.openxmlformats.org/package/2006/relationships/metadata/core-properties" Target="docProps/core.xml"/><Relationship Id="Rf9d301a384d4456f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65177f2efa4334"/>
  </p:sldMasterIdLst>
  <p:notesMasterIdLst>
    <p:notesMasterId xmlns:r="http://schemas.openxmlformats.org/officeDocument/2006/relationships" r:id="R122fdd615e0642f8"/>
  </p:notesMasterIdLst>
  <p:sldIdLst>
    <p:sldId xmlns:r="http://schemas.openxmlformats.org/officeDocument/2006/relationships" id="256" r:id="Re089232dfe4e407b"/>
    <p:sldId xmlns:r="http://schemas.openxmlformats.org/officeDocument/2006/relationships" id="258" r:id="R6fae94ef66f440e1"/>
    <p:sldId xmlns:r="http://schemas.openxmlformats.org/officeDocument/2006/relationships" id="260" r:id="R0c6c268805ed461d"/>
    <p:sldId xmlns:r="http://schemas.openxmlformats.org/officeDocument/2006/relationships" id="262" r:id="R3cdef86ab8a34057"/>
    <p:sldId xmlns:r="http://schemas.openxmlformats.org/officeDocument/2006/relationships" id="263" r:id="R4841673a10974ed8"/>
    <p:sldId xmlns:ns0="http://schemas.openxmlformats.org/officeDocument/2006/relationships" id="278" ns0:id="rId28"/>
    <p:sldId xmlns:ns0="http://schemas.openxmlformats.org/officeDocument/2006/relationships" id="279" ns0:id="rId29"/>
    <p:sldId xmlns:ns0="http://schemas.openxmlformats.org/officeDocument/2006/relationships" id="280" ns0:id="rId30"/>
    <p:sldId xmlns:ns0="http://schemas.openxmlformats.org/officeDocument/2006/relationships" id="281" ns0:id="rId31"/>
    <p:sldId xmlns:ns0="http://schemas.openxmlformats.org/officeDocument/2006/relationships" id="282" ns0:id="rId32"/>
    <p:sldId xmlns:ns0="http://schemas.openxmlformats.org/officeDocument/2006/relationships" id="283" ns0:id="rId33"/>
    <p:sldId xmlns:ns0="http://schemas.openxmlformats.org/officeDocument/2006/relationships" id="284" ns0:id="rId34"/>
    <p:sldId xmlns:ns0="http://schemas.openxmlformats.org/officeDocument/2006/relationships" id="285" ns0:id="rId35"/>
    <p:sldId xmlns:ns0="http://schemas.openxmlformats.org/officeDocument/2006/relationships" id="286" ns0:id="rId36"/>
    <p:sldId xmlns:ns0="http://schemas.openxmlformats.org/officeDocument/2006/relationships" id="287" ns0:id="rId37"/>
    <p:sldId xmlns:r="http://schemas.openxmlformats.org/officeDocument/2006/relationships" id="275" r:id="R24cb3dfdfc0e42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7cad3eee5e14944" Type="http://schemas.openxmlformats.org/officeDocument/2006/relationships/presProps" Target="presProps.xml"/><Relationship Id="R0c6c268805ed461d" Type="http://schemas.openxmlformats.org/officeDocument/2006/relationships/slide" Target="slides/slide5.xml"/><Relationship Id="R0d65177f2efa4334" Type="http://schemas.openxmlformats.org/officeDocument/2006/relationships/slideMaster" Target="slideMasters/slideMaster1.xml"/><Relationship Id="R122fdd615e0642f8" Type="http://schemas.openxmlformats.org/officeDocument/2006/relationships/notesMaster" Target="notesMasters/notesMaster1.xml"/><Relationship Id="R24cb3dfdfc0e42c6" Type="http://schemas.openxmlformats.org/officeDocument/2006/relationships/slide" Target="slides/slide20.xml"/><Relationship Id="R3cdef86ab8a34057" Type="http://schemas.openxmlformats.org/officeDocument/2006/relationships/slide" Target="slides/slide7.xml"/><Relationship Id="R4841673a10974ed8" Type="http://schemas.openxmlformats.org/officeDocument/2006/relationships/slide" Target="slides/slide8.xml"/><Relationship Id="R522beb1df68c4fd1" Type="http://schemas.openxmlformats.org/officeDocument/2006/relationships/theme" Target="theme/theme1.xml"/><Relationship Id="R6fae94ef66f440e1" Type="http://schemas.openxmlformats.org/officeDocument/2006/relationships/slide" Target="slides/slide3.xml"/><Relationship Id="Rab56e47df87e4612" Type="http://schemas.openxmlformats.org/officeDocument/2006/relationships/tableStyles" Target="tableStyles.xml"/><Relationship Id="Re089232dfe4e407b" Type="http://schemas.openxmlformats.org/officeDocument/2006/relationships/slide" Target="slides/slide1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19ee874815c0407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14a033ffbc44a84" Type="http://schemas.openxmlformats.org/officeDocument/2006/relationships/slide" Target="../slides/slide1.xml"/><Relationship Id="Rf18f9ad82ac54129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f0a59499b464384" Type="http://schemas.openxmlformats.org/officeDocument/2006/relationships/slide" Target="../slides/slide3.xml"/><Relationship Id="Rff3a7da978e84fb5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d91cffc10bf4dad" Type="http://schemas.openxmlformats.org/officeDocument/2006/relationships/notesMaster" Target="../notesMasters/notesMaster1.xml"/><Relationship Id="Radd34d3c1c4548ae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0caddbc6207648ed" Type="http://schemas.openxmlformats.org/officeDocument/2006/relationships/notesMaster" Target="../notesMasters/notesMaster1.xml"/><Relationship Id="R59ac85e28be44349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9a0444c62e864c96" Type="http://schemas.openxmlformats.org/officeDocument/2006/relationships/notesMaster" Target="../notesMasters/notesMaster1.xml"/><Relationship Id="Rafb9257d65294ab2" Type="http://schemas.openxmlformats.org/officeDocument/2006/relationships/slide" Target="../slides/slide8.xml"/></Relationships>
</file>

<file path=ppt/notesSlides/_rels/notesSlide20.xml.rels><?xml version='1.0' encoding='UTF-8' standalone='yes'?>
<Relationships xmlns="http://schemas.openxmlformats.org/package/2006/relationships"><Relationship Id="R0610f140f0514c45" Type="http://schemas.openxmlformats.org/officeDocument/2006/relationships/notesMaster" Target="../notesMasters/notesMaster1.xml"/><Relationship Id="R96c8dea01ed74ea4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7a4e4852f204d2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e32bab2fb96496e" Type="http://schemas.openxmlformats.org/officeDocument/2006/relationships/theme" Target="theme/theme2.xml"/><Relationship Id="Rf73ea25edfaa4493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3ea25edfaa44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cb7eb55322849fc" Type="http://schemas.openxmlformats.org/officeDocument/2006/relationships/notesSlide" Target="../notesSlides/notesSlide1.xml"/><Relationship Id="R25cf6b758bc74db5" Type="http://schemas.openxmlformats.org/officeDocument/2006/relationships/image" Target="../media/image.png"/><Relationship Id="Rd17197143e8f48ed" Type="http://schemas.openxmlformats.org/officeDocument/2006/relationships/image" Target="../media/image2.png"/><Relationship Id="Re00d6b0aa60a4e62" Type="http://schemas.openxmlformats.org/officeDocument/2006/relationships/slideLayout" Target="../slideLayouts/slideLayout1.xml"/><Relationship Id="Recaf59b52a634569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956788ff69f74a0f" Type="http://schemas.openxmlformats.org/officeDocument/2006/relationships/image" Target="../media/image5.png"/><Relationship Id="R9aff9f9be4794a3e" Type="http://schemas.openxmlformats.org/officeDocument/2006/relationships/slideLayout" Target="../slideLayouts/slideLayout1.xml"/><Relationship Id="Rddb5cef704cc4c71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2d2d839b61c04873" Type="http://schemas.openxmlformats.org/officeDocument/2006/relationships/image" Target="../media/image7.png"/><Relationship Id="R610fe496793e45af" Type="http://schemas.openxmlformats.org/officeDocument/2006/relationships/slideLayout" Target="../slideLayouts/slideLayout1.xml"/><Relationship Id="R9019fda5a2b54f26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4015739e4ec540bc" Type="http://schemas.openxmlformats.org/officeDocument/2006/relationships/image" Target="../media/image9.png"/><Relationship Id="R44b0438247a5403d" Type="http://schemas.openxmlformats.org/officeDocument/2006/relationships/slideLayout" Target="../slideLayouts/slideLayout1.xml"/><Relationship Id="R9bc7ca9dffcd483a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a7cdcbe13b4849d3" Type="http://schemas.openxmlformats.org/officeDocument/2006/relationships/image" Target="../media/image10.png"/><Relationship Id="Rb02c22baef0b47ea" Type="http://schemas.openxmlformats.org/officeDocument/2006/relationships/slideLayout" Target="../slideLayouts/slideLayout1.xml"/><Relationship Id="Re320e35bf88045d6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44495358526844c5" Type="http://schemas.openxmlformats.org/officeDocument/2006/relationships/notesSlide" Target="../notesSlides/notesSlide20.xml"/><Relationship Id="Rb65fa5fd4c474f73" Type="http://schemas.openxmlformats.org/officeDocument/2006/relationships/image" Target="../media/image22.png"/><Relationship Id="Rf871950e548d4673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8.png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f6b758bc74db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197143e8f48ed"/>
          <a:stretch xmlns:a="http://schemas.openxmlformats.org/drawingml/2006/main"/>
        </p:blipFill>
        <p:spPr>
          <a:xfrm xmlns:a="http://schemas.openxmlformats.org/drawingml/2006/main">
            <a:off x="4676775" y="620100"/>
            <a:ext cx="1162050" cy="569551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f59b52a634569"/>
          <a:stretch xmlns:a="http://schemas.openxmlformats.org/drawingml/2006/main"/>
        </p:blipFill>
        <p:spPr>
          <a:xfrm xmlns:a="http://schemas.openxmlformats.org/drawingml/2006/main">
            <a:off x="6572250" y="571822"/>
            <a:ext cx="647700" cy="58990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9EA32-4378-438E-B351-C353813E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52600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ĐỒ ÁN CHUYÊN NGÀNH HK261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142D9-73E8-44E7-846D-6C3B7F93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24125"/>
            <a:ext cx="83820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Dự đoán thông số sức khoẻ của pin</a:t>
            </a:r>
          </a:p>
          <a:p xmlns:a="http://schemas.openxmlformats.org/drawingml/2006/main">
            <a:pPr algn="ctr">
              <a:defRPr sz="330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bằng mô hình học sâu được hỗ trợ từ</a:t>
            </a:r>
          </a:p>
          <a:p xmlns:a="http://schemas.openxmlformats.org/drawingml/2006/main">
            <a:pPr algn="ctr">
              <a:defRPr sz="330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thông tin hoá lý của hệ pin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6EDAD-7C66-4704-AA1D-B0BDA574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24375"/>
            <a:ext cx="7429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047"/>
                </a:solidFill>
                <a:latin typeface="Arial"/>
                <a:ea typeface="Arial"/>
                <a:cs typeface="Arial"/>
              </a:rPr>
              <a:t>Huỳnh Quốc Thắng · Nhóm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968CE-E03B-4209-97C7-2B8F501F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76850"/>
            <a:ext cx="628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0:p xmlns:ns0="http://schemas.openxmlformats.org/drawingml/2006/main">
            <ns0:pPr algn="ctr">
              <ns0:defRPr sz="1725" b="0">
                <ns0:solidFill>
                  <ns0:srgbClr val="526778"/>
                </ns0:solidFill>
                <ns0:latin typeface="Arial"/>
                <ns0:ea typeface="Arial"/>
                <ns0:cs typeface="Arial"/>
              </ns0:defRPr>
            </ns0:pPr>
            <ns0:r>
              <ns0:rPr sz="1725" b="0">
                <ns0:solidFill>
                  <ns0:srgbClr val="526778"/>
                </ns0:solidFill>
                <ns0:latin typeface="Arial"/>
                <ns0:ea typeface="Arial"/>
                <ns0:cs typeface="Arial"/>
              </ns0:rPr>
              <ns0:t>Báo cáo kết quả</ns0:t>
            </ns0:r>
          </ns0:p>
          <ns1:p xmlns:ns1="http://schemas.openxmlformats.org/drawingml/2006/main">
            <ns1:pPr algn="ctr">
              <ns1:defRPr sz="1725" b="0">
                <ns1:solidFill>
                  <ns1:srgbClr val="526778"/>
                </ns1:solidFill>
                <ns1:latin typeface="Arial"/>
                <ns1:ea typeface="Arial"/>
                <ns1:cs typeface="Arial"/>
              </ns1:defRPr>
            </ns1:pPr>
            <ns1:r>
              <ns1:rPr sz="1725" b="0">
                <ns1:solidFill>
                  <ns1:srgbClr val="526778"/>
                </ns1:solidFill>
                <ns1:latin typeface="Arial"/>
                <ns1:ea typeface="Arial"/>
                <ns1:cs typeface="Arial"/>
              </ns1:rPr>
              <ns1:t>30/09/2026</ns1:t>
            </ns1:r>
          </ns1:p>
        </p:txBody>
      </p:sp>
    </p:spTree>
    <p:extLst>
      <p:ext uri="{BB962C8B-B14F-4D97-AF65-F5344CB8AC3E}">
        <p14:creationId xmlns:p14="http://schemas.microsoft.com/office/powerpoint/2010/main" val="484136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1E096-D5FA-4F41-AEBA-B2142831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7B"/>
          </a:solidFill>
          <a:ln xmlns:a="http://schemas.openxmlformats.org/drawingml/2006/main" w="9525">
            <a:solidFill>
              <a:srgbClr val="20567B"/>
            </a:solidFill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77859-78CD-4F6A-A9B4-9F54A352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6675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2700" b="1">
                <ns0:solidFill>
                  <ns0:srgbClr val="FFFFFF"/>
                </ns0:solidFill>
                <ns0:latin typeface="Arial"/>
                <ns0:ea typeface="Arial"/>
                <ns0:cs typeface="Arial"/>
              </ns0:defRPr>
            </ns0:pPr>
            <ns0:r>
              <ns0:rPr sz="2700" b="1">
                <ns0:solidFill>
                  <ns0:srgbClr val="FFFFFF"/>
                </ns0:solidFill>
                <ns0:latin typeface="Arial"/>
                <ns0:ea typeface="Arial"/>
                <ns0:cs typeface="Arial"/>
              </ns0:rPr>
              <ns0:t>Bài toán</ns0:t>
            </ns0:r>
          </ns0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E2091-FE09-4D1F-980D-5BDE30F0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7:p xmlns:ns7="http://schemas.openxmlformats.org/drawingml/2006/main">
            <ns7:pPr algn="l">
              <ns7:defRPr sz="1200" b="1">
                <ns7:solidFill>
                  <ns7:srgbClr val="20567B"/>
                </ns7:solidFill>
                <ns7:latin typeface="Arial"/>
                <ns7:ea typeface="Arial"/>
                <ns7:cs typeface="Arial"/>
              </ns7:defRPr>
            </ns7:pPr>
            <ns7:r>
              <ns7:rPr sz="1200" b="1">
                <ns7:solidFill>
                  <ns7:srgbClr val="20567B"/>
                </ns7:solidFill>
                <ns7:latin typeface="Arial"/>
                <ns7:ea typeface="Arial"/>
                <ns7:cs typeface="Arial"/>
              </ns7:rPr>
              <ns7:t>02</ns7:t>
            </ns7:r>
          </ns7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788ff69f74a0f"/>
          <a:stretch xmlns:a="http://schemas.openxmlformats.org/drawingml/2006/main"/>
        </p:blipFill>
        <p:spPr>
          <a:xfrm xmlns:a="http://schemas.openxmlformats.org/drawingml/2006/main">
            <a:off x="11696700" y="6384974"/>
            <a:ext cx="285750" cy="26025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2F7BC-C449-49C6-B60D-A5759C56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1:p xmlns:ns1="http://schemas.openxmlformats.org/drawingml/2006/main">
            <ns1:pPr algn="l">
              <ns1:defRPr sz="2025" b="1">
                <ns1:solidFill>
                  <ns1:srgbClr val="20567B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20567B"/>
                </ns1:solidFill>
                <ns1:latin typeface="Arial"/>
                <ns1:ea typeface="Arial"/>
                <ns1:cs typeface="Arial"/>
              </ns1:rPr>
              <ns1:t>Đầu vào và đầu ra</ns1:t>
            </ns1:r>
          </ns1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ABE15-3EEB-4EA0-9CA6-5CA037A6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2:p xmlns:ns2="http://schemas.openxmlformats.org/drawingml/2006/main">
            <ns2:pPr algn="l">
              <ns2:defRPr sz="1800" b="0">
                <ns2:solidFill>
                  <ns2:srgbClr val="163047"/>
                </ns2:solidFill>
                <ns2:latin typeface="Arial"/>
                <ns2:ea typeface="Arial"/>
                <ns2:cs typeface="Arial"/>
              </ns2:defRPr>
            </ns2:pPr>
            <ns2:r>
              <ns2:rPr sz="1800" b="0">
                <ns2:solidFill>
                  <ns2:srgbClr val="163047"/>
                </ns2:solidFill>
                <ns2:latin typeface="Arial"/>
                <ns2:ea typeface="Arial"/>
                <ns2:cs typeface="Arial"/>
              </ns2:rPr>
              <ns2:t>16 đặc trưng của đoạn sạc CC–CV và chỉ số chu kỳ → SOH của chu kỳ đó.</ns2:t>
            </ns2:r>
          </ns2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12172-27F2-4592-88E2-7DA63AEB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3:p xmlns:ns3="http://schemas.openxmlformats.org/drawingml/2006/main">
            <ns3:pPr algn="l">
              <ns3:defRPr sz="2025" b="1">
                <ns3:solidFill>
                  <ns3:srgbClr val="20567B"/>
                </ns3:solidFill>
                <ns3:latin typeface="Arial"/>
                <ns3:ea typeface="Arial"/>
                <ns3:cs typeface="Arial"/>
              </ns3:defRPr>
            </ns3:pPr>
            <ns3:r>
              <ns3:rPr sz="2025" b="1">
                <ns3:solidFill>
                  <ns3:srgbClr val="20567B"/>
                </ns3:solidFill>
                <ns3:latin typeface="Arial"/>
                <ns3:ea typeface="Arial"/>
                <ns3:cs typeface="Arial"/>
              </ns3:rPr>
              <ns3:t>Câu hỏi 1</ns3:t>
            </ns3:r>
          </ns3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4DA21-6D95-4E15-A2DF-0372D338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4:p xmlns:ns4="http://schemas.openxmlformats.org/drawingml/2006/main">
            <ns4:pPr algn="l">
              <ns4:defRPr sz="1800" b="0">
                <ns4:solidFill>
                  <ns4:srgbClr val="163047"/>
                </ns4:solidFill>
                <ns4:latin typeface="Arial"/>
                <ns4:ea typeface="Arial"/>
                <ns4:cs typeface="Arial"/>
              </ns4:defRPr>
            </ns4:pPr>
            <ns4:r>
              <ns4:rPr sz="1800" b="0">
                <ns4:solidFill>
                  <ns4:srgbClr val="163047"/>
                </ns4:solidFill>
                <ns4:latin typeface="Arial"/>
                <ns4:ea typeface="Arial"/>
                <ns4:cs typeface="Arial"/>
              </ns4:rPr>
              <ns4:t>Cùng 30 % cell có nhãn, PINN có sai số thấp hơn MLP không?</ns4:t>
            </ns4:r>
          </ns4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6399C-1500-4692-9B0A-633323FF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5:p xmlns:ns5="http://schemas.openxmlformats.org/drawingml/2006/main">
            <ns5:pPr algn="l">
              <ns5:defRPr sz="2025" b="1">
                <ns5:solidFill>
                  <ns5:srgbClr val="20567B"/>
                </ns5:solidFill>
                <ns5:latin typeface="Arial"/>
                <ns5:ea typeface="Arial"/>
                <ns5:cs typeface="Arial"/>
              </ns5:defRPr>
            </ns5:pPr>
            <ns5:r>
              <ns5:rPr sz="2025" b="1">
                <ns5:solidFill>
                  <ns5:srgbClr val="20567B"/>
                </ns5:solidFill>
                <ns5:latin typeface="Arial"/>
                <ns5:ea typeface="Arial"/>
                <ns5:cs typeface="Arial"/>
              </ns5:rPr>
              <ns5:t>Câu hỏi 2</ns5:t>
            </ns5:r>
          </ns5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00E87-C1FF-4005-A876-107902FF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6:p xmlns:ns6="http://schemas.openxmlformats.org/drawingml/2006/main">
            <ns6:pPr algn="l">
              <ns6:defRPr sz="1800" b="0">
                <ns6:solidFill>
                  <ns6:srgbClr val="163047"/>
                </ns6:solidFill>
                <ns6:latin typeface="Arial"/>
                <ns6:ea typeface="Arial"/>
                <ns6:cs typeface="Arial"/>
              </ns6:defRPr>
            </ns6:pPr>
            <ns6:r>
              <ns6:rPr sz="1800" b="0">
                <ns6:solidFill>
                  <ns6:srgbClr val="163047"/>
                </ns6:solidFill>
                <ns6:latin typeface="Arial"/>
                <ns6:ea typeface="Arial"/>
                <ns6:cs typeface="Arial"/>
              </ns6:rPr>
              <ns6:t>PINN dùng 30 % nhãn có thay được MLP dùng 70 % nhãn không?</ns6:t>
            </ns6:r>
          </ns6:p>
        </p:txBody>
      </p:sp>
    </p:spTree>
    <p:extLst>
      <p:ext uri="{BB962C8B-B14F-4D97-AF65-F5344CB8AC3E}">
        <p14:creationId xmlns:p14="http://schemas.microsoft.com/office/powerpoint/2010/main" val="189763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2E425-74E7-4168-A6D5-E83D1F33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7B"/>
          </a:solidFill>
          <a:ln xmlns:a="http://schemas.openxmlformats.org/drawingml/2006/main" w="9525">
            <a:solidFill>
              <a:srgbClr val="20567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664B2-7318-4599-ABAE-47EF9930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6675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Dữ liệu và đặc trưng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81084-80EC-4FAB-B5DF-267D7D88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1:p xmlns:ns1="http://schemas.openxmlformats.org/drawingml/2006/main">
            <ns1:pPr algn="l">
              <ns1:defRPr sz="1200" b="1">
                <ns1:solidFill>
                  <ns1:srgbClr val="20567B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20567B"/>
                </ns1:solidFill>
                <ns1:latin typeface="Arial"/>
                <ns1:ea typeface="Arial"/>
                <ns1:cs typeface="Arial"/>
              </ns1:rPr>
              <ns1:t>03</ns1:t>
            </ns1:r>
          </ns1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d839b61c04873"/>
          <a:stretch xmlns:a="http://schemas.openxmlformats.org/drawingml/2006/main"/>
        </p:blipFill>
        <p:spPr>
          <a:xfrm xmlns:a="http://schemas.openxmlformats.org/drawingml/2006/main">
            <a:off x="11696700" y="6384974"/>
            <a:ext cx="285750" cy="260252"/>
          </a:xfrm>
          <a:prstGeom xmlns:a="http://schemas.openxmlformats.org/drawingml/2006/main" prst="rect">
            <a:avLst/>
          </a:prstGeom>
        </p:spPr>
      </p:pic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562100"/>
          <a:ext xmlns:a="http://schemas.openxmlformats.org/drawingml/2006/main" cx="11125200" cy="2847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047750"/>
                <a:gridCol w="2286000"/>
                <a:gridCol w="2619375"/>
                <a:gridCol w="3171825"/>
              </a:tblGrid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Bộ dữ liệu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Cell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Số chu kỳ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Hoá học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Nhiệt độ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XJTU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22.431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NCM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25 °C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TJU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56.697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NCA / NCM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25 / 35 / 45 °C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MIT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125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82.450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LFP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30 °C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HUST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77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144.224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LFP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30 °C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A05B5-4EC0-47E8-A5FC-48DC0416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006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2250" b="1">
                <ns0:solidFill>
                  <ns0:srgbClr val="20567B"/>
                </ns0:solidFill>
                <ns0:latin typeface="Arial"/>
                <ns0:ea typeface="Arial"/>
                <ns0:cs typeface="Arial"/>
              </ns0:defRPr>
            </ns0:pPr>
            <ns0:r>
              <ns0:rPr sz="2250" b="1">
                <ns0:solidFill>
                  <ns0:srgbClr val="20567B"/>
                </ns0:solidFill>
                <ns0:latin typeface="Arial"/>
                <ns0:ea typeface="Arial"/>
                <ns0:cs typeface="Arial"/>
              </ns0:rPr>
              <ns0:t>387 cell · 305.802 chu kỳ · 16 đặc trưng mỗi chu kỳ</ns0:t>
            </ns0:r>
          </ns0:p>
        </p:txBody>
      </p:sp>
    </p:spTree>
    <p:extLst>
      <p:ext uri="{BB962C8B-B14F-4D97-AF65-F5344CB8AC3E}">
        <p14:creationId xmlns:p14="http://schemas.microsoft.com/office/powerpoint/2010/main" val="244233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/>
          <p:cNvCxnSpPr>
            <a:stCxn xmlns:a="http://schemas.openxmlformats.org/drawingml/2006/main" id="12" idx="2"/>
            <a:endCxn xmlns:a="http://schemas.openxmlformats.org/drawingml/2006/main" id="17" idx="3"/>
          </p:cNvCxnSpPr>
          <p:nvPr/>
        </p:nvCxnSpPr>
        <p:spPr>
          <a:xfrm xmlns:a="http://schemas.openxmlformats.org/drawingml/2006/main">
            <a:off x="10548938" y="4133850"/>
            <a:ext cx="1300163" cy="1204913"/>
          </a:xfrm>
          <a:prstGeom xmlns:a="http://schemas.openxmlformats.org/drawingml/2006/main" prst="bentConnector4">
            <a:avLst/>
          </a:prstGeom>
          <a:ln xmlns:a="http://schemas.openxmlformats.org/drawingml/2006/main" w="16193">
            <a:solidFill>
              <a:srgbClr val="20567B"/>
            </a:solidFill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20125" y="36004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0567B"/>
            </a:solidFill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6929438" y="2324100"/>
            <a:ext cx="2976563" cy="742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20567B"/>
            </a:solidFill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333875" y="36004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0567B"/>
            </a:solidFill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666875" y="2324100"/>
            <a:ext cx="762000" cy="742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20567B"/>
            </a:solidFill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1905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0567B"/>
            </a:solidFill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09875" y="1905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0567B"/>
            </a:solidFill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177728-9FF2-4FD5-9E82-9362DB6F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7B"/>
          </a:solidFill>
          <a:ln xmlns:a="http://schemas.openxmlformats.org/drawingml/2006/main" w="9525">
            <a:solidFill>
              <a:srgbClr val="20567B"/>
            </a:solidFill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92ADB-0169-4DF5-9A64-993A1060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6675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Mô hình PINN: mạng nghiệm và động học xám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EF6F0-EDA0-4296-9A4D-F200BC1F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2:p xmlns:ns2="http://schemas.openxmlformats.org/drawingml/2006/main">
            <ns2:pPr algn="l">
              <ns2:defRPr sz="1200" b="1">
                <ns2:solidFill>
                  <ns2:srgbClr val="20567B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20567B"/>
                </ns2:solidFill>
                <ns2:latin typeface="Arial"/>
                <ns2:ea typeface="Arial"/>
                <ns2:cs typeface="Arial"/>
              </ns2:rPr>
              <ns2:t>04</ns2:t>
            </ns2:r>
          </ns2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5739e4ec540bc"/>
          <a:stretch xmlns:a="http://schemas.openxmlformats.org/drawingml/2006/main"/>
        </p:blipFill>
        <p:spPr>
          <a:xfrm xmlns:a="http://schemas.openxmlformats.org/drawingml/2006/main">
            <a:off x="11696700" y="6384974"/>
            <a:ext cx="285750" cy="26025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996EE-49E8-4B19-984C-68D47F7F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8590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20567B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16 đặc trưng x</a:t>
            </a:r>
          </a:p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t = N/1000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1F95B-1AE7-4270-AE75-43F343CA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85900"/>
            <a:ext cx="4048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20567B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ns0:p xmlns:ns0="http://schemas.openxmlformats.org/drawingml/2006/main">
            <ns0:pPr algn="ctr">
              <ns0:defRPr sz="1650">
                <ns0:solidFill>
                  <ns0:srgbClr val="163047"/>
                </ns0:solidFill>
                <ns0:latin typeface="Arial"/>
                <ns0:ea typeface="Arial"/>
                <ns0:cs typeface="Arial"/>
              </ns0:defRPr>
            </ns0:pPr>
            <ns0:r>
              <ns0:rPr sz="1650">
                <ns0:solidFill>
                  <ns0:srgbClr val="163047"/>
                </ns0:solidFill>
                <ns0:latin typeface="Arial"/>
                <ns0:ea typeface="Arial"/>
                <ns0:cs typeface="Arial"/>
              </ns0:rPr>
              <ns0:t>Mạng nghiệm Fφ</ns0:t>
            </ns0:r>
          </ns0:p>
          <ns1:p xmlns:ns1="http://schemas.openxmlformats.org/drawingml/2006/main">
            <ns1:pPr algn="ctr">
              <ns1:defRPr sz="1650">
                <ns1:solidFill>
                  <ns1:srgbClr val="163047"/>
                </ns1:solidFill>
                <ns1:latin typeface="Arial"/>
                <ns1:ea typeface="Arial"/>
                <ns1:cs typeface="Arial"/>
              </ns1:defRPr>
            </ns1:pPr>
            <ns1:r>
              <ns1:rPr sz="1650">
                <ns1:solidFill>
                  <ns1:srgbClr val="163047"/>
                </ns1:solidFill>
                <ns1:latin typeface="Arial"/>
                <ns1:ea typeface="Arial"/>
                <ns1:cs typeface="Arial"/>
              </ns1:rPr>
              <ns1:t>17 → 128 → 128 → 64 → 1</ns1:t>
            </ns1:r>
          </ns1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F9746-6A0B-41F0-A750-C678A520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8590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20567B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SOH u = Fφ(x,t)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1ACFA-1802-4857-9C8F-918798D5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67050"/>
            <a:ext cx="3810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20567B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Mạng tốc độ</a:t>
            </a:r>
          </a:p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k(x) = softplus(MLPθ(x))</a:t>
            </a:r>
          </a:p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16 → 32 → 32 →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4A2F4-A2F8-4E2C-9A94-55D48831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67050"/>
            <a:ext cx="3381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20567B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Hệ số phụ thuộc SOH và T</a:t>
            </a:r>
          </a:p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g(u) × A(T)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ED488-FF02-48C9-ACAF-346E1798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67050"/>
            <a:ext cx="2143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20567B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r = k(x) g(u) A(T)</a:t>
            </a:r>
          </a:p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≥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86DD4-5CF0-4E06-8F11-8DCBEBE4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33950"/>
            <a:ext cx="8143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20567B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Loss vật lý nối dự đoán u với tốc độ r</a:t>
            </a:r>
          </a:p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Lode + Lmono + Lrange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9BB5B-0526-4BE7-B1CB-8E9A46B2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Suy luận chỉ dùng Fφ</a:t>
            </a:r>
          </a:p>
        </p:txBody>
      </p:sp>
    </p:spTree>
    <p:extLst>
      <p:ext uri="{BB962C8B-B14F-4D97-AF65-F5344CB8AC3E}">
        <p14:creationId xmlns:p14="http://schemas.microsoft.com/office/powerpoint/2010/main" val="16934657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8667750" y="3128963"/>
            <a:ext cx="952500" cy="928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20567B"/>
            </a:solidFill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67750" y="2209800"/>
            <a:ext cx="952500" cy="9191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20567B"/>
            </a:solidFill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67375" y="40576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0567B"/>
            </a:solidFill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714625" y="40576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0567B"/>
            </a:solidFill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67375" y="22098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0567B"/>
            </a:solidFill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14625" y="22098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0567B"/>
            </a:solidFill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10306-DB0F-4D2D-8DD3-5635699D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7B"/>
          </a:solidFill>
          <a:ln xmlns:a="http://schemas.openxmlformats.org/drawingml/2006/main" w="9525">
            <a:solidFill>
              <a:srgbClr val="20567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5E35C-7D4F-43A4-8031-802AF42D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6675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Huấn luyện bán giám sát với loss không nhãn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7523D-2912-45AF-9049-7932E757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1200" b="1">
                <ns0:solidFill>
                  <ns0:srgbClr val="20567B"/>
                </ns0:solidFill>
                <ns0:latin typeface="Arial"/>
                <ns0:ea typeface="Arial"/>
                <ns0:cs typeface="Arial"/>
              </ns0:defRPr>
            </ns0:pPr>
            <ns0:r>
              <ns0:rPr sz="1200" b="1">
                <ns0:solidFill>
                  <ns0:srgbClr val="20567B"/>
                </ns0:solidFill>
                <ns0:latin typeface="Arial"/>
                <ns0:ea typeface="Arial"/>
                <ns0:cs typeface="Arial"/>
              </ns0:rPr>
              <ns0:t>05</ns0:t>
            </ns0:r>
          </ns0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dcbe13b4849d3"/>
          <a:stretch xmlns:a="http://schemas.openxmlformats.org/drawingml/2006/main"/>
        </p:blipFill>
        <p:spPr>
          <a:xfrm xmlns:a="http://schemas.openxmlformats.org/drawingml/2006/main">
            <a:off x="11696700" y="6384974"/>
            <a:ext cx="285750" cy="26025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4995E-C21D-4168-AAB8-A37B8D7E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3355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20567B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Cell có nhãn</a:t>
            </a:r>
          </a:p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(x, t, y)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BAD4D-4A2F-4F8F-86A5-3A48DFAC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33550"/>
            <a:ext cx="2428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20567B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Fφ dùng chung</a:t>
            </a:r>
          </a:p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Dự đoán 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37C54-9FDE-40D4-8082-A4F0DA83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20567B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Ldata</a:t>
            </a:r>
          </a:p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MSE(u, y)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A0493-B497-4611-87DB-2BF05B00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8140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EF"/>
          </a:solidFill>
          <a:ln xmlns:a="http://schemas.openxmlformats.org/drawingml/2006/main" w="9525">
            <a:solidFill>
              <a:srgbClr val="20567B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Mọi cell train</a:t>
            </a:r>
          </a:p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Cặp (N₁, N₂)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8CBB5-8D27-4F3E-9770-8EB6EB71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81400"/>
            <a:ext cx="2428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EF"/>
          </a:solidFill>
          <a:ln xmlns:a="http://schemas.openxmlformats.org/drawingml/2006/main" w="9525">
            <a:solidFill>
              <a:srgbClr val="20567B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Fφ dùng chung</a:t>
            </a:r>
          </a:p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u₁ và u₂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6A0E8-EEED-4EFF-967B-05817B7E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8140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EF"/>
          </a:solidFill>
          <a:ln xmlns:a="http://schemas.openxmlformats.org/drawingml/2006/main" w="9525">
            <a:solidFill>
              <a:srgbClr val="20567B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Lode + Lmono</a:t>
            </a:r>
          </a:p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+ Lrange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ADB51-7062-4CA9-8727-95EFECFF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95550"/>
            <a:ext cx="20002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F6"/>
          </a:solidFill>
          <a:ln xmlns:a="http://schemas.openxmlformats.org/drawingml/2006/main" w="9525">
            <a:solidFill>
              <a:srgbClr val="20567B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Tổng loss</a:t>
            </a:r>
          </a:p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Cập nhật</a:t>
            </a:r>
          </a:p>
          <a:p xmlns:a="http://schemas.openxmlformats.org/drawingml/2006/main">
            <a:pPr algn="ctr">
              <a:defRPr sz="1650">
                <a:solidFill>
                  <a:srgbClr val="16304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047"/>
                </a:solidFill>
                <a:latin typeface="Arial"/>
                <a:ea typeface="Arial"/>
                <a:cs typeface="Arial"/>
              </a:rPr>
              <a:t>φ, θ, λ, Ea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04FB85-9A89-4B6D-95C3-EDC1D167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4352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L = Ldata + w(s) (αLode + βLmono + γLrange)</a:t>
            </a:r>
          </a:p>
        </p:txBody>
      </p:sp>
    </p:spTree>
    <p:extLst>
      <p:ext uri="{BB962C8B-B14F-4D97-AF65-F5344CB8AC3E}">
        <p14:creationId xmlns:p14="http://schemas.microsoft.com/office/powerpoint/2010/main" val="1188271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97E0E-C07A-4359-9358-91484D5C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7B"/>
          </a:solidFill>
          <a:ln xmlns:a="http://schemas.openxmlformats.org/drawingml/2006/main" w="9525">
            <a:solidFill>
              <a:srgbClr val="20567B"/>
            </a:solidFill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D9382-F86D-4126-B9BB-95C8B892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6675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2700" b="1">
                <ns0:solidFill>
                  <ns0:srgbClr val="FFFFFF"/>
                </ns0:solidFill>
                <ns0:latin typeface="Arial"/>
                <ns0:ea typeface="Arial"/>
                <ns0:cs typeface="Arial"/>
              </ns0:defRPr>
            </ns0:pPr>
            <ns0:r>
              <ns0:rPr sz="2700" b="1">
                <ns0:solidFill>
                  <ns0:srgbClr val="FFFFFF"/>
                </ns0:solidFill>
                <ns0:latin typeface="Arial"/>
                <ns0:ea typeface="Arial"/>
                <ns0:cs typeface="Arial"/>
              </ns0:rPr>
              <ns0:t>Kết luận</ns0:t>
            </ns0:r>
          </ns0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41C62-2E32-428C-9505-FF803BE0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7:p xmlns:ns7="http://schemas.openxmlformats.org/drawingml/2006/main">
            <ns7:pPr algn="l">
              <ns7:defRPr sz="1200" b="1">
                <ns7:solidFill>
                  <ns7:srgbClr val="20567B"/>
                </ns7:solidFill>
                <ns7:latin typeface="Arial"/>
                <ns7:ea typeface="Arial"/>
                <ns7:cs typeface="Arial"/>
              </ns7:defRPr>
            </ns7:pPr>
            <ns7:r>
              <ns7:rPr sz="1200" b="1">
                <ns7:solidFill>
                  <ns7:srgbClr val="20567B"/>
                </ns7:solidFill>
                <ns7:latin typeface="Arial"/>
                <ns7:ea typeface="Arial"/>
                <ns7:cs typeface="Arial"/>
              </ns7:rPr>
              <ns7:t>16</ns7:t>
            </ns7:r>
          </ns7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fa5fd4c474f73"/>
          <a:stretch xmlns:a="http://schemas.openxmlformats.org/drawingml/2006/main"/>
        </p:blipFill>
        <p:spPr>
          <a:xfrm xmlns:a="http://schemas.openxmlformats.org/drawingml/2006/main">
            <a:off x="11696700" y="6384974"/>
            <a:ext cx="285750" cy="26025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F37B9-FF8F-4570-80BE-1AB3AA0D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9067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1:p xmlns:ns1="http://schemas.openxmlformats.org/drawingml/2006/main">
            <ns1:pPr algn="l">
              <ns1:defRPr sz="2025" b="1">
                <ns1:solidFill>
                  <ns1:srgbClr val="20567B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20567B"/>
                </ns1:solidFill>
                <ns1:latin typeface="Arial"/>
                <ns1:ea typeface="Arial"/>
                <ns1:cs typeface="Arial"/>
              </ns1:rPr>
              <ns1:t>Cùng lượng nhãn</ns1:t>
            </ns1:r>
          </ns1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ABEF4-B3DA-4B60-B47D-1CB05E2D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2:p xmlns:ns2="http://schemas.openxmlformats.org/drawingml/2006/main">
            <ns2:pPr algn="l">
              <ns2:defRPr sz="1800" b="0">
                <ns2:solidFill>
                  <ns2:srgbClr val="163047"/>
                </ns2:solidFill>
                <ns2:latin typeface="Arial"/>
                <ns2:ea typeface="Arial"/>
                <ns2:cs typeface="Arial"/>
              </ns2:defRPr>
            </ns2:pPr>
            <ns2:r>
              <ns2:rPr sz="1800" b="0">
                <ns2:solidFill>
                  <ns2:srgbClr val="163047"/>
                </ns2:solidFill>
                <ns2:latin typeface="Arial"/>
                <ns2:ea typeface="Arial"/>
                <ns2:cs typeface="Arial"/>
              </ns2:rPr>
              <ns2:t>PINN-semi có sai số thấp hơn MLP trên 4/4 bộ, rõ nhất trên MIT.</ns2:t>
            </ns2:r>
          </ns2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4AA57-7253-4DFF-8AA6-92F72943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3:p xmlns:ns3="http://schemas.openxmlformats.org/drawingml/2006/main">
            <ns3:pPr algn="l">
              <ns3:defRPr sz="2025" b="1">
                <ns3:solidFill>
                  <ns3:srgbClr val="20567B"/>
                </ns3:solidFill>
                <ns3:latin typeface="Arial"/>
                <ns3:ea typeface="Arial"/>
                <ns3:cs typeface="Arial"/>
              </ns3:defRPr>
            </ns3:pPr>
            <ns3:r>
              <ns3:rPr sz="2025" b="1">
                <ns3:solidFill>
                  <ns3:srgbClr val="20567B"/>
                </ns3:solidFill>
                <ns3:latin typeface="Arial"/>
                <ns3:ea typeface="Arial"/>
                <ns3:cs typeface="Arial"/>
              </ns3:rPr>
              <ns3:t>Tiết kiệm nhãn</ns3:t>
            </ns3:r>
          </ns3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2B11C-0CE4-402E-A7D8-D30A3FDA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4:p xmlns:ns4="http://schemas.openxmlformats.org/drawingml/2006/main">
            <ns4:pPr algn="l">
              <ns4:defRPr sz="1800" b="0">
                <ns4:solidFill>
                  <ns4:srgbClr val="163047"/>
                </ns4:solidFill>
                <ns4:latin typeface="Arial"/>
                <ns4:ea typeface="Arial"/>
                <ns4:cs typeface="Arial"/>
              </ns4:defRPr>
            </ns4:pPr>
            <ns4:r>
              <ns4:rPr sz="1800" b="0">
                <ns4:solidFill>
                  <ns4:srgbClr val="163047"/>
                </ns4:solidFill>
                <ns4:latin typeface="Arial"/>
                <ns4:ea typeface="Arial"/>
                <ns4:cs typeface="Arial"/>
              </ns4:rPr>
              <ns4:t>PINN 30 % nhãn đạt mức của MLP 70 % trên MIT, HUST; chưa đạt trên XJTU, TJU.</ns4:t>
            </ns4:r>
          </ns4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58ABB-D9A1-4E33-BC7C-634BD5AF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148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5:p xmlns:ns5="http://schemas.openxmlformats.org/drawingml/2006/main">
            <ns5:pPr algn="l">
              <ns5:defRPr sz="2025" b="1">
                <ns5:solidFill>
                  <ns5:srgbClr val="20567B"/>
                </ns5:solidFill>
                <ns5:latin typeface="Arial"/>
                <ns5:ea typeface="Arial"/>
                <ns5:cs typeface="Arial"/>
              </ns5:defRPr>
            </ns5:pPr>
            <ns5:r>
              <ns5:rPr sz="2025" b="1">
                <ns5:solidFill>
                  <ns5:srgbClr val="20567B"/>
                </ns5:solidFill>
                <ns5:latin typeface="Arial"/>
                <ns5:ea typeface="Arial"/>
                <ns5:cs typeface="Arial"/>
              </ns5:rPr>
              <ns5:t>Hướng tiếp theo</ns5:t>
            </ns5:r>
          </ns5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F07D3-DDDB-421B-B087-F9E3D90B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9582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6:p xmlns:ns6="http://schemas.openxmlformats.org/drawingml/2006/main">
            <ns6:pPr algn="l">
              <ns6:defRPr sz="1800" b="0">
                <ns6:solidFill>
                  <ns6:srgbClr val="163047"/>
                </ns6:solidFill>
                <ns6:latin typeface="Arial"/>
                <ns6:ea typeface="Arial"/>
                <ns6:cs typeface="Arial"/>
              </ns6:defRPr>
            </ns6:pPr>
            <ns6:r>
              <ns6:rPr sz="1800" b="0">
                <ns6:solidFill>
                  <ns6:srgbClr val="163047"/>
                </ns6:solidFill>
                <ns6:latin typeface="Arial"/>
                <ns6:ea typeface="Arial"/>
                <ns6:cs typeface="Arial"/>
              </ns6:rPr>
              <ns6:t>Bổ sung mô hình đối chứng khác, ước lượng độ bất định và cải thiện dự đoán cuối đời pin.</ns6:t>
            </ns6:r>
          </ns6:p>
        </p:txBody>
      </p:sp>
    </p:spTree>
    <p:extLst>
      <p:ext uri="{BB962C8B-B14F-4D97-AF65-F5344CB8AC3E}">
        <p14:creationId xmlns:p14="http://schemas.microsoft.com/office/powerpoint/2010/main" val="1502864050"/>
      </p:ext>
    </p:extLst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8" name="">
            <a:extLst>
              <a:ext uri="{FF2B5EF4-FFF2-40B4-BE49-F238E27FC236}">
                <a16:creationId xmlns:a16="http://schemas.microsoft.com/office/drawing/2014/main" id="{A2DD91DF-1BC8-4F4E-9AB0-2B55DB2033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20567B"/>
          </a:solidFill>
          <a:ln w="9525">
            <a:solidFill>
              <a:srgbClr val="20567B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93E37DA-E3BE-4B30-851A-78B8357C043D}"/>
              </a:ext>
            </a:extLst>
          </p:cNvPr>
          <p:cNvSpPr>
            <a:spLocks noGrp="1"/>
          </p:cNvSpPr>
          <p:nvPr/>
        </p:nvSpPr>
        <p:spPr>
          <a:xfrm>
            <a:off x="542925" y="66675"/>
            <a:ext cx="11239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Thiết lập thí nghiệm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C9AE867-B456-4135-B8DB-629FD7A4BC8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333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1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696700" y="6384974"/>
            <a:ext cx="285750" cy="260252"/>
          </a:xfrm>
          <a:prstGeom prst="rect">
            <a:avLst/>
          </a:prstGeom>
        </p:spPr>
      </p:pic>
      <p:graphicFrame>
        <p:nvGraphicFramePr>
          <p:cNvPr id="12" name=""/>
          <p:cNvGraphicFramePr/>
          <p:nvPr/>
        </p:nvGraphicFramePr>
        <p:xfrm>
          <a:off x="533400" y="1463040"/>
          <a:ext cx="11128248" cy="3017520"/>
        </p:xfrm>
        <a:graphic>
          <a:graphicData uri="http://schemas.openxmlformats.org/drawingml/2006/table">
            <a:tbl>
              <a:tblPr/>
              <a:tblGrid>
                <a:gridCol w="2743200"/>
                <a:gridCol w="838504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Hạng mục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làm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Chia dữ liệu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Kiểm định chéo 5 fold theo cell, lặp 5 lần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Mỗi fold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70 % train · 10 % validation · 20 % 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Mô hình so sánh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MLP, PINN-sup, PINN-semi — cùng mạng, cùng chuẩn hoá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Lượng nhãn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10 / 30 / 50 / 70 % số cell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Chỉ số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MAE theo từng cell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8" name="">
            <a:extLst>
              <a:ext uri="{FF2B5EF4-FFF2-40B4-BE49-F238E27FC236}">
                <a16:creationId xmlns:a16="http://schemas.microsoft.com/office/drawing/2014/main" id="{A2DD91DF-1BC8-4F4E-9AB0-2B55DB2033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20567B"/>
          </a:solidFill>
          <a:ln w="9525">
            <a:solidFill>
              <a:srgbClr val="20567B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93E37DA-E3BE-4B30-851A-78B8357C043D}"/>
              </a:ext>
            </a:extLst>
          </p:cNvPr>
          <p:cNvSpPr>
            <a:spLocks noGrp="1"/>
          </p:cNvSpPr>
          <p:nvPr/>
        </p:nvSpPr>
        <p:spPr>
          <a:xfrm>
            <a:off x="542925" y="66675"/>
            <a:ext cx="11239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quả 1: cùng 30 % nhãn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C9AE867-B456-4135-B8DB-629FD7A4BC8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333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1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696700" y="6384974"/>
            <a:ext cx="285750" cy="260252"/>
          </a:xfrm>
          <a:prstGeom prst="rect">
            <a:avLst/>
          </a:prstGeom>
        </p:spPr>
      </p:pic>
      <p:graphicFrame>
        <p:nvGraphicFramePr>
          <p:cNvPr id="12" name=""/>
          <p:cNvGraphicFramePr/>
          <p:nvPr/>
        </p:nvGraphicFramePr>
        <p:xfrm>
          <a:off x="533400" y="1463040"/>
          <a:ext cx="11128248" cy="22860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377440"/>
                <a:gridCol w="2194560"/>
                <a:gridCol w="235000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Bộ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MLP (×10⁻³)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PINN-semi (×10⁻³)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Giảm sai số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Cell PINN tốt hơn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XJTU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15,95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13,44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D6E56"/>
                          </a:solidFill>
                          <a:latin typeface="Arial"/>
                          <a:ea typeface="Arial"/>
                          <a:cs typeface="Arial"/>
                        </a:rPr>
                        <a:t>16 %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65 %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TJU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11,33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10,85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D6E56"/>
                          </a:solidFill>
                          <a:latin typeface="Arial"/>
                          <a:ea typeface="Arial"/>
                          <a:cs typeface="Arial"/>
                        </a:rPr>
                        <a:t>4 %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68 %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MIT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3,40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2,58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D6E56"/>
                          </a:solidFill>
                          <a:latin typeface="Arial"/>
                          <a:ea typeface="Arial"/>
                          <a:cs typeface="Arial"/>
                        </a:rPr>
                        <a:t>24 %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82 %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HUST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19,80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17,30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D6E56"/>
                          </a:solidFill>
                          <a:latin typeface="Arial"/>
                          <a:ea typeface="Arial"/>
                          <a:cs typeface="Arial"/>
                        </a:rPr>
                        <a:t>13 %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71 %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a16:creationId xmlns:a16="http://schemas.microsoft.com/office/drawing/2014/main" id="{BE061075-2C77-4E3D-A428-C263D575BBC5}"/>
              </a:ext>
            </a:extLst>
          </p:cNvPr>
          <p:cNvSpPr>
            <a:spLocks noGrp="1"/>
          </p:cNvSpPr>
          <p:nvPr/>
        </p:nvSpPr>
        <p:spPr>
          <a:xfrm>
            <a:off x="619125" y="4069080"/>
            <a:ext cx="10763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PINN-semi giảm sai số trên 4/4 bộ dữ liệu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8" name="">
            <a:extLst>
              <a:ext uri="{FF2B5EF4-FFF2-40B4-BE49-F238E27FC236}">
                <a16:creationId xmlns:a16="http://schemas.microsoft.com/office/drawing/2014/main" id="{A2DD91DF-1BC8-4F4E-9AB0-2B55DB2033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20567B"/>
          </a:solidFill>
          <a:ln w="9525">
            <a:solidFill>
              <a:srgbClr val="20567B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93E37DA-E3BE-4B30-851A-78B8357C043D}"/>
              </a:ext>
            </a:extLst>
          </p:cNvPr>
          <p:cNvSpPr>
            <a:spLocks noGrp="1"/>
          </p:cNvSpPr>
          <p:nvPr/>
        </p:nvSpPr>
        <p:spPr>
          <a:xfrm>
            <a:off x="542925" y="66675"/>
            <a:ext cx="11239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Tỉ số sai số giữa các mô hình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C9AE867-B456-4135-B8DB-629FD7A4BC8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333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1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696700" y="6384974"/>
            <a:ext cx="285750" cy="260252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a16:creationId xmlns:a16="http://schemas.microsoft.com/office/drawing/2014/main" id="{61ADA485-A3D9-4801-AF20-EEDA600A294B}"/>
              </a:ext>
            </a:extLst>
          </p:cNvPr>
          <p:cNvSpPr>
            <a:spLocks noGrp="1"/>
          </p:cNvSpPr>
          <p:nvPr/>
        </p:nvSpPr>
        <p:spPr>
          <a:xfrm>
            <a:off x="521207" y="1280160"/>
            <a:ext cx="11146536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A7BAC7"/>
            </a:solidFill>
          </a:ln>
        </p:spPr>
      </p:sp>
      <p:pic>
        <p:nvPicPr>
          <p:cNvPr id="12" name="Picture 11" descr="fig_E13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19" y="1417320"/>
            <a:ext cx="992665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8" name="">
            <a:extLst>
              <a:ext uri="{FF2B5EF4-FFF2-40B4-BE49-F238E27FC236}">
                <a16:creationId xmlns:a16="http://schemas.microsoft.com/office/drawing/2014/main" id="{A2DD91DF-1BC8-4F4E-9AB0-2B55DB2033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20567B"/>
          </a:solidFill>
          <a:ln w="9525">
            <a:solidFill>
              <a:srgbClr val="20567B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93E37DA-E3BE-4B30-851A-78B8357C043D}"/>
              </a:ext>
            </a:extLst>
          </p:cNvPr>
          <p:cNvSpPr>
            <a:spLocks noGrp="1"/>
          </p:cNvSpPr>
          <p:nvPr/>
        </p:nvSpPr>
        <p:spPr>
          <a:xfrm>
            <a:off x="542925" y="66675"/>
            <a:ext cx="11239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Sai số theo lượng nhãn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C9AE867-B456-4135-B8DB-629FD7A4BC8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333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1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696700" y="6384974"/>
            <a:ext cx="285750" cy="260252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a16:creationId xmlns:a16="http://schemas.microsoft.com/office/drawing/2014/main" id="{61ADA485-A3D9-4801-AF20-EEDA600A294B}"/>
              </a:ext>
            </a:extLst>
          </p:cNvPr>
          <p:cNvSpPr>
            <a:spLocks noGrp="1"/>
          </p:cNvSpPr>
          <p:nvPr/>
        </p:nvSpPr>
        <p:spPr>
          <a:xfrm>
            <a:off x="521207" y="1280160"/>
            <a:ext cx="11146536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A7BAC7"/>
            </a:solidFill>
          </a:ln>
        </p:spPr>
      </p:sp>
      <p:pic>
        <p:nvPicPr>
          <p:cNvPr id="12" name="Picture 11" descr="fig_E13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54983"/>
            <a:ext cx="10881360" cy="329667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8" name="">
            <a:extLst>
              <a:ext uri="{FF2B5EF4-FFF2-40B4-BE49-F238E27FC236}">
                <a16:creationId xmlns:a16="http://schemas.microsoft.com/office/drawing/2014/main" id="{A2DD91DF-1BC8-4F4E-9AB0-2B55DB2033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20567B"/>
          </a:solidFill>
          <a:ln w="9525">
            <a:solidFill>
              <a:srgbClr val="20567B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93E37DA-E3BE-4B30-851A-78B8357C043D}"/>
              </a:ext>
            </a:extLst>
          </p:cNvPr>
          <p:cNvSpPr>
            <a:spLocks noGrp="1"/>
          </p:cNvSpPr>
          <p:nvPr/>
        </p:nvSpPr>
        <p:spPr>
          <a:xfrm>
            <a:off x="542925" y="66675"/>
            <a:ext cx="11239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quả 2: PINN 30 % so với MLP 70 %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C9AE867-B456-4135-B8DB-629FD7A4BC8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333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1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696700" y="6384974"/>
            <a:ext cx="285750" cy="260252"/>
          </a:xfrm>
          <a:prstGeom prst="rect">
            <a:avLst/>
          </a:prstGeom>
        </p:spPr>
      </p:pic>
      <p:graphicFrame>
        <p:nvGraphicFramePr>
          <p:cNvPr id="12" name=""/>
          <p:cNvGraphicFramePr/>
          <p:nvPr/>
        </p:nvGraphicFramePr>
        <p:xfrm>
          <a:off x="533400" y="1463040"/>
          <a:ext cx="11128248" cy="22860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377440"/>
                <a:gridCol w="1645920"/>
                <a:gridCol w="271576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Bộ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MLP 70 % (×10⁻³)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PINN 30 % (×10⁻³)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Tỉ số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Không kém hơn 10 %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XJTU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12,74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13,44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1,055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chưa đạt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TJU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9,64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10,85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1,126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chưa đạt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MIT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2,86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2,58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0,901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đạt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HUST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16,94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17,30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1,021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đạt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a16:creationId xmlns:a16="http://schemas.microsoft.com/office/drawing/2014/main" id="{BE061075-2C77-4E3D-A428-C263D575BBC5}"/>
              </a:ext>
            </a:extLst>
          </p:cNvPr>
          <p:cNvSpPr>
            <a:spLocks noGrp="1"/>
          </p:cNvSpPr>
          <p:nvPr/>
        </p:nvSpPr>
        <p:spPr>
          <a:xfrm>
            <a:off x="619125" y="4069080"/>
            <a:ext cx="10763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Đạt trên MIT, HUST; chưa đạt trên XJTU, TJU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8" name="">
            <a:extLst>
              <a:ext uri="{FF2B5EF4-FFF2-40B4-BE49-F238E27FC236}">
                <a16:creationId xmlns:a16="http://schemas.microsoft.com/office/drawing/2014/main" id="{A2DD91DF-1BC8-4F4E-9AB0-2B55DB2033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20567B"/>
          </a:solidFill>
          <a:ln w="9525">
            <a:solidFill>
              <a:srgbClr val="20567B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93E37DA-E3BE-4B30-851A-78B8357C043D}"/>
              </a:ext>
            </a:extLst>
          </p:cNvPr>
          <p:cNvSpPr>
            <a:spLocks noGrp="1"/>
          </p:cNvSpPr>
          <p:nvPr/>
        </p:nvSpPr>
        <p:spPr>
          <a:xfrm>
            <a:off x="542925" y="66675"/>
            <a:ext cx="11239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Sai số từng cell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C9AE867-B456-4135-B8DB-629FD7A4BC8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333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1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696700" y="6384974"/>
            <a:ext cx="285750" cy="260252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a16:creationId xmlns:a16="http://schemas.microsoft.com/office/drawing/2014/main" id="{61ADA485-A3D9-4801-AF20-EEDA600A294B}"/>
              </a:ext>
            </a:extLst>
          </p:cNvPr>
          <p:cNvSpPr>
            <a:spLocks noGrp="1"/>
          </p:cNvSpPr>
          <p:nvPr/>
        </p:nvSpPr>
        <p:spPr>
          <a:xfrm>
            <a:off x="521207" y="1280160"/>
            <a:ext cx="11146536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A7BAC7"/>
            </a:solidFill>
          </a:ln>
        </p:spPr>
      </p:sp>
      <p:pic>
        <p:nvPicPr>
          <p:cNvPr id="12" name="Picture 11" descr="fig_E13_ce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11709"/>
            <a:ext cx="10881360" cy="298322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8" name="">
            <a:extLst>
              <a:ext uri="{FF2B5EF4-FFF2-40B4-BE49-F238E27FC236}">
                <a16:creationId xmlns:a16="http://schemas.microsoft.com/office/drawing/2014/main" id="{A2DD91DF-1BC8-4F4E-9AB0-2B55DB2033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20567B"/>
          </a:solidFill>
          <a:ln w="9525">
            <a:solidFill>
              <a:srgbClr val="20567B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93E37DA-E3BE-4B30-851A-78B8357C043D}"/>
              </a:ext>
            </a:extLst>
          </p:cNvPr>
          <p:cNvSpPr>
            <a:spLocks noGrp="1"/>
          </p:cNvSpPr>
          <p:nvPr/>
        </p:nvSpPr>
        <p:spPr>
          <a:xfrm>
            <a:off x="542925" y="66675"/>
            <a:ext cx="11239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Quỹ đạo SOH trên cell test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C9AE867-B456-4135-B8DB-629FD7A4BC8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333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1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696700" y="6384974"/>
            <a:ext cx="285750" cy="260252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a16:creationId xmlns:a16="http://schemas.microsoft.com/office/drawing/2014/main" id="{61ADA485-A3D9-4801-AF20-EEDA600A294B}"/>
              </a:ext>
            </a:extLst>
          </p:cNvPr>
          <p:cNvSpPr>
            <a:spLocks noGrp="1"/>
          </p:cNvSpPr>
          <p:nvPr/>
        </p:nvSpPr>
        <p:spPr>
          <a:xfrm>
            <a:off x="521207" y="1280160"/>
            <a:ext cx="11146536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A7BAC7"/>
            </a:solidFill>
          </a:ln>
        </p:spPr>
      </p:sp>
      <p:pic>
        <p:nvPicPr>
          <p:cNvPr id="12" name="Picture 11" descr="fig_E13_tra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4124"/>
            <a:ext cx="10881360" cy="311839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8" name="">
            <a:extLst>
              <a:ext uri="{FF2B5EF4-FFF2-40B4-BE49-F238E27FC236}">
                <a16:creationId xmlns:a16="http://schemas.microsoft.com/office/drawing/2014/main" id="{A2DD91DF-1BC8-4F4E-9AB0-2B55DB2033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20567B"/>
          </a:solidFill>
          <a:ln w="9525">
            <a:solidFill>
              <a:srgbClr val="20567B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93E37DA-E3BE-4B30-851A-78B8357C043D}"/>
              </a:ext>
            </a:extLst>
          </p:cNvPr>
          <p:cNvSpPr>
            <a:spLocks noGrp="1"/>
          </p:cNvSpPr>
          <p:nvPr/>
        </p:nvSpPr>
        <p:spPr>
          <a:xfrm>
            <a:off x="542925" y="66675"/>
            <a:ext cx="11239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Cuối đời pin và độ trơn của dự đoán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C9AE867-B456-4135-B8DB-629FD7A4BC8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333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1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696700" y="6384974"/>
            <a:ext cx="285750" cy="260252"/>
          </a:xfrm>
          <a:prstGeom prst="rect">
            <a:avLst/>
          </a:prstGeom>
        </p:spPr>
      </p:pic>
      <p:graphicFrame>
        <p:nvGraphicFramePr>
          <p:cNvPr id="12" name=""/>
          <p:cNvGraphicFramePr/>
          <p:nvPr/>
        </p:nvGraphicFramePr>
        <p:xfrm>
          <a:off x="533400" y="1463040"/>
          <a:ext cx="11128248" cy="3456432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2743200"/>
                <a:gridCol w="2377440"/>
                <a:gridCol w="2532888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Bộ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 khi SOH ≤ 0,9 (×10⁻³)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Sai số EOL (chu kỳ)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Tăng ngược / 100 chu kỳ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XJTU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MLP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24,83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27,2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0,303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XJTU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PINN-semi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22,65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16,9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0,136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TJU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MLP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9,30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25,4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0,185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TJU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PINN-semi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8,99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22,1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0,097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MIT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MLP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5,56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18,9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0,106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MIT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PINN-semi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3,50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17,0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0,048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HUST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MLP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38,31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132,5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0,264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HUST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PINN-semi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34,91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116,8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0,097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8" name="">
            <a:extLst>
              <a:ext uri="{FF2B5EF4-FFF2-40B4-BE49-F238E27FC236}">
                <a16:creationId xmlns:a16="http://schemas.microsoft.com/office/drawing/2014/main" id="{A2DD91DF-1BC8-4F4E-9AB0-2B55DB2033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20567B"/>
          </a:solidFill>
          <a:ln w="9525">
            <a:solidFill>
              <a:srgbClr val="20567B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93E37DA-E3BE-4B30-851A-78B8357C043D}"/>
              </a:ext>
            </a:extLst>
          </p:cNvPr>
          <p:cNvSpPr>
            <a:spLocks noGrp="1"/>
          </p:cNvSpPr>
          <p:nvPr/>
        </p:nvSpPr>
        <p:spPr>
          <a:xfrm>
            <a:off x="542925" y="66675"/>
            <a:ext cx="11239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Chuyển sang bộ dữ liệu khác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C9AE867-B456-4135-B8DB-629FD7A4BC8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333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1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696700" y="6384974"/>
            <a:ext cx="285750" cy="260252"/>
          </a:xfrm>
          <a:prstGeom prst="rect">
            <a:avLst/>
          </a:prstGeom>
        </p:spPr>
      </p:pic>
      <p:graphicFrame>
        <p:nvGraphicFramePr>
          <p:cNvPr id="12" name=""/>
          <p:cNvGraphicFramePr/>
          <p:nvPr/>
        </p:nvGraphicFramePr>
        <p:xfrm>
          <a:off x="533400" y="1463040"/>
          <a:ext cx="11128248" cy="3456432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2743200"/>
                <a:gridCol w="2715768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Nguồn → đích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Cell đích có nhãn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MLP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PINN-semi</a:t>
                      </a:r>
                    </a:p>
                  </a:txBody>
                  <a:tcPr marL="91440" marR="91440" marT="45720" marB="45720" anchor="ctr">
                    <a:solidFill>
                      <a:srgbClr val="20567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HUST → MIT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2,4452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0,0260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HUST → MIT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0,1365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0,0076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MIT → HUST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0,5423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0,0583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MIT → HUST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0,0306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0,0256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TJU → XJTU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1,9983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0,0951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TJU → XJTU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0,0303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0,0285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XJTU → TJU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1,4780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0,0383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XJTU → TJU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0,3219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3047"/>
                          </a:solidFill>
                          <a:latin typeface="Arial"/>
                          <a:ea typeface="Arial"/>
                          <a:cs typeface="Arial"/>
                        </a:rPr>
                        <a:t>0,0337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8" name="">
            <a:extLst>
              <a:ext uri="{FF2B5EF4-FFF2-40B4-BE49-F238E27FC236}">
                <a16:creationId xmlns:a16="http://schemas.microsoft.com/office/drawing/2014/main" id="{A2DD91DF-1BC8-4F4E-9AB0-2B55DB2033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20567B"/>
          </a:solidFill>
          <a:ln w="9525">
            <a:solidFill>
              <a:srgbClr val="20567B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93E37DA-E3BE-4B30-851A-78B8357C043D}"/>
              </a:ext>
            </a:extLst>
          </p:cNvPr>
          <p:cNvSpPr>
            <a:spLocks noGrp="1"/>
          </p:cNvSpPr>
          <p:nvPr/>
        </p:nvSpPr>
        <p:spPr>
          <a:xfrm>
            <a:off x="542925" y="66675"/>
            <a:ext cx="11239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Demo: ước lượng SOH cho một cell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C9AE867-B456-4135-B8DB-629FD7A4BC8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333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1">
                <a:solidFill>
                  <a:srgbClr val="2056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567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11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696700" y="6384974"/>
            <a:ext cx="285750" cy="260252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a16:creationId xmlns:a16="http://schemas.microsoft.com/office/drawing/2014/main" id="{61ADA485-A3D9-4801-AF20-EEDA600A294B}"/>
              </a:ext>
            </a:extLst>
          </p:cNvPr>
          <p:cNvSpPr>
            <a:spLocks noGrp="1"/>
          </p:cNvSpPr>
          <p:nvPr/>
        </p:nvSpPr>
        <p:spPr>
          <a:xfrm>
            <a:off x="521207" y="1280160"/>
            <a:ext cx="11146536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A7BAC7"/>
            </a:solidFill>
          </a:ln>
        </p:spPr>
      </p:sp>
      <p:pic>
        <p:nvPicPr>
          <p:cNvPr id="12" name="Picture 11" descr="2C_battery-8_so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9464"/>
            <a:ext cx="7589520" cy="38077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3920" y="210312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0567B"/>
                </a:solidFill>
                <a:latin typeface="Arial"/>
              </a:rPr>
              <a:t>Đầu vào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163047"/>
                </a:solidFill>
                <a:latin typeface="Arial"/>
              </a:rPr>
              <a:t>Dữ liệu sạc từng chu kỳ, không cần đo dung lượng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0567B"/>
                </a:solidFill>
                <a:latin typeface="Arial"/>
              </a:rPr>
              <a:t>Đầu ra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163047"/>
                </a:solidFill>
                <a:latin typeface="Arial"/>
              </a:rPr>
              <a:t>SOH theo từng chu kỳ và cảnh báo khi xuống 0,85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2026-09-29T04:27:51.3170000Z</dcterms:created>
  <dcterms:modified xsi:type="dcterms:W3CDTF">2026-09-29T04:27:51.3170000Z</dcterms:modified>
</coreProperties>
</file>